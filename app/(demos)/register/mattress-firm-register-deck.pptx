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8"/>
  </p:notesMasterIdLst>
  <p:sldIdLst>
    <p:sldId id="268" r:id="rId5"/>
    <p:sldId id="269" r:id="rId6"/>
    <p:sldId id="270" r:id="rId7"/>
    <p:sldId id="271" r:id="rId8"/>
    <p:sldId id="279" r:id="rId9"/>
    <p:sldId id="280" r:id="rId10"/>
    <p:sldId id="281" r:id="rId11"/>
    <p:sldId id="295" r:id="rId24"/>
    <p:sldId id="296" r:id="rId25"/>
    <p:sldId id="286" r:id="rId12"/>
    <p:sldId id="290" r:id="rId13"/>
    <p:sldId id="294" r:id="rId14"/>
    <p:sldId id="291" r:id="rId15"/>
    <p:sldId id="292" r:id="rId16"/>
    <p:sldId id="293"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6C077A-6A3E-E347-82EE-1C434EDF99ED}" v="47" dt="2026-03-11T15:20:04.261"/>
    <p1510:client id="{9F763CF9-1AB9-1947-B67E-D3943CFC5E40}" v="1" dt="2026-03-16T23:36:09.1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301"/>
    <p:restoredTop sz="94610"/>
  </p:normalViewPr>
  <p:slideViewPr>
    <p:cSldViewPr snapToGrid="0" snapToObjects="1">
      <p:cViewPr varScale="1">
        <p:scale>
          <a:sx n="165" d="100"/>
          <a:sy n="165" d="100"/>
        </p:scale>
        <p:origin x="520" y="18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 Id="rId24" Type="http://schemas.openxmlformats.org/officeDocument/2006/relationships/slide" Target="slides/slide14.xml"/><Relationship Id="rId25" Type="http://schemas.openxmlformats.org/officeDocument/2006/relationships/slide" Target="slides/slide15.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5129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rgbClr val="3C475C"/>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rgbClr val="474747"/>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rgbClr val="474747"/>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rgbClr val="474747"/>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rgbClr val="474747"/>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rgbClr val="474747"/>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rgbClr val="474747"/>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rgbClr val="474747"/>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rgbClr val="474747"/>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rgbClr val="474747"/>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6.png"/></Relationships>
</file>

<file path=ppt/slides/_rels/slide7.xml.rels><?xml version="1.0" encoding="UTF-8"?><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3"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Relationships xmlns="http://schemas.openxmlformats.org/package/2006/relationships"><Relationship Id="rId3"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3C475C"/>
          </a:solidFill>
          <a:ln w="12700">
            <a:solidFill>
              <a:srgbClr val="0EA5E9"/>
            </a:solidFill>
            <a:prstDash val="solid"/>
          </a:ln>
        </p:spPr>
        <p:txBody>
          <a:bodyPr/>
          <a:lstStyle/>
          <a:p>
            <a:endParaRPr lang="en-US"/>
          </a:p>
        </p:txBody>
      </p:sp>
      <p:sp>
        <p:nvSpPr>
          <p:cNvPr id="3" name="Shape 1"/>
          <p:cNvSpPr/>
          <p:nvPr/>
        </p:nvSpPr>
        <p:spPr>
          <a:xfrm>
            <a:off x="6583680" y="0"/>
            <a:ext cx="2560320" cy="2011680"/>
          </a:xfrm>
          <a:prstGeom prst="rect">
            <a:avLst/>
          </a:prstGeom>
          <a:solidFill>
            <a:srgbClr val="3C475C"/>
          </a:solidFill>
          <a:ln w="12700">
            <a:solidFill>
              <a:srgbClr val="1A3D73"/>
            </a:solidFill>
            <a:prstDash val="solid"/>
          </a:ln>
        </p:spPr>
        <p:txBody>
          <a:bodyPr/>
          <a:lstStyle/>
          <a:p>
            <a:endParaRPr lang="en-US"/>
          </a:p>
        </p:txBody>
      </p:sp>
      <p:sp>
        <p:nvSpPr>
          <p:cNvPr id="4" name="Shape 2"/>
          <p:cNvSpPr/>
          <p:nvPr/>
        </p:nvSpPr>
        <p:spPr>
          <a:xfrm>
            <a:off x="7406640" y="0"/>
            <a:ext cx="1737360" cy="2560320"/>
          </a:xfrm>
          <a:prstGeom prst="rect">
            <a:avLst/>
          </a:prstGeom>
          <a:solidFill>
            <a:srgbClr val="718AA8"/>
          </a:solidFill>
          <a:ln w="12700">
            <a:solidFill>
              <a:srgbClr val="0D3570"/>
            </a:solidFill>
            <a:prstDash val="solid"/>
          </a:ln>
        </p:spPr>
        <p:txBody>
          <a:bodyPr/>
          <a:lstStyle/>
          <a:p>
            <a:endParaRPr lang="en-US"/>
          </a:p>
        </p:txBody>
      </p:sp>
      <p:sp>
        <p:nvSpPr>
          <p:cNvPr id="5" name="Shape 3"/>
          <p:cNvSpPr/>
          <p:nvPr/>
        </p:nvSpPr>
        <p:spPr>
          <a:xfrm>
            <a:off x="502920" y="502920"/>
            <a:ext cx="2011680" cy="347472"/>
          </a:xfrm>
          <a:prstGeom prst="rect">
            <a:avLst/>
          </a:prstGeom>
          <a:solidFill>
            <a:srgbClr val="3C475C"/>
          </a:solidFill>
          <a:ln w="12700">
            <a:solidFill>
              <a:srgbClr val="0EA5E9"/>
            </a:solidFill>
            <a:prstDash val="solid"/>
          </a:ln>
          <a:effectLst>
            <a:outerShdw blurRad="76200" dist="25400" dir="8100000" algn="bl" rotWithShape="0">
              <a:srgbClr val="000000">
                <a:alpha val="30000"/>
              </a:srgbClr>
            </a:outerShdw>
          </a:effectLst>
        </p:spPr>
        <p:txBody>
          <a:bodyPr/>
          <a:lstStyle/>
          <a:p>
            <a:endParaRPr lang="en-US"/>
          </a:p>
        </p:txBody>
      </p:sp>
      <p:sp>
        <p:nvSpPr>
          <p:cNvPr id="6" name="Text 4"/>
          <p:cNvSpPr/>
          <p:nvPr/>
        </p:nvSpPr>
        <p:spPr>
          <a:xfrm>
            <a:off x="502920" y="502920"/>
            <a:ext cx="2011680" cy="347472"/>
          </a:xfrm>
          <a:prstGeom prst="rect">
            <a:avLst/>
          </a:prstGeom>
          <a:noFill/>
          <a:ln/>
        </p:spPr>
        <p:txBody>
          <a:bodyPr wrap="square" lIns="0" tIns="0" rIns="0" bIns="0" rtlCol="0" anchor="ctr"/>
          <a:lstStyle/>
          <a:p>
            <a:pPr marL="0" indent="0" algn="ctr">
              <a:buNone/>
            </a:pPr>
            <a:r>
              <a:rPr lang="en-US" sz="1000" b="1" kern="0" spc="300" dirty="0">
                <a:solidFill>
                  <a:srgbClr val="FFFFFF"/>
                </a:solidFill>
              </a:rPr>
              <a:t>REGISTER</a:t>
            </a:r>
            <a:endParaRPr lang="en-US" sz="1100" dirty="0"/>
          </a:p>
        </p:txBody>
      </p:sp>
      <p:sp>
        <p:nvSpPr>
          <p:cNvPr id="7" name="Text 5"/>
          <p:cNvSpPr/>
          <p:nvPr/>
        </p:nvSpPr>
        <p:spPr>
          <a:xfrm>
            <a:off x="502920" y="978692"/>
            <a:ext cx="6217920" cy="2560320"/>
          </a:xfrm>
          <a:prstGeom prst="rect">
            <a:avLst/>
          </a:prstGeom>
          <a:noFill/>
          <a:ln/>
        </p:spPr>
        <p:txBody>
          <a:bodyPr wrap="square" rtlCol="0" anchor="t"/>
          <a:lstStyle/>
          <a:p>
            <a:pPr marL="0" indent="0">
              <a:buNone/>
            </a:pPr>
            <a:r>
              <a:rPr lang="en-US" sz="3800" b="1" dirty="0">
                <a:solidFill>
                  <a:srgbClr val="3C475C"/>
                </a:solidFill>
                <a:latin typeface="Proxima Nova Bold" pitchFamily="34" charset="0"/>
                <a:ea typeface="Calibri" pitchFamily="34" charset="-122"/>
                <a:cs typeface="Calibri" pitchFamily="34" charset="-120"/>
              </a:rPr>
              <a:t>A Smarter Way to Run</a:t>
            </a:r>
            <a:endParaRPr lang="en-US" sz="3800" dirty="0"/>
          </a:p>
          <a:p>
            <a:pPr marL="0" indent="0">
              <a:buNone/>
            </a:pPr>
            <a:r>
              <a:rPr lang="en-US" sz="3800" b="1" dirty="0">
                <a:solidFill>
                  <a:srgbClr val="3C475C"/>
                </a:solidFill>
                <a:latin typeface="Proxima Nova Bold" pitchFamily="34" charset="0"/>
                <a:ea typeface="Calibri" pitchFamily="34" charset="-122"/>
                <a:cs typeface="Calibri" pitchFamily="34" charset="-120"/>
              </a:rPr>
              <a:t>Revenue Operations</a:t>
            </a:r>
            <a:endParaRPr lang="en-US" sz="3800" dirty="0"/>
          </a:p>
          <a:p>
            <a:pPr marL="0" indent="0">
              <a:buNone/>
            </a:pPr>
            <a:r>
              <a:rPr lang="en-US" sz="3800" b="1" dirty="0">
                <a:solidFill>
                  <a:srgbClr val="3C475C"/>
                </a:solidFill>
                <a:latin typeface="Proxima Nova Bold" pitchFamily="34" charset="0"/>
                <a:ea typeface="Calibri" pitchFamily="34" charset="-122"/>
                <a:cs typeface="Calibri" pitchFamily="34" charset="-120"/>
              </a:rPr>
              <a:t>at Mattress Firm</a:t>
            </a:r>
            <a:endParaRPr lang="en-US" sz="3800" dirty="0"/>
          </a:p>
        </p:txBody>
      </p:sp>
      <p:sp>
        <p:nvSpPr>
          <p:cNvPr id="8" name="Text 6"/>
          <p:cNvSpPr/>
          <p:nvPr/>
        </p:nvSpPr>
        <p:spPr>
          <a:xfrm>
            <a:off x="502920" y="2761772"/>
            <a:ext cx="6400800" cy="365760"/>
          </a:xfrm>
          <a:prstGeom prst="rect">
            <a:avLst/>
          </a:prstGeom>
          <a:noFill/>
          <a:ln/>
        </p:spPr>
        <p:txBody>
          <a:bodyPr wrap="square" rtlCol="0" anchor="ctr"/>
          <a:lstStyle/>
          <a:p>
            <a:pPr marL="0" indent="0">
              <a:buNone/>
            </a:pPr>
            <a:r>
              <a:rPr lang="en-US" sz="1400" dirty="0">
                <a:solidFill>
                  <a:srgbClr val="718AA8"/>
                </a:solidFill>
                <a:latin typeface="Proxima Nova Thin" panose="02000506030000020004" pitchFamily="2" charset="0"/>
              </a:rPr>
              <a:t>Presented by Blue Horizons Group  ·  March 16, 2026</a:t>
            </a:r>
            <a:endParaRPr lang="en-US" sz="1200" dirty="0">
              <a:latin typeface="Proxima Nova Thin" panose="02000506030000020004" pitchFamily="2" charset="0"/>
            </a:endParaRPr>
          </a:p>
        </p:txBody>
      </p:sp>
      <p:sp>
        <p:nvSpPr>
          <p:cNvPr id="9" name="Shape 7"/>
          <p:cNvSpPr/>
          <p:nvPr/>
        </p:nvSpPr>
        <p:spPr>
          <a:xfrm>
            <a:off x="0" y="4892040"/>
            <a:ext cx="9144000" cy="251460"/>
          </a:xfrm>
          <a:prstGeom prst="rect">
            <a:avLst/>
          </a:prstGeom>
          <a:solidFill>
            <a:srgbClr val="3C475C"/>
          </a:solidFill>
          <a:ln w="12700">
            <a:solidFill>
              <a:srgbClr val="071A38"/>
            </a:solidFill>
            <a:prstDash val="solid"/>
          </a:ln>
        </p:spPr>
        <p:txBody>
          <a:bodyPr/>
          <a:lstStyle/>
          <a:p>
            <a:endParaRPr lang="en-US"/>
          </a:p>
        </p:txBody>
      </p:sp>
      <p:sp>
        <p:nvSpPr>
          <p:cNvPr id="10" name="Text 8"/>
          <p:cNvSpPr/>
          <p:nvPr/>
        </p:nvSpPr>
        <p:spPr>
          <a:xfrm>
            <a:off x="0" y="4914900"/>
            <a:ext cx="9144000" cy="203200"/>
          </a:xfrm>
          <a:prstGeom prst="rect">
            <a:avLst/>
          </a:prstGeom>
          <a:noFill/>
          <a:ln/>
        </p:spPr>
        <p:txBody>
          <a:bodyPr wrap="square" lIns="0" tIns="0" rIns="0" bIns="0" rtlCol="0" anchor="ctr"/>
          <a:lstStyle/>
          <a:p>
            <a:pPr algn="ctr">
              <a:buNone/>
            </a:pPr>
            <a:r>
              <a:rPr lang="en-US" sz="1000" dirty="0">
                <a:solidFill>
                  <a:srgbClr val="B9C5D3"/>
                </a:solidFill>
                <a:latin typeface="Proxima Nova Thin" panose="02000506030000020004" pitchFamily="2" charset="0"/>
              </a:rPr>
              <a:t>Confidential and Proprietary - The Blue Horizons Group LLC</a:t>
            </a:r>
          </a:p>
        </p:txBody>
      </p:sp>
      <p:pic>
        <p:nvPicPr>
          <p:cNvPr id="1028" name="Picture 4" descr="ShopBeer&amp;Spirits - Apps on Google Play">
            <a:extLst>
              <a:ext uri="{FF2B5EF4-FFF2-40B4-BE49-F238E27FC236}">
                <a16:creationId xmlns:a16="http://schemas.microsoft.com/office/drawing/2014/main" id="{10BBF01C-E116-402D-E78E-4A5E29A4C9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1085" y="3075845"/>
            <a:ext cx="1790795" cy="1790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453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B716C"/>
          </a:solidFill>
          <a:ln w="12700">
            <a:solidFill>
              <a:srgbClr val="0EA5E9"/>
            </a:solidFill>
            <a:prstDash val="solid"/>
          </a:ln>
        </p:spPr>
        <p:txBody>
          <a:bodyPr/>
          <a:lstStyle/>
          <a:p>
            <a:endParaRPr lang="en-US"/>
          </a:p>
        </p:txBody>
      </p:sp>
      <p:sp>
        <p:nvSpPr>
          <p:cNvPr id="3" name="Shape 1"/>
          <p:cNvSpPr/>
          <p:nvPr/>
        </p:nvSpPr>
        <p:spPr>
          <a:xfrm>
            <a:off x="0" y="73152"/>
            <a:ext cx="9144000" cy="749808"/>
          </a:xfrm>
          <a:prstGeom prst="rect">
            <a:avLst/>
          </a:prstGeom>
          <a:solidFill>
            <a:srgbClr val="3C475C"/>
          </a:solidFill>
          <a:ln w="12700">
            <a:solidFill>
              <a:srgbClr val="0F2B5B"/>
            </a:solidFill>
            <a:prstDash val="solid"/>
          </a:ln>
        </p:spPr>
        <p:txBody>
          <a:bodyPr/>
          <a:lstStyle/>
          <a:p>
            <a:endParaRPr lang="en-US"/>
          </a:p>
        </p:txBody>
      </p:sp>
      <p:sp>
        <p:nvSpPr>
          <p:cNvPr id="4" name="Text 2"/>
          <p:cNvSpPr/>
          <p:nvPr/>
        </p:nvSpPr>
        <p:spPr>
          <a:xfrm>
            <a:off x="365760" y="-19720"/>
            <a:ext cx="6400800" cy="749808"/>
          </a:xfrm>
          <a:prstGeom prst="rect">
            <a:avLst/>
          </a:prstGeom>
          <a:noFill/>
          <a:ln/>
        </p:spPr>
        <p:txBody>
          <a:bodyPr wrap="square" lIns="0" tIns="0" rIns="0" bIns="0" rtlCol="0" anchor="ctr"/>
          <a:lstStyle/>
          <a:p>
            <a:pPr marL="0" indent="0">
              <a:buNone/>
            </a:pPr>
            <a:r>
              <a:rPr lang="en-US" sz="2600" b="1" dirty="0">
                <a:solidFill>
                  <a:srgbClr val="FFFFFF"/>
                </a:solidFill>
                <a:latin typeface="Proxima Nova Bold" pitchFamily="34" charset="0"/>
                <a:ea typeface="Calibri" pitchFamily="34" charset="-122"/>
                <a:cs typeface="Calibri" pitchFamily="34" charset="-120"/>
              </a:rPr>
              <a:t>The Moment You're In</a:t>
            </a:r>
            <a:endParaRPr lang="en-US" sz="2600" dirty="0"/>
          </a:p>
        </p:txBody>
      </p:sp>
      <p:sp>
        <p:nvSpPr>
          <p:cNvPr id="5" name="Text 3"/>
          <p:cNvSpPr/>
          <p:nvPr/>
        </p:nvSpPr>
        <p:spPr>
          <a:xfrm>
            <a:off x="365760" y="-19719"/>
            <a:ext cx="8046720" cy="749808"/>
          </a:xfrm>
          <a:prstGeom prst="rect">
            <a:avLst/>
          </a:prstGeom>
          <a:noFill/>
          <a:ln/>
        </p:spPr>
        <p:txBody>
          <a:bodyPr wrap="square" lIns="0" tIns="0" rIns="0" bIns="0" rtlCol="0" anchor="b"/>
          <a:lstStyle/>
          <a:p>
            <a:pPr marL="0" indent="0">
              <a:buNone/>
            </a:pPr>
            <a:r>
              <a:rPr lang="en-US" sz="1300" i="1" dirty="0">
                <a:solidFill>
                  <a:schemeClr val="accent1">
                    <a:lumMod val="90000"/>
                  </a:schemeClr>
                </a:solidFill>
                <a:latin typeface="Proxima Nova"/>
              </a:rPr>
              <a:t>Your business is evolving fast. The tools haven't caught up.</a:t>
            </a:r>
            <a:endParaRPr lang="en-US" sz="1300" dirty="0">
              <a:solidFill>
                <a:schemeClr val="accent1">
                  <a:lumMod val="90000"/>
                </a:schemeClr>
              </a:solidFill>
            </a:endParaRPr>
          </a:p>
        </p:txBody>
      </p:sp>
      <p:sp>
        <p:nvSpPr>
          <p:cNvPr id="6" name="Shape 4"/>
          <p:cNvSpPr/>
          <p:nvPr/>
        </p:nvSpPr>
        <p:spPr>
          <a:xfrm>
            <a:off x="228600" y="1005839"/>
            <a:ext cx="1993392" cy="3759041"/>
          </a:xfrm>
          <a:prstGeom prst="rect">
            <a:avLst/>
          </a:prstGeom>
          <a:solidFill>
            <a:srgbClr val="E3E8EE"/>
          </a:solidFill>
          <a:ln/>
          <a:effectLst>
            <a:outerShdw blurRad="101600" dist="25400" dir="8100000" algn="bl" rotWithShape="0">
              <a:srgbClr val="000000">
                <a:alpha val="10000"/>
              </a:srgbClr>
            </a:outerShdw>
          </a:effectLst>
        </p:spPr>
        <p:txBody>
          <a:bodyPr/>
          <a:lstStyle/>
          <a:p>
            <a:endParaRPr lang="en-US"/>
          </a:p>
        </p:txBody>
      </p:sp>
      <p:sp>
        <p:nvSpPr>
          <p:cNvPr id="7" name="Shape 5"/>
          <p:cNvSpPr/>
          <p:nvPr/>
        </p:nvSpPr>
        <p:spPr>
          <a:xfrm>
            <a:off x="228600" y="1005840"/>
            <a:ext cx="1993392" cy="64008"/>
          </a:xfrm>
          <a:prstGeom prst="rect">
            <a:avLst/>
          </a:prstGeom>
          <a:solidFill>
            <a:schemeClr val="tx1"/>
          </a:solidFill>
          <a:ln w="12700">
            <a:solidFill>
              <a:schemeClr val="tx1"/>
            </a:solidFill>
            <a:prstDash val="solid"/>
          </a:ln>
        </p:spPr>
        <p:txBody>
          <a:bodyPr/>
          <a:lstStyle/>
          <a:p>
            <a:endParaRPr lang="en-US"/>
          </a:p>
        </p:txBody>
      </p:sp>
      <p:sp>
        <p:nvSpPr>
          <p:cNvPr id="8" name="Shape 6"/>
          <p:cNvSpPr/>
          <p:nvPr/>
        </p:nvSpPr>
        <p:spPr>
          <a:xfrm>
            <a:off x="393192" y="1207008"/>
            <a:ext cx="475488" cy="475488"/>
          </a:xfrm>
          <a:prstGeom prst="ellipse">
            <a:avLst/>
          </a:prstGeom>
          <a:solidFill>
            <a:schemeClr val="tx1"/>
          </a:solidFill>
          <a:ln w="12700">
            <a:solidFill>
              <a:schemeClr val="tx1"/>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484632" y="1289304"/>
            <a:ext cx="292608" cy="292608"/>
          </a:xfrm>
          <a:prstGeom prst="rect">
            <a:avLst/>
          </a:prstGeom>
        </p:spPr>
      </p:pic>
      <p:sp>
        <p:nvSpPr>
          <p:cNvPr id="10" name="Text 7"/>
          <p:cNvSpPr/>
          <p:nvPr/>
        </p:nvSpPr>
        <p:spPr>
          <a:xfrm>
            <a:off x="1810512" y="1188720"/>
            <a:ext cx="274320" cy="274320"/>
          </a:xfrm>
          <a:prstGeom prst="rect">
            <a:avLst/>
          </a:prstGeom>
          <a:noFill/>
          <a:ln/>
        </p:spPr>
        <p:txBody>
          <a:bodyPr wrap="square" lIns="0" tIns="0" rIns="0" bIns="0" rtlCol="0" anchor="ctr"/>
          <a:lstStyle/>
          <a:p>
            <a:pPr marL="0" indent="0" algn="r">
              <a:buNone/>
            </a:pPr>
            <a:r>
              <a:rPr lang="en-US" sz="1400" b="1" dirty="0">
                <a:solidFill>
                  <a:srgbClr val="474747"/>
                </a:solidFill>
                <a:latin typeface="Proxima Nova Bold"/>
              </a:rPr>
              <a:t>1</a:t>
            </a:r>
            <a:endParaRPr lang="en-US" sz="1800" dirty="0"/>
          </a:p>
        </p:txBody>
      </p:sp>
      <p:sp>
        <p:nvSpPr>
          <p:cNvPr id="11" name="Text 8"/>
          <p:cNvSpPr/>
          <p:nvPr/>
        </p:nvSpPr>
        <p:spPr>
          <a:xfrm>
            <a:off x="365760" y="1783080"/>
            <a:ext cx="1719072" cy="438912"/>
          </a:xfrm>
          <a:prstGeom prst="rect">
            <a:avLst/>
          </a:prstGeom>
          <a:noFill/>
          <a:ln/>
        </p:spPr>
        <p:txBody>
          <a:bodyPr wrap="square" rtlCol="0" anchor="ctr"/>
          <a:lstStyle/>
          <a:p>
            <a:pPr marL="0" indent="0">
              <a:buNone/>
            </a:pPr>
            <a:r>
              <a:rPr lang="en-US" sz="1400" b="1" dirty="0">
                <a:solidFill>
                  <a:srgbClr val="3C475C"/>
                </a:solidFill>
                <a:latin typeface="Proxima Nova Bold" pitchFamily="34" charset="0"/>
                <a:ea typeface="Calibri" pitchFamily="34" charset="-122"/>
                <a:cs typeface="Calibri" pitchFamily="34" charset="-120"/>
              </a:rPr>
              <a:t>Store Performance</a:t>
            </a:r>
            <a:endParaRPr lang="en-US" sz="1300" dirty="0"/>
          </a:p>
        </p:txBody>
      </p:sp>
      <p:sp>
        <p:nvSpPr>
          <p:cNvPr id="12" name="Text 9"/>
          <p:cNvSpPr/>
          <p:nvPr/>
        </p:nvSpPr>
        <p:spPr>
          <a:xfrm>
            <a:off x="365760" y="2267712"/>
            <a:ext cx="1719072" cy="1554480"/>
          </a:xfrm>
          <a:prstGeom prst="rect">
            <a:avLst/>
          </a:prstGeom>
          <a:noFill/>
          <a:ln/>
        </p:spPr>
        <p:txBody>
          <a:bodyPr wrap="square" rtlCol="0" anchor="t"/>
          <a:lstStyle/>
          <a:p>
            <a:pPr marL="0" indent="0">
              <a:lnSpc>
                <a:spcPct val="130000"/>
              </a:lnSpc>
              <a:buNone/>
            </a:pPr>
            <a:r>
              <a:rPr lang="en-US" sz="1400" dirty="0">
                <a:solidFill>
                  <a:srgbClr val="474747"/>
                </a:solidFill>
                <a:latin typeface="Proxima Nova Thin" panose="02000506030000020004" pitchFamily="2" charset="0"/>
              </a:rPr>
              <a:t>E-commerce growing fast. Store footprint under review. Omnichannel strategy evolving — with new brand partnerships on the horizon.</a:t>
            </a:r>
            <a:endParaRPr lang="en-US" sz="1050" dirty="0">
              <a:latin typeface="Proxima Nova Thin" panose="02000506030000020004" pitchFamily="2" charset="0"/>
            </a:endParaRPr>
          </a:p>
        </p:txBody>
      </p:sp>
      <p:sp>
        <p:nvSpPr>
          <p:cNvPr id="13" name="Shape 10"/>
          <p:cNvSpPr/>
          <p:nvPr/>
        </p:nvSpPr>
        <p:spPr>
          <a:xfrm>
            <a:off x="2322576" y="1005839"/>
            <a:ext cx="1993392" cy="3759041"/>
          </a:xfrm>
          <a:prstGeom prst="rect">
            <a:avLst/>
          </a:prstGeom>
          <a:solidFill>
            <a:srgbClr val="E3E8EE"/>
          </a:solidFill>
          <a:ln/>
          <a:effectLst>
            <a:outerShdw blurRad="101600" dist="25400" dir="8100000" algn="bl" rotWithShape="0">
              <a:srgbClr val="000000">
                <a:alpha val="10000"/>
              </a:srgbClr>
            </a:outerShdw>
          </a:effectLst>
        </p:spPr>
        <p:txBody>
          <a:bodyPr/>
          <a:lstStyle/>
          <a:p>
            <a:endParaRPr lang="en-US"/>
          </a:p>
        </p:txBody>
      </p:sp>
      <p:sp>
        <p:nvSpPr>
          <p:cNvPr id="14" name="Shape 11"/>
          <p:cNvSpPr/>
          <p:nvPr/>
        </p:nvSpPr>
        <p:spPr>
          <a:xfrm>
            <a:off x="2322576" y="1005840"/>
            <a:ext cx="1993392" cy="64008"/>
          </a:xfrm>
          <a:prstGeom prst="rect">
            <a:avLst/>
          </a:prstGeom>
          <a:solidFill>
            <a:schemeClr val="accent2"/>
          </a:solidFill>
          <a:ln w="12700">
            <a:solidFill>
              <a:schemeClr val="accent2"/>
            </a:solidFill>
            <a:prstDash val="solid"/>
          </a:ln>
        </p:spPr>
        <p:txBody>
          <a:bodyPr/>
          <a:lstStyle/>
          <a:p>
            <a:endParaRPr lang="en-US"/>
          </a:p>
        </p:txBody>
      </p:sp>
      <p:sp>
        <p:nvSpPr>
          <p:cNvPr id="15" name="Shape 12"/>
          <p:cNvSpPr/>
          <p:nvPr/>
        </p:nvSpPr>
        <p:spPr>
          <a:xfrm>
            <a:off x="2487168" y="1207008"/>
            <a:ext cx="475488" cy="475488"/>
          </a:xfrm>
          <a:prstGeom prst="ellipse">
            <a:avLst/>
          </a:prstGeom>
          <a:solidFill>
            <a:schemeClr val="accent2"/>
          </a:solidFill>
          <a:ln w="12700">
            <a:solidFill>
              <a:schemeClr val="accent2"/>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2578608" y="1289304"/>
            <a:ext cx="292608" cy="292608"/>
          </a:xfrm>
          <a:prstGeom prst="rect">
            <a:avLst/>
          </a:prstGeom>
        </p:spPr>
      </p:pic>
      <p:sp>
        <p:nvSpPr>
          <p:cNvPr id="17" name="Text 13"/>
          <p:cNvSpPr/>
          <p:nvPr/>
        </p:nvSpPr>
        <p:spPr>
          <a:xfrm>
            <a:off x="3904488" y="1188720"/>
            <a:ext cx="274320" cy="274320"/>
          </a:xfrm>
          <a:prstGeom prst="rect">
            <a:avLst/>
          </a:prstGeom>
          <a:noFill/>
          <a:ln/>
        </p:spPr>
        <p:txBody>
          <a:bodyPr wrap="square" lIns="0" tIns="0" rIns="0" bIns="0" rtlCol="0" anchor="ctr"/>
          <a:lstStyle/>
          <a:p>
            <a:pPr marL="0" indent="0" algn="r">
              <a:buNone/>
            </a:pPr>
            <a:r>
              <a:rPr lang="en-US" sz="1400" b="1" dirty="0">
                <a:solidFill>
                  <a:srgbClr val="474747"/>
                </a:solidFill>
                <a:latin typeface="Proxima Nova Bold"/>
              </a:rPr>
              <a:t>2</a:t>
            </a:r>
            <a:endParaRPr lang="en-US" sz="1800" dirty="0"/>
          </a:p>
        </p:txBody>
      </p:sp>
      <p:sp>
        <p:nvSpPr>
          <p:cNvPr id="18" name="Text 14"/>
          <p:cNvSpPr/>
          <p:nvPr/>
        </p:nvSpPr>
        <p:spPr>
          <a:xfrm>
            <a:off x="2459736" y="1783080"/>
            <a:ext cx="1719072" cy="438912"/>
          </a:xfrm>
          <a:prstGeom prst="rect">
            <a:avLst/>
          </a:prstGeom>
          <a:noFill/>
          <a:ln/>
        </p:spPr>
        <p:txBody>
          <a:bodyPr wrap="square" rtlCol="0" anchor="ctr"/>
          <a:lstStyle/>
          <a:p>
            <a:pPr marL="0" indent="0">
              <a:buNone/>
            </a:pPr>
            <a:r>
              <a:rPr lang="en-US" sz="1400" b="1" dirty="0">
                <a:solidFill>
                  <a:srgbClr val="3C475C"/>
                </a:solidFill>
                <a:latin typeface="Proxima Nova Bold" pitchFamily="34" charset="0"/>
                <a:ea typeface="Calibri" pitchFamily="34" charset="-122"/>
                <a:cs typeface="Calibri" pitchFamily="34" charset="-120"/>
              </a:rPr>
              <a:t>Coaching &amp; Next-Best Action</a:t>
            </a:r>
            <a:endParaRPr lang="en-US" sz="1300" dirty="0"/>
          </a:p>
        </p:txBody>
      </p:sp>
      <p:sp>
        <p:nvSpPr>
          <p:cNvPr id="19" name="Text 15"/>
          <p:cNvSpPr/>
          <p:nvPr/>
        </p:nvSpPr>
        <p:spPr>
          <a:xfrm>
            <a:off x="2459736" y="2267712"/>
            <a:ext cx="1719072" cy="1554480"/>
          </a:xfrm>
          <a:prstGeom prst="rect">
            <a:avLst/>
          </a:prstGeom>
          <a:noFill/>
          <a:ln/>
        </p:spPr>
        <p:txBody>
          <a:bodyPr wrap="square" rtlCol="0" anchor="t"/>
          <a:lstStyle/>
          <a:p>
            <a:pPr marL="0" indent="0">
              <a:lnSpc>
                <a:spcPct val="130000"/>
              </a:lnSpc>
              <a:buNone/>
            </a:pPr>
            <a:r>
              <a:rPr lang="en-US" sz="1400" dirty="0">
                <a:solidFill>
                  <a:srgbClr val="474747"/>
                </a:solidFill>
                <a:latin typeface="Proxima Nova Thin" panose="02000506030000020004" pitchFamily="2" charset="0"/>
              </a:rPr>
              <a:t>Sleep Experts and store managers need real-time guidance to act on, not backward-looking reports that confirm what already happened.</a:t>
            </a:r>
            <a:endParaRPr lang="en-US" sz="1050" dirty="0">
              <a:latin typeface="Proxima Nova Thin" panose="02000506030000020004" pitchFamily="2" charset="0"/>
            </a:endParaRPr>
          </a:p>
        </p:txBody>
      </p:sp>
      <p:sp>
        <p:nvSpPr>
          <p:cNvPr id="20" name="Shape 16"/>
          <p:cNvSpPr/>
          <p:nvPr/>
        </p:nvSpPr>
        <p:spPr>
          <a:xfrm>
            <a:off x="4416552" y="1005839"/>
            <a:ext cx="1993392" cy="3759041"/>
          </a:xfrm>
          <a:prstGeom prst="rect">
            <a:avLst/>
          </a:prstGeom>
          <a:solidFill>
            <a:srgbClr val="E3E8EE"/>
          </a:solidFill>
          <a:ln/>
          <a:effectLst>
            <a:outerShdw blurRad="101600" dist="25400" dir="8100000" algn="bl" rotWithShape="0">
              <a:srgbClr val="000000">
                <a:alpha val="10000"/>
              </a:srgbClr>
            </a:outerShdw>
          </a:effectLst>
        </p:spPr>
        <p:txBody>
          <a:bodyPr/>
          <a:lstStyle/>
          <a:p>
            <a:endParaRPr lang="en-US"/>
          </a:p>
        </p:txBody>
      </p:sp>
      <p:sp>
        <p:nvSpPr>
          <p:cNvPr id="21" name="Shape 17"/>
          <p:cNvSpPr/>
          <p:nvPr/>
        </p:nvSpPr>
        <p:spPr>
          <a:xfrm>
            <a:off x="4416552" y="1005840"/>
            <a:ext cx="1993392" cy="64008"/>
          </a:xfrm>
          <a:prstGeom prst="rect">
            <a:avLst/>
          </a:prstGeom>
          <a:solidFill>
            <a:schemeClr val="accent3"/>
          </a:solidFill>
          <a:ln w="12700">
            <a:solidFill>
              <a:schemeClr val="accent3"/>
            </a:solidFill>
            <a:prstDash val="solid"/>
          </a:ln>
        </p:spPr>
        <p:txBody>
          <a:bodyPr/>
          <a:lstStyle/>
          <a:p>
            <a:endParaRPr lang="en-US"/>
          </a:p>
        </p:txBody>
      </p:sp>
      <p:sp>
        <p:nvSpPr>
          <p:cNvPr id="22" name="Shape 18"/>
          <p:cNvSpPr/>
          <p:nvPr/>
        </p:nvSpPr>
        <p:spPr>
          <a:xfrm>
            <a:off x="4581144" y="1207008"/>
            <a:ext cx="475488" cy="475488"/>
          </a:xfrm>
          <a:prstGeom prst="ellipse">
            <a:avLst/>
          </a:prstGeom>
          <a:solidFill>
            <a:schemeClr val="accent3"/>
          </a:solidFill>
          <a:ln w="12700">
            <a:solidFill>
              <a:schemeClr val="accent3"/>
            </a:solidFill>
            <a:prstDash val="solid"/>
          </a:ln>
        </p:spPr>
        <p:txBody>
          <a:bodyPr/>
          <a:lstStyle/>
          <a:p>
            <a:endParaRPr lang="en-US"/>
          </a:p>
        </p:txBody>
      </p:sp>
      <p:pic>
        <p:nvPicPr>
          <p:cNvPr id="23" name="Image 2" descr="preencoded.png"/>
          <p:cNvPicPr>
            <a:picLocks noChangeAspect="1"/>
          </p:cNvPicPr>
          <p:nvPr/>
        </p:nvPicPr>
        <p:blipFill>
          <a:blip r:embed="rId5"/>
          <a:stretch>
            <a:fillRect/>
          </a:stretch>
        </p:blipFill>
        <p:spPr>
          <a:xfrm>
            <a:off x="4672584" y="1289304"/>
            <a:ext cx="292608" cy="292608"/>
          </a:xfrm>
          <a:prstGeom prst="rect">
            <a:avLst/>
          </a:prstGeom>
        </p:spPr>
      </p:pic>
      <p:sp>
        <p:nvSpPr>
          <p:cNvPr id="24" name="Text 19"/>
          <p:cNvSpPr/>
          <p:nvPr/>
        </p:nvSpPr>
        <p:spPr>
          <a:xfrm>
            <a:off x="5998464" y="1188720"/>
            <a:ext cx="274320" cy="274320"/>
          </a:xfrm>
          <a:prstGeom prst="rect">
            <a:avLst/>
          </a:prstGeom>
          <a:noFill/>
          <a:ln/>
        </p:spPr>
        <p:txBody>
          <a:bodyPr wrap="square" lIns="0" tIns="0" rIns="0" bIns="0" rtlCol="0" anchor="ctr"/>
          <a:lstStyle/>
          <a:p>
            <a:pPr marL="0" indent="0" algn="r">
              <a:buNone/>
            </a:pPr>
            <a:r>
              <a:rPr lang="en-US" sz="1400" b="1" dirty="0">
                <a:solidFill>
                  <a:srgbClr val="474747"/>
                </a:solidFill>
                <a:latin typeface="Proxima Nova Bold"/>
              </a:rPr>
              <a:t>3</a:t>
            </a:r>
            <a:endParaRPr lang="en-US" sz="1800" dirty="0"/>
          </a:p>
        </p:txBody>
      </p:sp>
      <p:sp>
        <p:nvSpPr>
          <p:cNvPr id="25" name="Text 20"/>
          <p:cNvSpPr/>
          <p:nvPr/>
        </p:nvSpPr>
        <p:spPr>
          <a:xfrm>
            <a:off x="4553712" y="1783080"/>
            <a:ext cx="1719072" cy="438912"/>
          </a:xfrm>
          <a:prstGeom prst="rect">
            <a:avLst/>
          </a:prstGeom>
          <a:noFill/>
          <a:ln/>
        </p:spPr>
        <p:txBody>
          <a:bodyPr wrap="square" rtlCol="0" anchor="ctr"/>
          <a:lstStyle/>
          <a:p>
            <a:pPr marL="0" indent="0">
              <a:buNone/>
            </a:pPr>
            <a:r>
              <a:rPr lang="en-US" sz="1400" b="1" dirty="0">
                <a:solidFill>
                  <a:srgbClr val="3C475C"/>
                </a:solidFill>
                <a:latin typeface="Proxima Nova Bold" pitchFamily="34" charset="0"/>
                <a:ea typeface="Calibri" pitchFamily="34" charset="-122"/>
                <a:cs typeface="Calibri" pitchFamily="34" charset="-120"/>
              </a:rPr>
              <a:t>Rev Ops Visibility</a:t>
            </a:r>
            <a:endParaRPr lang="en-US" sz="1300" dirty="0"/>
          </a:p>
        </p:txBody>
      </p:sp>
      <p:sp>
        <p:nvSpPr>
          <p:cNvPr id="26" name="Text 21"/>
          <p:cNvSpPr/>
          <p:nvPr/>
        </p:nvSpPr>
        <p:spPr>
          <a:xfrm>
            <a:off x="4553712" y="2267712"/>
            <a:ext cx="1719072" cy="1554480"/>
          </a:xfrm>
          <a:prstGeom prst="rect">
            <a:avLst/>
          </a:prstGeom>
          <a:noFill/>
          <a:ln/>
        </p:spPr>
        <p:txBody>
          <a:bodyPr wrap="square" rtlCol="0" anchor="t"/>
          <a:lstStyle/>
          <a:p>
            <a:pPr marL="0" indent="0">
              <a:lnSpc>
                <a:spcPct val="130000"/>
              </a:lnSpc>
              <a:buNone/>
            </a:pPr>
            <a:r>
              <a:rPr lang="en-US" sz="1400" dirty="0">
                <a:solidFill>
                  <a:srgbClr val="474747"/>
                </a:solidFill>
                <a:latin typeface="Proxima Nova Thin" panose="02000506030000020004" pitchFamily="2" charset="0"/>
              </a:rPr>
              <a:t>Highly granular insight into floor activity, store-level performance, and what's actually driving results — by brand, by associate, by district.</a:t>
            </a:r>
            <a:endParaRPr lang="en-US" sz="1050" dirty="0">
              <a:latin typeface="Proxima Nova Thin" panose="02000506030000020004" pitchFamily="2" charset="0"/>
            </a:endParaRPr>
          </a:p>
        </p:txBody>
      </p:sp>
      <p:sp>
        <p:nvSpPr>
          <p:cNvPr id="27" name="Shape 22"/>
          <p:cNvSpPr/>
          <p:nvPr/>
        </p:nvSpPr>
        <p:spPr>
          <a:xfrm>
            <a:off x="6510528" y="1005839"/>
            <a:ext cx="1993392" cy="3759041"/>
          </a:xfrm>
          <a:prstGeom prst="rect">
            <a:avLst/>
          </a:prstGeom>
          <a:solidFill>
            <a:srgbClr val="E3E8EE"/>
          </a:solidFill>
          <a:ln/>
          <a:effectLst>
            <a:outerShdw blurRad="101600" dist="25400" dir="8100000" algn="bl" rotWithShape="0">
              <a:srgbClr val="000000">
                <a:alpha val="10000"/>
              </a:srgbClr>
            </a:outerShdw>
          </a:effectLst>
        </p:spPr>
        <p:txBody>
          <a:bodyPr/>
          <a:lstStyle/>
          <a:p>
            <a:endParaRPr lang="en-US"/>
          </a:p>
        </p:txBody>
      </p:sp>
      <p:sp>
        <p:nvSpPr>
          <p:cNvPr id="28" name="Shape 23"/>
          <p:cNvSpPr/>
          <p:nvPr/>
        </p:nvSpPr>
        <p:spPr>
          <a:xfrm>
            <a:off x="6510528" y="1005840"/>
            <a:ext cx="1993392" cy="64008"/>
          </a:xfrm>
          <a:prstGeom prst="rect">
            <a:avLst/>
          </a:prstGeom>
          <a:solidFill>
            <a:schemeClr val="accent4"/>
          </a:solidFill>
          <a:ln w="12700">
            <a:solidFill>
              <a:schemeClr val="accent4"/>
            </a:solidFill>
            <a:prstDash val="solid"/>
          </a:ln>
        </p:spPr>
        <p:txBody>
          <a:bodyPr/>
          <a:lstStyle/>
          <a:p>
            <a:endParaRPr lang="en-US"/>
          </a:p>
        </p:txBody>
      </p:sp>
      <p:sp>
        <p:nvSpPr>
          <p:cNvPr id="29" name="Shape 24"/>
          <p:cNvSpPr/>
          <p:nvPr/>
        </p:nvSpPr>
        <p:spPr>
          <a:xfrm>
            <a:off x="6675120" y="1207008"/>
            <a:ext cx="475488" cy="475488"/>
          </a:xfrm>
          <a:prstGeom prst="ellipse">
            <a:avLst/>
          </a:prstGeom>
          <a:solidFill>
            <a:schemeClr val="accent4"/>
          </a:solidFill>
          <a:ln w="12700">
            <a:solidFill>
              <a:schemeClr val="accent4"/>
            </a:solidFill>
            <a:prstDash val="solid"/>
          </a:ln>
        </p:spPr>
        <p:txBody>
          <a:bodyPr/>
          <a:lstStyle/>
          <a:p>
            <a:endParaRPr lang="en-US"/>
          </a:p>
        </p:txBody>
      </p:sp>
      <p:pic>
        <p:nvPicPr>
          <p:cNvPr id="30" name="Image 3" descr="preencoded.png"/>
          <p:cNvPicPr>
            <a:picLocks noChangeAspect="1"/>
          </p:cNvPicPr>
          <p:nvPr/>
        </p:nvPicPr>
        <p:blipFill>
          <a:blip r:embed="rId6"/>
          <a:stretch>
            <a:fillRect/>
          </a:stretch>
        </p:blipFill>
        <p:spPr>
          <a:xfrm>
            <a:off x="6766560" y="1289304"/>
            <a:ext cx="292608" cy="292608"/>
          </a:xfrm>
          <a:prstGeom prst="rect">
            <a:avLst/>
          </a:prstGeom>
        </p:spPr>
      </p:pic>
      <p:sp>
        <p:nvSpPr>
          <p:cNvPr id="31" name="Text 25"/>
          <p:cNvSpPr/>
          <p:nvPr/>
        </p:nvSpPr>
        <p:spPr>
          <a:xfrm>
            <a:off x="8092440" y="1188720"/>
            <a:ext cx="274320" cy="274320"/>
          </a:xfrm>
          <a:prstGeom prst="rect">
            <a:avLst/>
          </a:prstGeom>
          <a:noFill/>
          <a:ln/>
        </p:spPr>
        <p:txBody>
          <a:bodyPr wrap="square" lIns="0" tIns="0" rIns="0" bIns="0" rtlCol="0" anchor="ctr"/>
          <a:lstStyle/>
          <a:p>
            <a:pPr marL="0" indent="0" algn="r">
              <a:buNone/>
            </a:pPr>
            <a:r>
              <a:rPr lang="en-US" sz="1400" b="1" dirty="0">
                <a:solidFill>
                  <a:srgbClr val="474747"/>
                </a:solidFill>
                <a:latin typeface="Proxima Nova Bold"/>
              </a:rPr>
              <a:t>4</a:t>
            </a:r>
            <a:endParaRPr lang="en-US" sz="1800" dirty="0"/>
          </a:p>
        </p:txBody>
      </p:sp>
      <p:sp>
        <p:nvSpPr>
          <p:cNvPr id="32" name="Text 26"/>
          <p:cNvSpPr/>
          <p:nvPr/>
        </p:nvSpPr>
        <p:spPr>
          <a:xfrm>
            <a:off x="6647688" y="1783080"/>
            <a:ext cx="1719072" cy="438912"/>
          </a:xfrm>
          <a:prstGeom prst="rect">
            <a:avLst/>
          </a:prstGeom>
          <a:noFill/>
          <a:ln/>
        </p:spPr>
        <p:txBody>
          <a:bodyPr wrap="square" rtlCol="0" anchor="ctr"/>
          <a:lstStyle/>
          <a:p>
            <a:pPr marL="0" indent="0">
              <a:buNone/>
            </a:pPr>
            <a:r>
              <a:rPr lang="en-US" sz="1400" b="1" dirty="0">
                <a:solidFill>
                  <a:srgbClr val="3C475C"/>
                </a:solidFill>
                <a:latin typeface="Proxima Nova Bold" pitchFamily="34" charset="0"/>
                <a:ea typeface="Calibri" pitchFamily="34" charset="-122"/>
                <a:cs typeface="Calibri" pitchFamily="34" charset="-120"/>
              </a:rPr>
              <a:t>Comp Plan Transformation</a:t>
            </a:r>
            <a:endParaRPr lang="en-US" sz="1300" dirty="0"/>
          </a:p>
        </p:txBody>
      </p:sp>
      <p:sp>
        <p:nvSpPr>
          <p:cNvPr id="33" name="Text 27"/>
          <p:cNvSpPr/>
          <p:nvPr/>
        </p:nvSpPr>
        <p:spPr>
          <a:xfrm>
            <a:off x="6647688" y="2267712"/>
            <a:ext cx="1719072" cy="1554480"/>
          </a:xfrm>
          <a:prstGeom prst="rect">
            <a:avLst/>
          </a:prstGeom>
          <a:noFill/>
          <a:ln/>
        </p:spPr>
        <p:txBody>
          <a:bodyPr wrap="square" rtlCol="0" anchor="t"/>
          <a:lstStyle/>
          <a:p>
            <a:pPr marL="0" indent="0">
              <a:lnSpc>
                <a:spcPct val="130000"/>
              </a:lnSpc>
              <a:buNone/>
            </a:pPr>
            <a:r>
              <a:rPr lang="en-US" sz="1400" dirty="0">
                <a:solidFill>
                  <a:srgbClr val="474747"/>
                </a:solidFill>
                <a:latin typeface="Proxima Nova Thin" panose="02000506030000020004" pitchFamily="2" charset="0"/>
              </a:rPr>
              <a:t>Spiff redesign, new margin-based bonus structure, attachment rate focus — currently being executed manually. There's a better way.</a:t>
            </a:r>
            <a:endParaRPr lang="en-US" sz="1050" dirty="0">
              <a:latin typeface="Proxima Nova Thin" panose="02000506030000020004" pitchFamily="2" charset="0"/>
            </a:endParaRPr>
          </a:p>
        </p:txBody>
      </p:sp>
      <p:sp>
        <p:nvSpPr>
          <p:cNvPr id="34" name="Shape 28"/>
          <p:cNvSpPr/>
          <p:nvPr/>
        </p:nvSpPr>
        <p:spPr>
          <a:xfrm>
            <a:off x="0" y="4892040"/>
            <a:ext cx="9144000" cy="251460"/>
          </a:xfrm>
          <a:prstGeom prst="rect">
            <a:avLst/>
          </a:prstGeom>
          <a:solidFill>
            <a:srgbClr val="3C475C"/>
          </a:solidFill>
          <a:ln w="12700">
            <a:solidFill>
              <a:srgbClr val="0F2B5B"/>
            </a:solidFill>
            <a:prstDash val="solid"/>
          </a:ln>
        </p:spPr>
        <p:txBody>
          <a:bodyPr/>
          <a:lstStyle/>
          <a:p>
            <a:endParaRPr lang="en-US"/>
          </a:p>
        </p:txBody>
      </p:sp>
      <p:sp>
        <p:nvSpPr>
          <p:cNvPr id="35" name="Text 29"/>
          <p:cNvSpPr/>
          <p:nvPr/>
        </p:nvSpPr>
        <p:spPr>
          <a:xfrm>
            <a:off x="0" y="4914900"/>
            <a:ext cx="9144000" cy="203200"/>
          </a:xfrm>
          <a:prstGeom prst="rect">
            <a:avLst/>
          </a:prstGeom>
          <a:noFill/>
          <a:ln/>
        </p:spPr>
        <p:txBody>
          <a:bodyPr wrap="square" lIns="0" tIns="0" rIns="0" bIns="0" rtlCol="0" anchor="ctr"/>
          <a:lstStyle/>
          <a:p>
            <a:pPr algn="ctr">
              <a:buNone/>
            </a:pPr>
            <a:r>
              <a:rPr lang="en-US" sz="1000" dirty="0">
                <a:solidFill>
                  <a:srgbClr val="B9C5D3"/>
                </a:solidFill>
                <a:latin typeface="Proxima Nova"/>
              </a:rPr>
              <a:t>Confidential and Proprietary - The Blue Horizons Group LLC</a:t>
            </a:r>
          </a:p>
        </p:txBody>
      </p:sp>
      <p:sp>
        <p:nvSpPr>
          <p:cNvPr id="36" name="Text 30"/>
          <p:cNvSpPr/>
          <p:nvPr/>
        </p:nvSpPr>
        <p:spPr>
          <a:xfrm>
            <a:off x="6400800" y="4901184"/>
            <a:ext cx="2423160" cy="201168"/>
          </a:xfrm>
          <a:prstGeom prst="rect">
            <a:avLst/>
          </a:prstGeom>
          <a:noFill/>
          <a:ln/>
        </p:spPr>
        <p:txBody>
          <a:bodyPr wrap="square" lIns="0" tIns="0" rIns="0" bIns="0" rtlCol="0" anchor="ctr"/>
          <a:lstStyle/>
          <a:p>
            <a:pPr marL="0" indent="0" algn="r">
              <a:buNone/>
            </a:pPr>
            <a:r>
              <a:rPr lang="en-US" sz="1000">
                <a:solidFill>
                  <a:srgbClr val="B9C5D3"/>
                </a:solidFill>
                <a:latin typeface="Proxima Nova"/>
              </a:rPr>
              <a:t>March 16, 2026</a:t>
            </a:r>
            <a:endParaRPr lang="en-US" sz="1000" dirty="0">
              <a:solidFill>
                <a:srgbClr val="B9C5D3"/>
              </a:solidFill>
              <a:latin typeface="Proxima Nova"/>
            </a:endParaRPr>
          </a:p>
        </p:txBody>
      </p:sp>
    </p:spTree>
    <p:extLst>
      <p:ext uri="{BB962C8B-B14F-4D97-AF65-F5344CB8AC3E}">
        <p14:creationId xmlns:p14="http://schemas.microsoft.com/office/powerpoint/2010/main" val="3721560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B716C"/>
          </a:solidFill>
          <a:ln w="12700">
            <a:solidFill>
              <a:schemeClr val="accent3"/>
            </a:solidFill>
            <a:prstDash val="solid"/>
          </a:ln>
        </p:spPr>
        <p:txBody>
          <a:bodyPr/>
          <a:lstStyle/>
          <a:p>
            <a:endParaRPr lang="en-US"/>
          </a:p>
        </p:txBody>
      </p:sp>
      <p:sp>
        <p:nvSpPr>
          <p:cNvPr id="3" name="Shape 1"/>
          <p:cNvSpPr/>
          <p:nvPr/>
        </p:nvSpPr>
        <p:spPr>
          <a:xfrm>
            <a:off x="0" y="73152"/>
            <a:ext cx="9144000" cy="749808"/>
          </a:xfrm>
          <a:prstGeom prst="rect">
            <a:avLst/>
          </a:prstGeom>
          <a:solidFill>
            <a:srgbClr val="3C475C"/>
          </a:solidFill>
          <a:ln w="12700">
            <a:solidFill>
              <a:srgbClr val="0F2B5B"/>
            </a:solidFill>
            <a:prstDash val="solid"/>
          </a:ln>
        </p:spPr>
        <p:txBody>
          <a:bodyPr/>
          <a:lstStyle/>
          <a:p>
            <a:endParaRPr lang="en-US"/>
          </a:p>
        </p:txBody>
      </p:sp>
      <p:sp>
        <p:nvSpPr>
          <p:cNvPr id="4" name="Text 2"/>
          <p:cNvSpPr/>
          <p:nvPr/>
        </p:nvSpPr>
        <p:spPr>
          <a:xfrm>
            <a:off x="365760" y="-19720"/>
            <a:ext cx="8229600" cy="749808"/>
          </a:xfrm>
          <a:prstGeom prst="rect">
            <a:avLst/>
          </a:prstGeom>
          <a:noFill/>
          <a:ln/>
        </p:spPr>
        <p:txBody>
          <a:bodyPr wrap="square" lIns="0" tIns="0" rIns="0" bIns="0" rtlCol="0" anchor="ctr"/>
          <a:lstStyle/>
          <a:p>
            <a:pPr marL="0" indent="0">
              <a:buNone/>
            </a:pPr>
            <a:r>
              <a:rPr lang="en-US" sz="2600" b="1" dirty="0">
                <a:solidFill>
                  <a:srgbClr val="FFFFFF"/>
                </a:solidFill>
                <a:latin typeface="Proxima Nova Bold" pitchFamily="34" charset="0"/>
                <a:ea typeface="Calibri" pitchFamily="34" charset="-122"/>
                <a:cs typeface="Calibri" pitchFamily="34" charset="-120"/>
              </a:rPr>
              <a:t>The Data Is There. The Decisions Aren't.</a:t>
            </a:r>
            <a:endParaRPr lang="en-US" sz="2600" dirty="0"/>
          </a:p>
        </p:txBody>
      </p:sp>
      <p:sp>
        <p:nvSpPr>
          <p:cNvPr id="5" name="Shape 3"/>
          <p:cNvSpPr/>
          <p:nvPr/>
        </p:nvSpPr>
        <p:spPr>
          <a:xfrm>
            <a:off x="320040" y="1024128"/>
            <a:ext cx="3474720" cy="777240"/>
          </a:xfrm>
          <a:prstGeom prst="rect">
            <a:avLst/>
          </a:prstGeom>
          <a:solidFill>
            <a:srgbClr val="E3E8EE"/>
          </a:solidFill>
          <a:ln/>
          <a:effectLst>
            <a:outerShdw blurRad="76200" dist="12700" dir="8100000" algn="bl" rotWithShape="0">
              <a:srgbClr val="000000">
                <a:alpha val="8000"/>
              </a:srgbClr>
            </a:outerShdw>
          </a:effectLst>
        </p:spPr>
        <p:txBody>
          <a:bodyPr/>
          <a:lstStyle/>
          <a:p>
            <a:endParaRPr lang="en-US"/>
          </a:p>
        </p:txBody>
      </p:sp>
      <p:sp>
        <p:nvSpPr>
          <p:cNvPr id="6" name="Shape 4"/>
          <p:cNvSpPr/>
          <p:nvPr/>
        </p:nvSpPr>
        <p:spPr>
          <a:xfrm>
            <a:off x="320040" y="1024128"/>
            <a:ext cx="64008" cy="777240"/>
          </a:xfrm>
          <a:prstGeom prst="rect">
            <a:avLst/>
          </a:prstGeom>
          <a:solidFill>
            <a:srgbClr val="DB716C"/>
          </a:solidFill>
          <a:ln w="12700">
            <a:solidFill>
              <a:schemeClr val="accent3"/>
            </a:solidFill>
            <a:prstDash val="solid"/>
          </a:ln>
        </p:spPr>
        <p:txBody>
          <a:bodyPr/>
          <a:lstStyle/>
          <a:p>
            <a:endParaRPr lang="en-US"/>
          </a:p>
        </p:txBody>
      </p:sp>
      <p:sp>
        <p:nvSpPr>
          <p:cNvPr id="7" name="Text 5"/>
          <p:cNvSpPr/>
          <p:nvPr/>
        </p:nvSpPr>
        <p:spPr>
          <a:xfrm>
            <a:off x="521208" y="1069848"/>
            <a:ext cx="1371600" cy="365760"/>
          </a:xfrm>
          <a:prstGeom prst="rect">
            <a:avLst/>
          </a:prstGeom>
          <a:noFill/>
          <a:ln/>
        </p:spPr>
        <p:txBody>
          <a:bodyPr wrap="square" lIns="0" tIns="0" rIns="0" bIns="0" rtlCol="0" anchor="ctr"/>
          <a:lstStyle/>
          <a:p>
            <a:pPr marL="0" indent="0">
              <a:buNone/>
            </a:pPr>
            <a:r>
              <a:rPr lang="en-US" sz="1200" b="1" dirty="0">
                <a:solidFill>
                  <a:srgbClr val="DB716C"/>
                </a:solidFill>
                <a:latin typeface="Proxima Nova Bold"/>
              </a:rPr>
              <a:t>2,400+</a:t>
            </a:r>
            <a:endParaRPr lang="en-US" sz="2800" dirty="0"/>
          </a:p>
        </p:txBody>
      </p:sp>
      <p:sp>
        <p:nvSpPr>
          <p:cNvPr id="8" name="Text 6"/>
          <p:cNvSpPr/>
          <p:nvPr/>
        </p:nvSpPr>
        <p:spPr>
          <a:xfrm>
            <a:off x="521208" y="1426464"/>
            <a:ext cx="3108960" cy="274320"/>
          </a:xfrm>
          <a:prstGeom prst="rect">
            <a:avLst/>
          </a:prstGeom>
          <a:noFill/>
          <a:ln/>
        </p:spPr>
        <p:txBody>
          <a:bodyPr wrap="square" lIns="0" tIns="0" rIns="0" bIns="0" rtlCol="0" anchor="ctr"/>
          <a:lstStyle/>
          <a:p>
            <a:pPr marL="0" indent="0">
              <a:buNone/>
            </a:pPr>
            <a:r>
              <a:rPr lang="en-US" sz="1400" dirty="0">
                <a:solidFill>
                  <a:srgbClr val="474747"/>
                </a:solidFill>
                <a:latin typeface="Proxima Nova"/>
              </a:rPr>
              <a:t>Stores</a:t>
            </a:r>
            <a:endParaRPr lang="en-US" sz="1100" dirty="0"/>
          </a:p>
        </p:txBody>
      </p:sp>
      <p:sp>
        <p:nvSpPr>
          <p:cNvPr id="9" name="Shape 7"/>
          <p:cNvSpPr/>
          <p:nvPr/>
        </p:nvSpPr>
        <p:spPr>
          <a:xfrm>
            <a:off x="320040" y="2185416"/>
            <a:ext cx="3474720" cy="777240"/>
          </a:xfrm>
          <a:prstGeom prst="rect">
            <a:avLst/>
          </a:prstGeom>
          <a:solidFill>
            <a:srgbClr val="E3E8EE"/>
          </a:solidFill>
          <a:ln/>
          <a:effectLst>
            <a:outerShdw blurRad="76200" dist="12700" dir="8100000" algn="bl" rotWithShape="0">
              <a:srgbClr val="000000">
                <a:alpha val="8000"/>
              </a:srgbClr>
            </a:outerShdw>
          </a:effectLst>
        </p:spPr>
        <p:txBody>
          <a:bodyPr/>
          <a:lstStyle/>
          <a:p>
            <a:endParaRPr lang="en-US"/>
          </a:p>
        </p:txBody>
      </p:sp>
      <p:sp>
        <p:nvSpPr>
          <p:cNvPr id="10" name="Shape 8"/>
          <p:cNvSpPr/>
          <p:nvPr/>
        </p:nvSpPr>
        <p:spPr>
          <a:xfrm>
            <a:off x="320040" y="2185419"/>
            <a:ext cx="64008" cy="777240"/>
          </a:xfrm>
          <a:prstGeom prst="rect">
            <a:avLst/>
          </a:prstGeom>
          <a:solidFill>
            <a:srgbClr val="DB716C"/>
          </a:solidFill>
          <a:ln w="12700">
            <a:solidFill>
              <a:schemeClr val="accent3"/>
            </a:solidFill>
            <a:prstDash val="solid"/>
          </a:ln>
        </p:spPr>
        <p:txBody>
          <a:bodyPr/>
          <a:lstStyle/>
          <a:p>
            <a:endParaRPr lang="en-US"/>
          </a:p>
        </p:txBody>
      </p:sp>
      <p:sp>
        <p:nvSpPr>
          <p:cNvPr id="11" name="Text 9"/>
          <p:cNvSpPr/>
          <p:nvPr/>
        </p:nvSpPr>
        <p:spPr>
          <a:xfrm>
            <a:off x="521208" y="2231139"/>
            <a:ext cx="1371600" cy="365760"/>
          </a:xfrm>
          <a:prstGeom prst="rect">
            <a:avLst/>
          </a:prstGeom>
          <a:noFill/>
          <a:ln/>
        </p:spPr>
        <p:txBody>
          <a:bodyPr wrap="square" lIns="0" tIns="0" rIns="0" bIns="0" rtlCol="0" anchor="ctr"/>
          <a:lstStyle/>
          <a:p>
            <a:pPr marL="0" indent="0">
              <a:buNone/>
            </a:pPr>
            <a:r>
              <a:rPr lang="en-US" sz="1200" b="1" dirty="0">
                <a:solidFill>
                  <a:srgbClr val="DB716C"/>
                </a:solidFill>
                <a:latin typeface="Proxima Nova Bold"/>
              </a:rPr>
              <a:t>8,000+</a:t>
            </a:r>
            <a:endParaRPr lang="en-US" sz="2800" dirty="0"/>
          </a:p>
        </p:txBody>
      </p:sp>
      <p:sp>
        <p:nvSpPr>
          <p:cNvPr id="12" name="Text 10"/>
          <p:cNvSpPr/>
          <p:nvPr/>
        </p:nvSpPr>
        <p:spPr>
          <a:xfrm>
            <a:off x="521208" y="2587755"/>
            <a:ext cx="3108960" cy="274320"/>
          </a:xfrm>
          <a:prstGeom prst="rect">
            <a:avLst/>
          </a:prstGeom>
          <a:noFill/>
          <a:ln/>
        </p:spPr>
        <p:txBody>
          <a:bodyPr wrap="square" lIns="0" tIns="0" rIns="0" bIns="0" rtlCol="0" anchor="ctr"/>
          <a:lstStyle/>
          <a:p>
            <a:pPr marL="0" indent="0">
              <a:buNone/>
            </a:pPr>
            <a:r>
              <a:rPr lang="en-US" sz="1400" dirty="0">
                <a:solidFill>
                  <a:srgbClr val="474747"/>
                </a:solidFill>
                <a:latin typeface="Proxima Nova"/>
              </a:rPr>
              <a:t>SKUs</a:t>
            </a:r>
            <a:endParaRPr lang="en-US" sz="1100" dirty="0"/>
          </a:p>
        </p:txBody>
      </p:sp>
      <p:sp>
        <p:nvSpPr>
          <p:cNvPr id="13" name="Shape 11"/>
          <p:cNvSpPr/>
          <p:nvPr/>
        </p:nvSpPr>
        <p:spPr>
          <a:xfrm>
            <a:off x="320040" y="3342132"/>
            <a:ext cx="3474720" cy="777240"/>
          </a:xfrm>
          <a:prstGeom prst="rect">
            <a:avLst/>
          </a:prstGeom>
          <a:solidFill>
            <a:srgbClr val="E3E8EE"/>
          </a:solidFill>
          <a:ln/>
          <a:effectLst>
            <a:outerShdw blurRad="76200" dist="12700" dir="8100000" algn="bl" rotWithShape="0">
              <a:srgbClr val="000000">
                <a:alpha val="8000"/>
              </a:srgbClr>
            </a:outerShdw>
          </a:effectLst>
        </p:spPr>
        <p:txBody>
          <a:bodyPr/>
          <a:lstStyle/>
          <a:p>
            <a:endParaRPr lang="en-US"/>
          </a:p>
        </p:txBody>
      </p:sp>
      <p:sp>
        <p:nvSpPr>
          <p:cNvPr id="14" name="Shape 12"/>
          <p:cNvSpPr/>
          <p:nvPr/>
        </p:nvSpPr>
        <p:spPr>
          <a:xfrm>
            <a:off x="320040" y="3342132"/>
            <a:ext cx="64008" cy="777240"/>
          </a:xfrm>
          <a:prstGeom prst="rect">
            <a:avLst/>
          </a:prstGeom>
          <a:solidFill>
            <a:srgbClr val="DB716C"/>
          </a:solidFill>
          <a:ln w="12700">
            <a:solidFill>
              <a:schemeClr val="accent3"/>
            </a:solidFill>
            <a:prstDash val="solid"/>
          </a:ln>
        </p:spPr>
        <p:txBody>
          <a:bodyPr/>
          <a:lstStyle/>
          <a:p>
            <a:endParaRPr lang="en-US"/>
          </a:p>
        </p:txBody>
      </p:sp>
      <p:sp>
        <p:nvSpPr>
          <p:cNvPr id="15" name="Text 13"/>
          <p:cNvSpPr/>
          <p:nvPr/>
        </p:nvSpPr>
        <p:spPr>
          <a:xfrm>
            <a:off x="521208" y="3387852"/>
            <a:ext cx="1371600" cy="365760"/>
          </a:xfrm>
          <a:prstGeom prst="rect">
            <a:avLst/>
          </a:prstGeom>
          <a:noFill/>
          <a:ln/>
        </p:spPr>
        <p:txBody>
          <a:bodyPr wrap="square" lIns="0" tIns="0" rIns="0" bIns="0" rtlCol="0" anchor="ctr"/>
          <a:lstStyle/>
          <a:p>
            <a:pPr marL="0" indent="0">
              <a:buNone/>
            </a:pPr>
            <a:r>
              <a:rPr lang="en-US" sz="1200" b="1" dirty="0">
                <a:solidFill>
                  <a:srgbClr val="DB716C"/>
                </a:solidFill>
                <a:latin typeface="Proxima Nova Bold"/>
              </a:rPr>
              <a:t>Revenue per Sq Ft</a:t>
            </a:r>
            <a:endParaRPr lang="en-US" sz="2800" dirty="0"/>
          </a:p>
        </p:txBody>
      </p:sp>
      <p:sp>
        <p:nvSpPr>
          <p:cNvPr id="16" name="Text 14"/>
          <p:cNvSpPr/>
          <p:nvPr/>
        </p:nvSpPr>
        <p:spPr>
          <a:xfrm>
            <a:off x="521208" y="3744468"/>
            <a:ext cx="3108960" cy="274320"/>
          </a:xfrm>
          <a:prstGeom prst="rect">
            <a:avLst/>
          </a:prstGeom>
          <a:noFill/>
          <a:ln/>
        </p:spPr>
        <p:txBody>
          <a:bodyPr wrap="square" lIns="0" tIns="0" rIns="0" bIns="0" rtlCol="0" anchor="ctr"/>
          <a:lstStyle/>
          <a:p>
            <a:pPr marL="0" indent="0">
              <a:buNone/>
            </a:pPr>
            <a:r>
              <a:rPr lang="en-US" sz="1400" dirty="0">
                <a:solidFill>
                  <a:srgbClr val="474747"/>
                </a:solidFill>
                <a:latin typeface="Proxima Nova"/>
              </a:rPr>
              <a:t>by store / by SKU — in D365 today</a:t>
            </a:r>
            <a:endParaRPr lang="en-US" sz="1100" dirty="0"/>
          </a:p>
        </p:txBody>
      </p:sp>
      <p:sp>
        <p:nvSpPr>
          <p:cNvPr id="17" name="Shape 15"/>
          <p:cNvSpPr/>
          <p:nvPr/>
        </p:nvSpPr>
        <p:spPr>
          <a:xfrm>
            <a:off x="4160520" y="1005840"/>
            <a:ext cx="4663440" cy="3611880"/>
          </a:xfrm>
          <a:prstGeom prst="rect">
            <a:avLst/>
          </a:prstGeom>
          <a:solidFill>
            <a:srgbClr val="E3E8EE"/>
          </a:solidFill>
          <a:ln/>
          <a:effectLst>
            <a:outerShdw blurRad="127000" dist="38100" dir="8100000" algn="bl" rotWithShape="0">
              <a:srgbClr val="000000">
                <a:alpha val="18000"/>
              </a:srgbClr>
            </a:outerShdw>
          </a:effectLst>
        </p:spPr>
        <p:txBody>
          <a:bodyPr/>
          <a:lstStyle/>
          <a:p>
            <a:endParaRPr lang="en-US"/>
          </a:p>
        </p:txBody>
      </p:sp>
      <p:sp>
        <p:nvSpPr>
          <p:cNvPr id="18" name="Text 16"/>
          <p:cNvSpPr/>
          <p:nvPr/>
        </p:nvSpPr>
        <p:spPr>
          <a:xfrm>
            <a:off x="4434840" y="1234440"/>
            <a:ext cx="4114800" cy="457200"/>
          </a:xfrm>
          <a:prstGeom prst="rect">
            <a:avLst/>
          </a:prstGeom>
          <a:noFill/>
          <a:ln/>
        </p:spPr>
        <p:txBody>
          <a:bodyPr wrap="square" rtlCol="0" anchor="ctr"/>
          <a:lstStyle/>
          <a:p>
            <a:pPr marL="0" indent="0">
              <a:buNone/>
            </a:pPr>
            <a:r>
              <a:rPr lang="en-US" sz="1600" b="1" dirty="0">
                <a:solidFill>
                  <a:srgbClr val="3C475C"/>
                </a:solidFill>
                <a:latin typeface="Proxima Nova Bold" pitchFamily="34" charset="0"/>
                <a:ea typeface="Calibri" pitchFamily="34" charset="-122"/>
                <a:cs typeface="Calibri" pitchFamily="34" charset="-120"/>
              </a:rPr>
              <a:t>The gap isn't the data.</a:t>
            </a:r>
            <a:endParaRPr lang="en-US" sz="1800" dirty="0"/>
          </a:p>
        </p:txBody>
      </p:sp>
      <p:sp>
        <p:nvSpPr>
          <p:cNvPr id="19" name="Text 17"/>
          <p:cNvSpPr/>
          <p:nvPr/>
        </p:nvSpPr>
        <p:spPr>
          <a:xfrm>
            <a:off x="4434840" y="1755648"/>
            <a:ext cx="4114800" cy="2560320"/>
          </a:xfrm>
          <a:prstGeom prst="rect">
            <a:avLst/>
          </a:prstGeom>
          <a:noFill/>
          <a:ln/>
        </p:spPr>
        <p:txBody>
          <a:bodyPr wrap="square" rtlCol="0" anchor="t"/>
          <a:lstStyle/>
          <a:p>
            <a:pPr marL="0" indent="0">
              <a:lnSpc>
                <a:spcPct val="145000"/>
              </a:lnSpc>
              <a:buNone/>
            </a:pPr>
            <a:r>
              <a:rPr lang="en-US" sz="1400" dirty="0">
                <a:solidFill>
                  <a:srgbClr val="474747"/>
                </a:solidFill>
                <a:latin typeface="Proxima Nova"/>
              </a:rPr>
              <a:t>Mattress Firm has rich, granular transaction data in D365 — revenue by SKU, by store, by Sleep Expert. The raw material for intelligent decisions is already there.</a:t>
            </a:r>
            <a:endParaRPr lang="en-US" sz="1100" dirty="0"/>
          </a:p>
          <a:p>
            <a:pPr marL="0" indent="0">
              <a:lnSpc>
                <a:spcPct val="145000"/>
              </a:lnSpc>
              <a:buNone/>
            </a:pPr>
            <a:endParaRPr lang="en-US" sz="1100" dirty="0"/>
          </a:p>
          <a:p>
            <a:pPr marL="0" indent="0">
              <a:lnSpc>
                <a:spcPct val="145000"/>
              </a:lnSpc>
              <a:buNone/>
            </a:pPr>
            <a:r>
              <a:rPr lang="en-US" sz="1400" dirty="0">
                <a:solidFill>
                  <a:srgbClr val="474747"/>
                </a:solidFill>
                <a:latin typeface="Proxima Nova"/>
              </a:rPr>
              <a:t>But the processes sitting on top of it are manual, fragmented, and backward-looking. By the time the picture is complete, the moment to act has passed.</a:t>
            </a:r>
            <a:endParaRPr lang="en-US" sz="1100" dirty="0"/>
          </a:p>
          <a:p>
            <a:pPr marL="0" indent="0">
              <a:lnSpc>
                <a:spcPct val="145000"/>
              </a:lnSpc>
              <a:buNone/>
            </a:pPr>
            <a:endParaRPr lang="en-US" sz="1100" dirty="0"/>
          </a:p>
          <a:p>
            <a:pPr marL="0" indent="0">
              <a:lnSpc>
                <a:spcPct val="145000"/>
              </a:lnSpc>
              <a:buNone/>
            </a:pPr>
            <a:r>
              <a:rPr lang="en-US" sz="1400" dirty="0">
                <a:solidFill>
                  <a:srgbClr val="474747"/>
                </a:solidFill>
                <a:latin typeface="Proxima Nova"/>
              </a:rPr>
              <a:t>The question isn't what data you have. It's whether your tools can turn it into action in time to matter.</a:t>
            </a:r>
            <a:endParaRPr lang="en-US" sz="1100" dirty="0"/>
          </a:p>
        </p:txBody>
      </p:sp>
      <p:sp>
        <p:nvSpPr>
          <p:cNvPr id="20" name="Shape 18"/>
          <p:cNvSpPr/>
          <p:nvPr/>
        </p:nvSpPr>
        <p:spPr>
          <a:xfrm>
            <a:off x="0" y="4892040"/>
            <a:ext cx="9144000" cy="251460"/>
          </a:xfrm>
          <a:prstGeom prst="rect">
            <a:avLst/>
          </a:prstGeom>
          <a:solidFill>
            <a:srgbClr val="3C475C"/>
          </a:solidFill>
          <a:ln w="12700">
            <a:solidFill>
              <a:srgbClr val="0F2B5B"/>
            </a:solidFill>
            <a:prstDash val="solid"/>
          </a:ln>
        </p:spPr>
        <p:txBody>
          <a:bodyPr/>
          <a:lstStyle/>
          <a:p>
            <a:endParaRPr lang="en-US"/>
          </a:p>
        </p:txBody>
      </p:sp>
      <p:sp>
        <p:nvSpPr>
          <p:cNvPr id="21" name="Text 19"/>
          <p:cNvSpPr/>
          <p:nvPr/>
        </p:nvSpPr>
        <p:spPr>
          <a:xfrm>
            <a:off x="0" y="4914900"/>
            <a:ext cx="9144000" cy="203200"/>
          </a:xfrm>
          <a:prstGeom prst="rect">
            <a:avLst/>
          </a:prstGeom>
          <a:noFill/>
          <a:ln/>
        </p:spPr>
        <p:txBody>
          <a:bodyPr wrap="square" lIns="0" tIns="0" rIns="0" bIns="0" rtlCol="0" anchor="ctr"/>
          <a:lstStyle/>
          <a:p>
            <a:pPr algn="ctr">
              <a:buNone/>
            </a:pPr>
            <a:r>
              <a:rPr lang="en-US" sz="1000" dirty="0">
                <a:solidFill>
                  <a:srgbClr val="B9C5D3"/>
                </a:solidFill>
                <a:latin typeface="Proxima Nova"/>
              </a:rPr>
              <a:t>Confidential and Proprietary - The Blue Horizons Group LLC</a:t>
            </a:r>
          </a:p>
        </p:txBody>
      </p:sp>
      <p:sp>
        <p:nvSpPr>
          <p:cNvPr id="22" name="Text 20"/>
          <p:cNvSpPr/>
          <p:nvPr/>
        </p:nvSpPr>
        <p:spPr>
          <a:xfrm>
            <a:off x="6400800" y="4901184"/>
            <a:ext cx="2423160" cy="201168"/>
          </a:xfrm>
          <a:prstGeom prst="rect">
            <a:avLst/>
          </a:prstGeom>
          <a:noFill/>
          <a:ln/>
        </p:spPr>
        <p:txBody>
          <a:bodyPr wrap="square" lIns="0" tIns="0" rIns="0" bIns="0" rtlCol="0" anchor="ctr"/>
          <a:lstStyle/>
          <a:p>
            <a:pPr marL="0" indent="0" algn="r">
              <a:buNone/>
            </a:pPr>
            <a:r>
              <a:rPr lang="en-US" sz="1000">
                <a:solidFill>
                  <a:srgbClr val="B9C5D3"/>
                </a:solidFill>
                <a:latin typeface="Proxima Nova"/>
              </a:rPr>
              <a:t>March 16, 2026</a:t>
            </a:r>
            <a:endParaRPr lang="en-US" sz="1000" dirty="0">
              <a:solidFill>
                <a:srgbClr val="B9C5D3"/>
              </a:solidFill>
              <a:latin typeface="Proxima Nova"/>
            </a:endParaRPr>
          </a:p>
        </p:txBody>
      </p:sp>
    </p:spTree>
    <p:extLst>
      <p:ext uri="{BB962C8B-B14F-4D97-AF65-F5344CB8AC3E}">
        <p14:creationId xmlns:p14="http://schemas.microsoft.com/office/powerpoint/2010/main" val="1389446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B716C"/>
          </a:solidFill>
          <a:ln w="12700">
            <a:solidFill>
              <a:schemeClr val="accent3"/>
            </a:solidFill>
            <a:prstDash val="solid"/>
          </a:ln>
        </p:spPr>
        <p:txBody>
          <a:bodyPr/>
          <a:lstStyle/>
          <a:p>
            <a:endParaRPr lang="en-US"/>
          </a:p>
        </p:txBody>
      </p:sp>
      <p:sp>
        <p:nvSpPr>
          <p:cNvPr id="3" name="Shape 1"/>
          <p:cNvSpPr/>
          <p:nvPr/>
        </p:nvSpPr>
        <p:spPr>
          <a:xfrm>
            <a:off x="0" y="73152"/>
            <a:ext cx="9144000" cy="749808"/>
          </a:xfrm>
          <a:prstGeom prst="rect">
            <a:avLst/>
          </a:prstGeom>
          <a:solidFill>
            <a:srgbClr val="3C475C"/>
          </a:solidFill>
          <a:ln w="12700">
            <a:solidFill>
              <a:srgbClr val="0F2B5B"/>
            </a:solidFill>
            <a:prstDash val="solid"/>
          </a:ln>
        </p:spPr>
        <p:txBody>
          <a:bodyPr/>
          <a:lstStyle/>
          <a:p>
            <a:endParaRPr lang="en-US"/>
          </a:p>
        </p:txBody>
      </p:sp>
      <p:sp>
        <p:nvSpPr>
          <p:cNvPr id="4" name="Text 2"/>
          <p:cNvSpPr/>
          <p:nvPr/>
        </p:nvSpPr>
        <p:spPr>
          <a:xfrm>
            <a:off x="365760" y="-19720"/>
            <a:ext cx="8229600" cy="749808"/>
          </a:xfrm>
          <a:prstGeom prst="rect">
            <a:avLst/>
          </a:prstGeom>
          <a:noFill/>
          <a:ln/>
        </p:spPr>
        <p:txBody>
          <a:bodyPr wrap="square" lIns="0" tIns="0" rIns="0" bIns="0" rtlCol="0" anchor="ctr"/>
          <a:lstStyle/>
          <a:p>
            <a:pPr marL="0" indent="0">
              <a:buNone/>
            </a:pPr>
            <a:r>
              <a:rPr lang="en-US" sz="2600" b="1" dirty="0">
                <a:solidFill>
                  <a:srgbClr val="FFFFFF"/>
                </a:solidFill>
                <a:latin typeface="Proxima Nova Bold" pitchFamily="34" charset="0"/>
                <a:ea typeface="Calibri" pitchFamily="34" charset="-122"/>
                <a:cs typeface="Calibri" pitchFamily="34" charset="-120"/>
              </a:rPr>
              <a:t>The Options You've Already Tried</a:t>
            </a:r>
            <a:endParaRPr lang="en-US" sz="2600" dirty="0"/>
          </a:p>
        </p:txBody>
      </p:sp>
      <p:sp>
        <p:nvSpPr>
          <p:cNvPr id="5" name="Text 3"/>
          <p:cNvSpPr/>
          <p:nvPr/>
        </p:nvSpPr>
        <p:spPr>
          <a:xfrm>
            <a:off x="365760" y="-19719"/>
            <a:ext cx="8412480" cy="749808"/>
          </a:xfrm>
          <a:prstGeom prst="rect">
            <a:avLst/>
          </a:prstGeom>
          <a:noFill/>
          <a:ln/>
        </p:spPr>
        <p:txBody>
          <a:bodyPr wrap="square" lIns="0" tIns="0" rIns="0" bIns="0" rtlCol="0" anchor="b"/>
          <a:lstStyle/>
          <a:p>
            <a:pPr marL="0" indent="0">
              <a:buNone/>
            </a:pPr>
            <a:r>
              <a:rPr lang="en-US" sz="1300" i="1" dirty="0">
                <a:solidFill>
                  <a:schemeClr val="accent1">
                    <a:lumMod val="90000"/>
                  </a:schemeClr>
                </a:solidFill>
                <a:latin typeface="Proxima Nova"/>
              </a:rPr>
              <a:t>More software isn't the answer. Neither is starting from scratch.</a:t>
            </a:r>
            <a:endParaRPr lang="en-US" sz="1300" dirty="0">
              <a:solidFill>
                <a:schemeClr val="accent1">
                  <a:lumMod val="90000"/>
                </a:schemeClr>
              </a:solidFill>
            </a:endParaRPr>
          </a:p>
        </p:txBody>
      </p:sp>
      <p:sp>
        <p:nvSpPr>
          <p:cNvPr id="6" name="Shape 4"/>
          <p:cNvSpPr/>
          <p:nvPr/>
        </p:nvSpPr>
        <p:spPr>
          <a:xfrm>
            <a:off x="274320" y="960120"/>
            <a:ext cx="4206240" cy="3566160"/>
          </a:xfrm>
          <a:prstGeom prst="rect">
            <a:avLst/>
          </a:prstGeom>
          <a:solidFill>
            <a:srgbClr val="E3E8EE"/>
          </a:solidFill>
          <a:ln/>
          <a:effectLst>
            <a:outerShdw blurRad="101600" dist="25400" dir="8100000" algn="bl" rotWithShape="0">
              <a:srgbClr val="000000">
                <a:alpha val="10000"/>
              </a:srgbClr>
            </a:outerShdw>
          </a:effectLst>
        </p:spPr>
        <p:txBody>
          <a:bodyPr/>
          <a:lstStyle/>
          <a:p>
            <a:endParaRPr lang="en-US"/>
          </a:p>
        </p:txBody>
      </p:sp>
      <p:sp>
        <p:nvSpPr>
          <p:cNvPr id="7" name="Shape 5"/>
          <p:cNvSpPr/>
          <p:nvPr/>
        </p:nvSpPr>
        <p:spPr>
          <a:xfrm>
            <a:off x="411480" y="1078992"/>
            <a:ext cx="749808" cy="274320"/>
          </a:xfrm>
          <a:prstGeom prst="rect">
            <a:avLst/>
          </a:prstGeom>
          <a:solidFill>
            <a:srgbClr val="3C475C"/>
          </a:solidFill>
          <a:ln w="12700">
            <a:solidFill>
              <a:srgbClr val="475569"/>
            </a:solidFill>
            <a:prstDash val="solid"/>
          </a:ln>
        </p:spPr>
        <p:txBody>
          <a:bodyPr/>
          <a:lstStyle/>
          <a:p>
            <a:endParaRPr lang="en-US"/>
          </a:p>
        </p:txBody>
      </p:sp>
      <p:sp>
        <p:nvSpPr>
          <p:cNvPr id="8" name="Text 6"/>
          <p:cNvSpPr/>
          <p:nvPr/>
        </p:nvSpPr>
        <p:spPr>
          <a:xfrm>
            <a:off x="411480" y="1078992"/>
            <a:ext cx="749808"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Proxima Nova Bold"/>
              </a:rPr>
              <a:t>Option A</a:t>
            </a:r>
            <a:endParaRPr lang="en-US" sz="900" dirty="0"/>
          </a:p>
        </p:txBody>
      </p:sp>
      <p:sp>
        <p:nvSpPr>
          <p:cNvPr id="9" name="Text 7"/>
          <p:cNvSpPr/>
          <p:nvPr/>
        </p:nvSpPr>
        <p:spPr>
          <a:xfrm>
            <a:off x="438912" y="1408176"/>
            <a:ext cx="3886200" cy="438912"/>
          </a:xfrm>
          <a:prstGeom prst="rect">
            <a:avLst/>
          </a:prstGeom>
          <a:noFill/>
          <a:ln/>
        </p:spPr>
        <p:txBody>
          <a:bodyPr wrap="square" rtlCol="0" anchor="ctr"/>
          <a:lstStyle/>
          <a:p>
            <a:pPr marL="0" indent="0">
              <a:buNone/>
            </a:pPr>
            <a:r>
              <a:rPr lang="en-US" sz="1600" b="1" dirty="0">
                <a:solidFill>
                  <a:srgbClr val="3C475C"/>
                </a:solidFill>
                <a:latin typeface="Proxima Nova Bold" pitchFamily="34" charset="0"/>
                <a:ea typeface="Calibri" pitchFamily="34" charset="-122"/>
                <a:cs typeface="Calibri" pitchFamily="34" charset="-120"/>
              </a:rPr>
              <a:t>Enterprise SaaS Point Solutions</a:t>
            </a:r>
            <a:endParaRPr lang="en-US" sz="1400" dirty="0"/>
          </a:p>
        </p:txBody>
      </p:sp>
      <p:sp>
        <p:nvSpPr>
          <p:cNvPr id="10" name="Text 8"/>
          <p:cNvSpPr/>
          <p:nvPr/>
        </p:nvSpPr>
        <p:spPr>
          <a:xfrm>
            <a:off x="438912" y="1791648"/>
            <a:ext cx="3886200" cy="1828800"/>
          </a:xfrm>
          <a:prstGeom prst="rect">
            <a:avLst/>
          </a:prstGeom>
          <a:noFill/>
          <a:ln/>
        </p:spPr>
        <p:txBody>
          <a:bodyPr wrap="square" rtlCol="0" anchor="t"/>
          <a:lstStyle/>
          <a:p>
            <a:pPr marL="342900" indent="-342900">
              <a:lnSpc>
                <a:spcPct val="135000"/>
              </a:lnSpc>
              <a:buSzPct val="100000"/>
              <a:buChar char="•"/>
            </a:pPr>
            <a:r>
              <a:rPr lang="en-US" sz="1350" dirty="0">
                <a:solidFill>
                  <a:srgbClr val="474747"/>
                </a:solidFill>
                <a:latin typeface="Proxima Nova"/>
              </a:rPr>
              <a:t>Force your data model into theirs</a:t>
            </a:r>
            <a:endParaRPr lang="en-US" sz="1350" dirty="0"/>
          </a:p>
          <a:p>
            <a:pPr marL="342900" indent="-342900">
              <a:lnSpc>
                <a:spcPct val="135000"/>
              </a:lnSpc>
              <a:buSzPct val="100000"/>
              <a:buChar char="•"/>
            </a:pPr>
            <a:r>
              <a:rPr lang="en-US" sz="1350" dirty="0">
                <a:solidFill>
                  <a:srgbClr val="474747"/>
                </a:solidFill>
                <a:latin typeface="Proxima Nova"/>
              </a:rPr>
              <a:t>Six-to-twelve month implementation timelines</a:t>
            </a:r>
            <a:endParaRPr lang="en-US" sz="1350" dirty="0"/>
          </a:p>
          <a:p>
            <a:pPr marL="342900" indent="-342900">
              <a:lnSpc>
                <a:spcPct val="135000"/>
              </a:lnSpc>
              <a:buSzPct val="100000"/>
              <a:buChar char="•"/>
            </a:pPr>
            <a:r>
              <a:rPr lang="en-US" sz="1350" dirty="0">
                <a:solidFill>
                  <a:srgbClr val="474747"/>
                </a:solidFill>
                <a:latin typeface="Proxima Nova"/>
              </a:rPr>
              <a:t>Significant upfront licensing and services cost</a:t>
            </a:r>
            <a:endParaRPr lang="en-US" sz="1350" dirty="0"/>
          </a:p>
          <a:p>
            <a:pPr marL="342900" indent="-342900">
              <a:lnSpc>
                <a:spcPct val="135000"/>
              </a:lnSpc>
              <a:buSzPct val="100000"/>
              <a:buChar char="•"/>
            </a:pPr>
            <a:r>
              <a:rPr lang="en-US" sz="1350" dirty="0">
                <a:solidFill>
                  <a:srgbClr val="474747"/>
                </a:solidFill>
                <a:latin typeface="Proxima Nova"/>
              </a:rPr>
              <a:t>Standardized for the average company — not yours</a:t>
            </a:r>
            <a:endParaRPr lang="en-US" sz="1350" dirty="0"/>
          </a:p>
          <a:p>
            <a:pPr marL="342900" indent="-342900">
              <a:lnSpc>
                <a:spcPct val="135000"/>
              </a:lnSpc>
              <a:buSzPct val="100000"/>
              <a:buChar char="•"/>
            </a:pPr>
            <a:r>
              <a:rPr lang="en-US" sz="1350" dirty="0">
                <a:solidFill>
                  <a:srgbClr val="474747"/>
                </a:solidFill>
                <a:latin typeface="Proxima Nova"/>
              </a:rPr>
              <a:t>Paused projects and deferred timelines are the norm</a:t>
            </a:r>
            <a:endParaRPr lang="en-US" sz="1350" dirty="0"/>
          </a:p>
        </p:txBody>
      </p:sp>
      <p:sp>
        <p:nvSpPr>
          <p:cNvPr id="11" name="Shape 9"/>
          <p:cNvSpPr/>
          <p:nvPr/>
        </p:nvSpPr>
        <p:spPr>
          <a:xfrm>
            <a:off x="438912" y="4373408"/>
            <a:ext cx="3886200" cy="384048"/>
          </a:xfrm>
          <a:prstGeom prst="rect">
            <a:avLst/>
          </a:prstGeom>
          <a:solidFill>
            <a:srgbClr val="DB716C"/>
          </a:solidFill>
          <a:ln w="12700">
            <a:solidFill>
              <a:schemeClr val="accent3"/>
            </a:solidFill>
            <a:prstDash val="solid"/>
          </a:ln>
        </p:spPr>
        <p:txBody>
          <a:bodyPr/>
          <a:lstStyle/>
          <a:p>
            <a:endParaRPr lang="en-US"/>
          </a:p>
        </p:txBody>
      </p:sp>
      <p:sp>
        <p:nvSpPr>
          <p:cNvPr id="12" name="Text 10"/>
          <p:cNvSpPr/>
          <p:nvPr/>
        </p:nvSpPr>
        <p:spPr>
          <a:xfrm>
            <a:off x="438912" y="4373408"/>
            <a:ext cx="388620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Proxima Nova Bold"/>
              </a:rPr>
              <a:t>Built for a different business</a:t>
            </a:r>
            <a:endParaRPr lang="en-US" sz="1100" dirty="0"/>
          </a:p>
        </p:txBody>
      </p:sp>
      <p:sp>
        <p:nvSpPr>
          <p:cNvPr id="13" name="Shape 11"/>
          <p:cNvSpPr/>
          <p:nvPr/>
        </p:nvSpPr>
        <p:spPr>
          <a:xfrm>
            <a:off x="4800600" y="960120"/>
            <a:ext cx="4206240" cy="3566160"/>
          </a:xfrm>
          <a:prstGeom prst="rect">
            <a:avLst/>
          </a:prstGeom>
          <a:solidFill>
            <a:srgbClr val="E3E8EE"/>
          </a:solidFill>
          <a:ln/>
          <a:effectLst>
            <a:outerShdw blurRad="101600" dist="25400" dir="8100000" algn="bl" rotWithShape="0">
              <a:srgbClr val="000000">
                <a:alpha val="10000"/>
              </a:srgbClr>
            </a:outerShdw>
          </a:effectLst>
        </p:spPr>
        <p:txBody>
          <a:bodyPr/>
          <a:lstStyle/>
          <a:p>
            <a:endParaRPr lang="en-US"/>
          </a:p>
        </p:txBody>
      </p:sp>
      <p:sp>
        <p:nvSpPr>
          <p:cNvPr id="14" name="Shape 12"/>
          <p:cNvSpPr/>
          <p:nvPr/>
        </p:nvSpPr>
        <p:spPr>
          <a:xfrm>
            <a:off x="4937760" y="1078992"/>
            <a:ext cx="749808" cy="274320"/>
          </a:xfrm>
          <a:prstGeom prst="rect">
            <a:avLst/>
          </a:prstGeom>
          <a:solidFill>
            <a:srgbClr val="3C475C"/>
          </a:solidFill>
          <a:ln w="12700">
            <a:solidFill>
              <a:srgbClr val="475569"/>
            </a:solidFill>
            <a:prstDash val="solid"/>
          </a:ln>
        </p:spPr>
        <p:txBody>
          <a:bodyPr/>
          <a:lstStyle/>
          <a:p>
            <a:endParaRPr lang="en-US"/>
          </a:p>
        </p:txBody>
      </p:sp>
      <p:sp>
        <p:nvSpPr>
          <p:cNvPr id="15" name="Text 13"/>
          <p:cNvSpPr/>
          <p:nvPr/>
        </p:nvSpPr>
        <p:spPr>
          <a:xfrm>
            <a:off x="4937760" y="1078992"/>
            <a:ext cx="749808"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Proxima Nova Bold"/>
              </a:rPr>
              <a:t>Option B</a:t>
            </a:r>
            <a:endParaRPr lang="en-US" sz="900" dirty="0"/>
          </a:p>
        </p:txBody>
      </p:sp>
      <p:sp>
        <p:nvSpPr>
          <p:cNvPr id="16" name="Text 14"/>
          <p:cNvSpPr/>
          <p:nvPr/>
        </p:nvSpPr>
        <p:spPr>
          <a:xfrm>
            <a:off x="4965192" y="1408176"/>
            <a:ext cx="3886200" cy="438912"/>
          </a:xfrm>
          <a:prstGeom prst="rect">
            <a:avLst/>
          </a:prstGeom>
          <a:noFill/>
          <a:ln/>
        </p:spPr>
        <p:txBody>
          <a:bodyPr wrap="square" rtlCol="0" anchor="ctr"/>
          <a:lstStyle/>
          <a:p>
            <a:pPr marL="0" indent="0">
              <a:buNone/>
            </a:pPr>
            <a:r>
              <a:rPr lang="en-US" sz="1600" b="1" dirty="0">
                <a:solidFill>
                  <a:srgbClr val="3C475C"/>
                </a:solidFill>
                <a:latin typeface="Proxima Nova Bold" pitchFamily="34" charset="0"/>
                <a:ea typeface="Calibri" pitchFamily="34" charset="-122"/>
                <a:cs typeface="Calibri" pitchFamily="34" charset="-120"/>
              </a:rPr>
              <a:t>Custom Development</a:t>
            </a:r>
            <a:endParaRPr lang="en-US" sz="1400" dirty="0"/>
          </a:p>
        </p:txBody>
      </p:sp>
      <p:sp>
        <p:nvSpPr>
          <p:cNvPr id="17" name="Text 15"/>
          <p:cNvSpPr/>
          <p:nvPr/>
        </p:nvSpPr>
        <p:spPr>
          <a:xfrm>
            <a:off x="4965192" y="1791648"/>
            <a:ext cx="3886200" cy="1828800"/>
          </a:xfrm>
          <a:prstGeom prst="rect">
            <a:avLst/>
          </a:prstGeom>
          <a:noFill/>
          <a:ln/>
        </p:spPr>
        <p:txBody>
          <a:bodyPr wrap="square" rtlCol="0" anchor="t"/>
          <a:lstStyle/>
          <a:p>
            <a:pPr marL="342900" indent="-342900">
              <a:lnSpc>
                <a:spcPct val="135000"/>
              </a:lnSpc>
              <a:buSzPct val="100000"/>
              <a:buChar char="•"/>
            </a:pPr>
            <a:r>
              <a:rPr lang="en-US" sz="1350" dirty="0">
                <a:solidFill>
                  <a:srgbClr val="474747"/>
                </a:solidFill>
                <a:latin typeface="Proxima Nova"/>
              </a:rPr>
              <a:t>Takes too long — your business moves faster</a:t>
            </a:r>
            <a:endParaRPr lang="en-US" sz="1350" dirty="0"/>
          </a:p>
          <a:p>
            <a:pPr marL="342900" indent="-342900">
              <a:lnSpc>
                <a:spcPct val="135000"/>
              </a:lnSpc>
              <a:buSzPct val="100000"/>
              <a:buChar char="•"/>
            </a:pPr>
            <a:r>
              <a:rPr lang="en-US" sz="1350" dirty="0">
                <a:solidFill>
                  <a:srgbClr val="474747"/>
                </a:solidFill>
                <a:latin typeface="Proxima Nova"/>
              </a:rPr>
              <a:t>Expensive to build, expensive to maintain</a:t>
            </a:r>
            <a:endParaRPr lang="en-US" sz="1350" dirty="0"/>
          </a:p>
          <a:p>
            <a:pPr marL="342900" indent="-342900">
              <a:lnSpc>
                <a:spcPct val="135000"/>
              </a:lnSpc>
              <a:buSzPct val="100000"/>
              <a:buChar char="•"/>
            </a:pPr>
            <a:r>
              <a:rPr lang="en-US" sz="1350" dirty="0">
                <a:solidFill>
                  <a:srgbClr val="474747"/>
                </a:solidFill>
                <a:latin typeface="Proxima Nova"/>
              </a:rPr>
              <a:t>Brittle — change one thing, break another</a:t>
            </a:r>
            <a:endParaRPr lang="en-US" sz="1350" dirty="0"/>
          </a:p>
          <a:p>
            <a:pPr marL="342900" indent="-342900">
              <a:lnSpc>
                <a:spcPct val="135000"/>
              </a:lnSpc>
              <a:buSzPct val="100000"/>
              <a:buChar char="•"/>
            </a:pPr>
            <a:r>
              <a:rPr lang="en-US" sz="1350" dirty="0">
                <a:solidFill>
                  <a:srgbClr val="474747"/>
                </a:solidFill>
                <a:latin typeface="Proxima Nova"/>
              </a:rPr>
              <a:t>Requires ongoing technical resources you may not have</a:t>
            </a:r>
            <a:endParaRPr lang="en-US" sz="1350" dirty="0"/>
          </a:p>
          <a:p>
            <a:pPr marL="342900" indent="-342900">
              <a:lnSpc>
                <a:spcPct val="135000"/>
              </a:lnSpc>
              <a:buSzPct val="100000"/>
              <a:buChar char="•"/>
            </a:pPr>
            <a:r>
              <a:rPr lang="en-US" sz="1350" dirty="0">
                <a:solidFill>
                  <a:srgbClr val="474747"/>
                </a:solidFill>
                <a:latin typeface="Proxima Nova"/>
              </a:rPr>
              <a:t>By the time it's built, requirements have shifted</a:t>
            </a:r>
            <a:endParaRPr lang="en-US" sz="1350" dirty="0"/>
          </a:p>
        </p:txBody>
      </p:sp>
      <p:sp>
        <p:nvSpPr>
          <p:cNvPr id="18" name="Shape 16"/>
          <p:cNvSpPr/>
          <p:nvPr/>
        </p:nvSpPr>
        <p:spPr>
          <a:xfrm>
            <a:off x="4965192" y="4373408"/>
            <a:ext cx="3886200" cy="384048"/>
          </a:xfrm>
          <a:prstGeom prst="rect">
            <a:avLst/>
          </a:prstGeom>
          <a:solidFill>
            <a:srgbClr val="DB716C"/>
          </a:solidFill>
          <a:ln w="12700">
            <a:solidFill>
              <a:schemeClr val="accent3"/>
            </a:solidFill>
            <a:prstDash val="solid"/>
          </a:ln>
        </p:spPr>
        <p:txBody>
          <a:bodyPr/>
          <a:lstStyle/>
          <a:p>
            <a:endParaRPr lang="en-US"/>
          </a:p>
        </p:txBody>
      </p:sp>
      <p:sp>
        <p:nvSpPr>
          <p:cNvPr id="19" name="Text 17"/>
          <p:cNvSpPr/>
          <p:nvPr/>
        </p:nvSpPr>
        <p:spPr>
          <a:xfrm>
            <a:off x="4965192" y="4373408"/>
            <a:ext cx="388620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Proxima Nova Bold"/>
              </a:rPr>
              <a:t>Too slow for where you are now</a:t>
            </a:r>
            <a:endParaRPr lang="en-US" sz="1100" dirty="0"/>
          </a:p>
        </p:txBody>
      </p:sp>
      <p:sp>
        <p:nvSpPr>
          <p:cNvPr id="20" name="Shape 18"/>
          <p:cNvSpPr/>
          <p:nvPr/>
        </p:nvSpPr>
        <p:spPr>
          <a:xfrm>
            <a:off x="0" y="4892040"/>
            <a:ext cx="9144000" cy="251460"/>
          </a:xfrm>
          <a:prstGeom prst="rect">
            <a:avLst/>
          </a:prstGeom>
          <a:solidFill>
            <a:srgbClr val="3C475C"/>
          </a:solidFill>
          <a:ln w="12700">
            <a:solidFill>
              <a:srgbClr val="0F2B5B"/>
            </a:solidFill>
            <a:prstDash val="solid"/>
          </a:ln>
        </p:spPr>
        <p:txBody>
          <a:bodyPr/>
          <a:lstStyle/>
          <a:p>
            <a:endParaRPr lang="en-US"/>
          </a:p>
        </p:txBody>
      </p:sp>
      <p:sp>
        <p:nvSpPr>
          <p:cNvPr id="21" name="Text 19"/>
          <p:cNvSpPr/>
          <p:nvPr/>
        </p:nvSpPr>
        <p:spPr>
          <a:xfrm>
            <a:off x="0" y="4914900"/>
            <a:ext cx="9144000" cy="203200"/>
          </a:xfrm>
          <a:prstGeom prst="rect">
            <a:avLst/>
          </a:prstGeom>
          <a:noFill/>
          <a:ln/>
        </p:spPr>
        <p:txBody>
          <a:bodyPr wrap="square" lIns="0" tIns="0" rIns="0" bIns="0" rtlCol="0" anchor="ctr"/>
          <a:lstStyle/>
          <a:p>
            <a:pPr algn="ctr">
              <a:buNone/>
            </a:pPr>
            <a:r>
              <a:rPr lang="en-US" sz="1000" dirty="0">
                <a:solidFill>
                  <a:srgbClr val="B9C5D3"/>
                </a:solidFill>
                <a:latin typeface="Proxima Nova"/>
              </a:rPr>
              <a:t>Confidential and Proprietary - The Blue Horizons Group LLC</a:t>
            </a:r>
          </a:p>
        </p:txBody>
      </p:sp>
      <p:sp>
        <p:nvSpPr>
          <p:cNvPr id="22" name="Text 20"/>
          <p:cNvSpPr/>
          <p:nvPr/>
        </p:nvSpPr>
        <p:spPr>
          <a:xfrm>
            <a:off x="6400800" y="4901184"/>
            <a:ext cx="2423160" cy="201168"/>
          </a:xfrm>
          <a:prstGeom prst="rect">
            <a:avLst/>
          </a:prstGeom>
          <a:noFill/>
          <a:ln/>
        </p:spPr>
        <p:txBody>
          <a:bodyPr wrap="square" lIns="0" tIns="0" rIns="0" bIns="0" rtlCol="0" anchor="ctr"/>
          <a:lstStyle/>
          <a:p>
            <a:pPr marL="0" indent="0" algn="r">
              <a:buNone/>
            </a:pPr>
            <a:r>
              <a:rPr lang="en-US" sz="1000">
                <a:solidFill>
                  <a:srgbClr val="B9C5D3"/>
                </a:solidFill>
                <a:latin typeface="Proxima Nova"/>
              </a:rPr>
              <a:t>March 16, 2026</a:t>
            </a:r>
            <a:endParaRPr lang="en-US" sz="1000" dirty="0">
              <a:solidFill>
                <a:srgbClr val="B9C5D3"/>
              </a:solidFill>
              <a:latin typeface="Proxima Nova"/>
            </a:endParaRPr>
          </a:p>
        </p:txBody>
      </p:sp>
    </p:spTree>
    <p:extLst>
      <p:ext uri="{BB962C8B-B14F-4D97-AF65-F5344CB8AC3E}">
        <p14:creationId xmlns:p14="http://schemas.microsoft.com/office/powerpoint/2010/main" val="4097719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rgbClr val="3C475C"/>
          </a:solidFill>
          <a:ln w="12700">
            <a:solidFill>
              <a:srgbClr val="1A3D73"/>
            </a:solidFill>
            <a:prstDash val="solid"/>
          </a:ln>
        </p:spPr>
        <p:txBody>
          <a:bodyPr/>
          <a:lstStyle/>
          <a:p>
            <a:endParaRPr lang="en-US"/>
          </a:p>
        </p:txBody>
      </p:sp>
      <p:sp>
        <p:nvSpPr>
          <p:cNvPr id="3" name="Shape 1"/>
          <p:cNvSpPr/>
          <p:nvPr/>
        </p:nvSpPr>
        <p:spPr>
          <a:xfrm>
            <a:off x="5943600" y="0"/>
            <a:ext cx="3200400" cy="2743200"/>
          </a:xfrm>
          <a:prstGeom prst="rect">
            <a:avLst/>
          </a:prstGeom>
          <a:solidFill>
            <a:srgbClr val="718AA8"/>
          </a:solidFill>
          <a:ln w="12700">
            <a:solidFill>
              <a:srgbClr val="0D3570"/>
            </a:solidFill>
            <a:prstDash val="solid"/>
          </a:ln>
        </p:spPr>
        <p:txBody>
          <a:bodyPr/>
          <a:lstStyle/>
          <a:p>
            <a:endParaRPr lang="en-US"/>
          </a:p>
        </p:txBody>
      </p:sp>
      <p:sp>
        <p:nvSpPr>
          <p:cNvPr id="4" name="Shape 2"/>
          <p:cNvSpPr/>
          <p:nvPr/>
        </p:nvSpPr>
        <p:spPr>
          <a:xfrm>
            <a:off x="0" y="0"/>
            <a:ext cx="201168" cy="5143500"/>
          </a:xfrm>
          <a:prstGeom prst="rect">
            <a:avLst/>
          </a:prstGeom>
          <a:solidFill>
            <a:srgbClr val="DB716C"/>
          </a:solidFill>
          <a:ln w="12700">
            <a:solidFill>
              <a:schemeClr val="accent3"/>
            </a:solidFill>
            <a:prstDash val="solid"/>
          </a:ln>
        </p:spPr>
        <p:txBody>
          <a:bodyPr/>
          <a:lstStyle/>
          <a:p>
            <a:endParaRPr lang="en-US"/>
          </a:p>
        </p:txBody>
      </p:sp>
      <p:sp>
        <p:nvSpPr>
          <p:cNvPr id="5" name="Shape 3"/>
          <p:cNvSpPr/>
          <p:nvPr/>
        </p:nvSpPr>
        <p:spPr>
          <a:xfrm>
            <a:off x="502920" y="502920"/>
            <a:ext cx="2286000" cy="329184"/>
          </a:xfrm>
          <a:prstGeom prst="rect">
            <a:avLst/>
          </a:prstGeom>
          <a:noFill/>
          <a:ln w="12700">
            <a:noFill/>
            <a:prstDash val="solid"/>
          </a:ln>
        </p:spPr>
        <p:txBody>
          <a:bodyPr/>
          <a:lstStyle/>
          <a:p>
            <a:endParaRPr lang="en-US"/>
          </a:p>
        </p:txBody>
      </p:sp>
      <p:sp>
        <p:nvSpPr>
          <p:cNvPr id="6" name="Text 4"/>
          <p:cNvSpPr/>
          <p:nvPr/>
        </p:nvSpPr>
        <p:spPr>
          <a:xfrm>
            <a:off x="508000" y="508000"/>
            <a:ext cx="5118100" cy="279400"/>
          </a:xfrm>
          <a:prstGeom prst="rect">
            <a:avLst/>
          </a:prstGeom>
          <a:noFill/>
          <a:ln/>
        </p:spPr>
        <p:txBody>
          <a:bodyPr wrap="square" lIns="0" tIns="0" rIns="0" bIns="0" rtlCol="0" anchor="ctr"/>
          <a:lstStyle/>
          <a:p>
            <a:pPr marL="0" indent="0">
              <a:buNone/>
            </a:pPr>
            <a:r>
              <a:rPr lang="en-US" sz="1200" b="1" kern="0" spc="200" dirty="0">
                <a:solidFill>
                  <a:srgbClr val="DB716C"/>
                </a:solidFill>
                <a:latin typeface="Proxima Nova Bold"/>
              </a:rPr>
              <a:t>A THIRD OPTION</a:t>
            </a:r>
          </a:p>
        </p:txBody>
      </p:sp>
      <p:sp>
        <p:nvSpPr>
          <p:cNvPr id="7" name="Text 5"/>
          <p:cNvSpPr/>
          <p:nvPr/>
        </p:nvSpPr>
        <p:spPr>
          <a:xfrm>
            <a:off x="508000" y="863600"/>
            <a:ext cx="5118100" cy="1270000"/>
          </a:xfrm>
          <a:prstGeom prst="rect">
            <a:avLst/>
          </a:prstGeom>
          <a:noFill/>
          <a:ln/>
        </p:spPr>
        <p:txBody>
          <a:bodyPr wrap="square" rtlCol="0" anchor="ctr"/>
          <a:lstStyle/>
          <a:p>
            <a:pPr marL="0" indent="0">
              <a:buNone/>
            </a:pPr>
            <a:r>
              <a:rPr lang="en-US" sz="3400" b="1" dirty="0">
                <a:solidFill>
                  <a:srgbClr val="3C475C"/>
                </a:solidFill>
                <a:latin typeface="Proxima Nova Bold" pitchFamily="34" charset="0"/>
                <a:ea typeface="Calibri" pitchFamily="34" charset="-122"/>
                <a:cs typeface="Calibri" pitchFamily="34" charset="-120"/>
              </a:rPr>
              <a:t>Built for how Mattress Firm</a:t>
            </a:r>
            <a:endParaRPr lang="en-US" sz="3400" dirty="0"/>
          </a:p>
          <a:p>
            <a:pPr marL="0" indent="0">
              <a:buNone/>
            </a:pPr>
            <a:r>
              <a:rPr lang="en-US" sz="3400" b="1" dirty="0">
                <a:solidFill>
                  <a:srgbClr val="3C475C"/>
                </a:solidFill>
                <a:latin typeface="Proxima Nova Bold" pitchFamily="34" charset="0"/>
                <a:ea typeface="Calibri" pitchFamily="34" charset="-122"/>
                <a:cs typeface="Calibri" pitchFamily="34" charset="-120"/>
              </a:rPr>
              <a:t>actually works.</a:t>
            </a:r>
            <a:endParaRPr lang="en-US" sz="3400" dirty="0"/>
          </a:p>
        </p:txBody>
      </p:sp>
      <p:sp>
        <p:nvSpPr>
          <p:cNvPr id="8" name="Text 6"/>
          <p:cNvSpPr/>
          <p:nvPr/>
        </p:nvSpPr>
        <p:spPr>
          <a:xfrm>
            <a:off x="508000" y="2184400"/>
            <a:ext cx="5118100" cy="381000"/>
          </a:xfrm>
          <a:prstGeom prst="rect">
            <a:avLst/>
          </a:prstGeom>
          <a:noFill/>
          <a:ln/>
        </p:spPr>
        <p:txBody>
          <a:bodyPr wrap="square" rtlCol="0" anchor="ctr"/>
          <a:lstStyle/>
          <a:p>
            <a:pPr marL="0" indent="0">
              <a:buNone/>
            </a:pPr>
            <a:r>
              <a:rPr lang="en-US" sz="1800" dirty="0">
                <a:solidFill>
                  <a:srgbClr val="718AA8"/>
                </a:solidFill>
                <a:latin typeface="Proxima Nova"/>
              </a:rPr>
              <a:t>Delivered in weeks, not years.</a:t>
            </a:r>
            <a:endParaRPr lang="en-US" sz="1800" dirty="0"/>
          </a:p>
        </p:txBody>
      </p:sp>
      <p:sp>
        <p:nvSpPr>
          <p:cNvPr id="17" name="Text 11"/>
          <p:cNvSpPr/>
          <p:nvPr/>
        </p:nvSpPr>
        <p:spPr>
          <a:xfrm>
            <a:off x="6159500" y="1029970"/>
            <a:ext cx="2768600" cy="1498600"/>
          </a:xfrm>
          <a:prstGeom prst="rect">
            <a:avLst/>
          </a:prstGeom>
          <a:noFill/>
          <a:ln/>
        </p:spPr>
        <p:txBody>
          <a:bodyPr wrap="square" rtlCol="0" anchor="ctr"/>
          <a:lstStyle/>
          <a:p>
            <a:pPr algn="ctr">
              <a:lnSpc>
                <a:spcPts val="3000"/>
              </a:lnSpc>
              <a:buNone/>
            </a:pPr>
            <a:r>
              <a:rPr lang="en-US" sz="2800" b="1" dirty="0">
                <a:solidFill>
                  <a:srgbClr val="FFFFFF"/>
                </a:solidFill>
                <a:latin typeface="Proxima Nova Bold"/>
              </a:rPr>
              <a:t>CONNECT,</a:t>
            </a:r>
          </a:p>
          <a:p>
            <a:pPr algn="ctr">
              <a:lnSpc>
                <a:spcPts val="3000"/>
              </a:lnSpc>
              <a:buNone/>
            </a:pPr>
            <a:r>
              <a:rPr lang="en-US" sz="2800" b="1" dirty="0">
                <a:solidFill>
                  <a:srgbClr val="FFFFFF"/>
                </a:solidFill>
                <a:latin typeface="Proxima Nova Bold"/>
              </a:rPr>
              <a:t>DON'T</a:t>
            </a:r>
          </a:p>
          <a:p>
            <a:pPr algn="ctr">
              <a:lnSpc>
                <a:spcPts val="3000"/>
              </a:lnSpc>
              <a:buNone/>
            </a:pPr>
            <a:r>
              <a:rPr lang="en-US" sz="2800" b="1" dirty="0">
                <a:solidFill>
                  <a:schemeClr val="accent3">
                    <a:lumMod val="75000"/>
                  </a:schemeClr>
                </a:solidFill>
                <a:latin typeface="Proxima Nova Bold"/>
              </a:rPr>
              <a:t>REPLACE.</a:t>
            </a:r>
          </a:p>
        </p:txBody>
      </p:sp>
      <p:sp>
        <p:nvSpPr>
          <p:cNvPr id="18" name="Text 12"/>
          <p:cNvSpPr/>
          <p:nvPr/>
        </p:nvSpPr>
        <p:spPr>
          <a:xfrm>
            <a:off x="6159500" y="2973070"/>
            <a:ext cx="2768600" cy="1079500"/>
          </a:xfrm>
          <a:prstGeom prst="rect">
            <a:avLst/>
          </a:prstGeom>
          <a:noFill/>
          <a:ln/>
        </p:spPr>
        <p:txBody>
          <a:bodyPr wrap="square" rtlCol="0" anchor="ctr"/>
          <a:lstStyle/>
          <a:p>
            <a:pPr algn="ctr">
              <a:lnSpc>
                <a:spcPts val="1700"/>
              </a:lnSpc>
              <a:spcBef>
                <a:spcPts val="0"/>
              </a:spcBef>
              <a:buNone/>
            </a:pPr>
            <a:r>
              <a:rPr lang="en-US" sz="1300" dirty="0">
                <a:solidFill>
                  <a:srgbClr val="FFFFFF"/>
                </a:solidFill>
                <a:latin typeface="Proxima Nova"/>
              </a:rPr>
              <a:t>We don't displace your existing investments — we connect them into a single intelligent layer.</a:t>
            </a:r>
          </a:p>
        </p:txBody>
      </p:sp>
      <p:sp>
        <p:nvSpPr>
          <p:cNvPr id="19" name="Shape 13"/>
          <p:cNvSpPr/>
          <p:nvPr/>
        </p:nvSpPr>
        <p:spPr>
          <a:xfrm>
            <a:off x="0" y="4892040"/>
            <a:ext cx="9144000" cy="251460"/>
          </a:xfrm>
          <a:prstGeom prst="rect">
            <a:avLst/>
          </a:prstGeom>
          <a:solidFill>
            <a:srgbClr val="3C475C"/>
          </a:solidFill>
          <a:ln w="12700">
            <a:solidFill>
              <a:srgbClr val="071A38"/>
            </a:solidFill>
            <a:prstDash val="solid"/>
          </a:ln>
        </p:spPr>
        <p:txBody>
          <a:bodyPr/>
          <a:lstStyle/>
          <a:p>
            <a:endParaRPr lang="en-US"/>
          </a:p>
        </p:txBody>
      </p:sp>
      <p:sp>
        <p:nvSpPr>
          <p:cNvPr id="20" name="Text 14"/>
          <p:cNvSpPr/>
          <p:nvPr/>
        </p:nvSpPr>
        <p:spPr>
          <a:xfrm>
            <a:off x="0" y="4914900"/>
            <a:ext cx="9144000" cy="203200"/>
          </a:xfrm>
          <a:prstGeom prst="rect">
            <a:avLst/>
          </a:prstGeom>
          <a:noFill/>
          <a:ln/>
        </p:spPr>
        <p:txBody>
          <a:bodyPr wrap="square" lIns="0" tIns="0" rIns="0" bIns="0" rtlCol="0" anchor="ctr"/>
          <a:lstStyle/>
          <a:p>
            <a:pPr algn="ctr">
              <a:buNone/>
            </a:pPr>
            <a:r>
              <a:rPr lang="en-US" sz="1000" dirty="0">
                <a:solidFill>
                  <a:srgbClr val="B9C5D3"/>
                </a:solidFill>
                <a:latin typeface="Proxima Nova"/>
              </a:rPr>
              <a:t>Confidential and Proprietary - The Blue Horizons Group LLC</a:t>
            </a:r>
          </a:p>
        </p:txBody>
      </p:sp>
      <p:sp>
        <p:nvSpPr>
          <p:cNvPr id="21" name="Text 15"/>
          <p:cNvSpPr/>
          <p:nvPr/>
        </p:nvSpPr>
        <p:spPr>
          <a:xfrm>
            <a:off x="6400800" y="4901184"/>
            <a:ext cx="2423160" cy="201168"/>
          </a:xfrm>
          <a:prstGeom prst="rect">
            <a:avLst/>
          </a:prstGeom>
          <a:noFill/>
          <a:ln/>
        </p:spPr>
        <p:txBody>
          <a:bodyPr wrap="square" lIns="0" tIns="0" rIns="0" bIns="0" rtlCol="0" anchor="ctr"/>
          <a:lstStyle/>
          <a:p>
            <a:pPr marL="0" indent="0" algn="r">
              <a:buNone/>
            </a:pPr>
            <a:r>
              <a:rPr lang="en-US" sz="1000">
                <a:solidFill>
                  <a:srgbClr val="B9C5D3"/>
                </a:solidFill>
                <a:latin typeface="Proxima Nova"/>
              </a:rPr>
              <a:t>Confidential  ·  March 16, 2026</a:t>
            </a:r>
            <a:endParaRPr lang="en-US" sz="800" dirty="0"/>
          </a:p>
        </p:txBody>
      </p:sp>
      <p:sp>
        <p:nvSpPr>
          <p:cNvPr id="101" name="BulletList"/>
          <p:cNvSpPr>
            <a:spLocks noGrp="1"/>
          </p:cNvSpPr>
          <p:nvPr/>
        </p:nvSpPr>
        <p:spPr>
          <a:xfrm>
            <a:off x="508000" y="2705100"/>
            <a:ext cx="5118100" cy="2032000"/>
          </a:xfrm>
          <a:prstGeom prst="rect">
            <a:avLst/>
          </a:prstGeom>
          <a:noFill/>
          <a:ln>
            <a:noFill/>
          </a:ln>
        </p:spPr>
        <p:txBody>
          <a:bodyPr wrap="square" lIns="0" tIns="0" rIns="0" bIns="0" anchor="t">
            <a:normAutofit/>
          </a:bodyPr>
          <a:lstStyle/>
          <a:p>
            <a:pPr marL="342900" indent="-342900">
              <a:lnSpc>
                <a:spcPts val="1600"/>
              </a:lnSpc>
              <a:spcBef>
                <a:spcPts val="0"/>
              </a:spcBef>
              <a:spcAft>
                <a:spcPts val="600"/>
              </a:spcAft>
              <a:buNone/>
            </a:pPr>
            <a:r>
              <a:rPr lang="en-US" sz="1600" b="1" dirty="0">
                <a:solidFill>
                  <a:srgbClr val="DB716C"/>
                </a:solidFill>
                <a:latin typeface="Proxima Nova Bold"/>
              </a:rPr>
              <a:t>✓ </a:t>
            </a:r>
            <a:r>
              <a:rPr lang="en-US" sz="1400" dirty="0">
                <a:solidFill>
                  <a:srgbClr val="474747"/>
                </a:solidFill>
                <a:latin typeface="Proxima Nova"/>
              </a:rPr>
              <a:t>Tailored to your data structures, your comp logic, your org hierarchy — not a template</a:t>
            </a:r>
          </a:p>
          <a:p>
            <a:pPr marL="342900" indent="-342900">
              <a:lnSpc>
                <a:spcPts val="1600"/>
              </a:lnSpc>
              <a:spcBef>
                <a:spcPts val="200"/>
              </a:spcBef>
              <a:spcAft>
                <a:spcPts val="600"/>
              </a:spcAft>
              <a:buNone/>
            </a:pPr>
            <a:r>
              <a:rPr lang="en-US" sz="1600" b="1" dirty="0">
                <a:solidFill>
                  <a:srgbClr val="DB716C"/>
                </a:solidFill>
                <a:latin typeface="Proxima Nova Bold"/>
              </a:rPr>
              <a:t>✓ </a:t>
            </a:r>
            <a:r>
              <a:rPr lang="en-US" sz="1400" dirty="0">
                <a:solidFill>
                  <a:srgbClr val="474747"/>
                </a:solidFill>
                <a:latin typeface="Proxima Nova"/>
              </a:rPr>
              <a:t>D365-native — connects to what you've already built, no redundant data layer</a:t>
            </a:r>
          </a:p>
          <a:p>
            <a:pPr marL="342900" indent="-342900">
              <a:lnSpc>
                <a:spcPts val="1600"/>
              </a:lnSpc>
              <a:spcBef>
                <a:spcPts val="200"/>
              </a:spcBef>
              <a:spcAft>
                <a:spcPts val="600"/>
              </a:spcAft>
              <a:buNone/>
            </a:pPr>
            <a:r>
              <a:rPr lang="en-US" sz="1600" b="1" dirty="0">
                <a:solidFill>
                  <a:srgbClr val="DB716C"/>
                </a:solidFill>
                <a:latin typeface="Proxima Nova Bold"/>
              </a:rPr>
              <a:t>✓ </a:t>
            </a:r>
            <a:r>
              <a:rPr lang="en-US" sz="1400" dirty="0">
                <a:solidFill>
                  <a:srgbClr val="474747"/>
                </a:solidFill>
                <a:latin typeface="Proxima Nova"/>
              </a:rPr>
              <a:t>You own what gets built — code deployed in your environment, not a SaaS subscription</a:t>
            </a:r>
          </a:p>
          <a:p>
            <a:pPr marL="342900" indent="-342900">
              <a:lnSpc>
                <a:spcPts val="1600"/>
              </a:lnSpc>
              <a:spcBef>
                <a:spcPts val="200"/>
              </a:spcBef>
              <a:spcAft>
                <a:spcPts val="0"/>
              </a:spcAft>
              <a:buNone/>
            </a:pPr>
            <a:r>
              <a:rPr lang="en-US" sz="1600" b="1" dirty="0">
                <a:solidFill>
                  <a:srgbClr val="DB716C"/>
                </a:solidFill>
                <a:latin typeface="Proxima Nova Bold"/>
              </a:rPr>
              <a:t>✓ </a:t>
            </a:r>
            <a:r>
              <a:rPr lang="en-US" sz="1400" dirty="0">
                <a:solidFill>
                  <a:srgbClr val="474747"/>
                </a:solidFill>
                <a:latin typeface="Proxima Nova"/>
              </a:rPr>
              <a:t>Built on Register, BHG's purpose-built platform for retail Rev Ops</a:t>
            </a:r>
          </a:p>
        </p:txBody>
      </p:sp>
    </p:spTree>
    <p:extLst>
      <p:ext uri="{BB962C8B-B14F-4D97-AF65-F5344CB8AC3E}">
        <p14:creationId xmlns:p14="http://schemas.microsoft.com/office/powerpoint/2010/main" val="3185800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B716C"/>
          </a:solidFill>
          <a:ln w="12700">
            <a:solidFill>
              <a:schemeClr val="accent3"/>
            </a:solidFill>
            <a:prstDash val="solid"/>
          </a:ln>
        </p:spPr>
        <p:txBody>
          <a:bodyPr/>
          <a:lstStyle/>
          <a:p>
            <a:endParaRPr lang="en-US"/>
          </a:p>
        </p:txBody>
      </p:sp>
      <p:sp>
        <p:nvSpPr>
          <p:cNvPr id="3" name="Shape 1"/>
          <p:cNvSpPr/>
          <p:nvPr/>
        </p:nvSpPr>
        <p:spPr>
          <a:xfrm>
            <a:off x="0" y="73152"/>
            <a:ext cx="9144000" cy="749808"/>
          </a:xfrm>
          <a:prstGeom prst="rect">
            <a:avLst/>
          </a:prstGeom>
          <a:solidFill>
            <a:srgbClr val="3C475C"/>
          </a:solidFill>
          <a:ln w="12700">
            <a:solidFill>
              <a:srgbClr val="0F2B5B"/>
            </a:solidFill>
            <a:prstDash val="solid"/>
          </a:ln>
        </p:spPr>
        <p:txBody>
          <a:bodyPr/>
          <a:lstStyle/>
          <a:p>
            <a:endParaRPr lang="en-US"/>
          </a:p>
        </p:txBody>
      </p:sp>
      <p:sp>
        <p:nvSpPr>
          <p:cNvPr id="4" name="Text 2"/>
          <p:cNvSpPr/>
          <p:nvPr/>
        </p:nvSpPr>
        <p:spPr>
          <a:xfrm>
            <a:off x="368300" y="-16671"/>
            <a:ext cx="6400800" cy="749300"/>
          </a:xfrm>
          <a:prstGeom prst="rect">
            <a:avLst/>
          </a:prstGeom>
          <a:noFill/>
          <a:ln/>
        </p:spPr>
        <p:txBody>
          <a:bodyPr wrap="square" lIns="0" tIns="0" rIns="0" bIns="0" rtlCol="0" anchor="ctr"/>
          <a:lstStyle/>
          <a:p>
            <a:pPr marL="0" indent="0">
              <a:buNone/>
            </a:pPr>
            <a:r>
              <a:rPr lang="en-US" sz="2600" b="1" dirty="0">
                <a:solidFill>
                  <a:srgbClr val="FFFFFF"/>
                </a:solidFill>
                <a:latin typeface="Proxima Nova Bold"/>
              </a:rPr>
              <a:t>What You Get</a:t>
            </a:r>
          </a:p>
        </p:txBody>
      </p:sp>
      <p:sp>
        <p:nvSpPr>
          <p:cNvPr id="5" name="Text 3"/>
          <p:cNvSpPr/>
          <p:nvPr/>
        </p:nvSpPr>
        <p:spPr>
          <a:xfrm>
            <a:off x="365760" y="520700"/>
            <a:ext cx="8686800" cy="228600"/>
          </a:xfrm>
          <a:prstGeom prst="rect">
            <a:avLst/>
          </a:prstGeom>
          <a:noFill/>
          <a:ln/>
        </p:spPr>
        <p:txBody>
          <a:bodyPr wrap="square" lIns="0" tIns="0" rIns="0" bIns="0" rtlCol="0" anchor="b"/>
          <a:lstStyle/>
          <a:p>
            <a:pPr marL="0" indent="0">
              <a:buNone/>
            </a:pPr>
            <a:r>
              <a:rPr lang="en-US" sz="1300" i="1" dirty="0">
                <a:solidFill>
                  <a:schemeClr val="accent1">
                    <a:lumMod val="90000"/>
                  </a:schemeClr>
                </a:solidFill>
                <a:latin typeface="Proxima Nova"/>
              </a:rPr>
              <a:t>From the field to the front office — a single connected picture.</a:t>
            </a:r>
          </a:p>
        </p:txBody>
      </p:sp>
      <p:sp>
        <p:nvSpPr>
          <p:cNvPr id="6" name="Shape 4"/>
          <p:cNvSpPr/>
          <p:nvPr/>
        </p:nvSpPr>
        <p:spPr>
          <a:xfrm>
            <a:off x="228600" y="927100"/>
            <a:ext cx="1993900" cy="3810000"/>
          </a:xfrm>
          <a:prstGeom prst="rect">
            <a:avLst/>
          </a:prstGeom>
          <a:solidFill>
            <a:srgbClr val="E3E8EE"/>
          </a:solidFill>
          <a:ln/>
          <a:effectLst>
            <a:outerShdw blurRad="101600" dist="25400" dir="8100000" algn="bl" rotWithShape="0">
              <a:srgbClr val="000000">
                <a:alpha val="9000"/>
              </a:srgbClr>
            </a:outerShdw>
          </a:effectLst>
        </p:spPr>
        <p:txBody>
          <a:bodyPr/>
          <a:lstStyle/>
          <a:p>
            <a:endParaRPr lang="en-US"/>
          </a:p>
        </p:txBody>
      </p:sp>
      <p:sp>
        <p:nvSpPr>
          <p:cNvPr id="7" name="Shape 5"/>
          <p:cNvSpPr/>
          <p:nvPr/>
        </p:nvSpPr>
        <p:spPr>
          <a:xfrm>
            <a:off x="228600" y="927100"/>
            <a:ext cx="1993900" cy="800100"/>
          </a:xfrm>
          <a:prstGeom prst="rect">
            <a:avLst/>
          </a:prstGeom>
          <a:solidFill>
            <a:schemeClr val="accent3"/>
          </a:solidFill>
          <a:ln w="12700">
            <a:solidFill>
              <a:schemeClr val="accent3"/>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365760" y="1115568"/>
            <a:ext cx="384048" cy="384048"/>
          </a:xfrm>
          <a:prstGeom prst="rect">
            <a:avLst/>
          </a:prstGeom>
        </p:spPr>
      </p:pic>
      <p:sp>
        <p:nvSpPr>
          <p:cNvPr id="9" name="Text 6"/>
          <p:cNvSpPr/>
          <p:nvPr/>
        </p:nvSpPr>
        <p:spPr>
          <a:xfrm>
            <a:off x="825500" y="1092200"/>
            <a:ext cx="1308100" cy="508000"/>
          </a:xfrm>
          <a:prstGeom prst="rect">
            <a:avLst/>
          </a:prstGeom>
          <a:noFill/>
          <a:ln/>
        </p:spPr>
        <p:txBody>
          <a:bodyPr wrap="square" rtlCol="0" anchor="ctr"/>
          <a:lstStyle/>
          <a:p>
            <a:pPr marL="0" indent="0">
              <a:lnSpc>
                <a:spcPct val="110000"/>
              </a:lnSpc>
              <a:buNone/>
            </a:pPr>
            <a:r>
              <a:rPr lang="en-US" sz="1400" b="1" dirty="0">
                <a:solidFill>
                  <a:schemeClr val="tx1">
                    <a:lumMod val="50000"/>
                  </a:schemeClr>
                </a:solidFill>
                <a:latin typeface="Proxima Nova Bold"/>
              </a:rPr>
              <a:t>Store &amp; District Intelligence</a:t>
            </a:r>
            <a:endParaRPr lang="en-US" sz="1100" dirty="0">
              <a:solidFill>
                <a:schemeClr val="tx1">
                  <a:lumMod val="50000"/>
                </a:schemeClr>
              </a:solidFill>
            </a:endParaRPr>
          </a:p>
        </p:txBody>
      </p:sp>
      <p:sp>
        <p:nvSpPr>
          <p:cNvPr id="10" name="Text 7"/>
          <p:cNvSpPr/>
          <p:nvPr/>
        </p:nvSpPr>
        <p:spPr>
          <a:xfrm>
            <a:off x="228600" y="1841500"/>
            <a:ext cx="1993900" cy="2730500"/>
          </a:xfrm>
          <a:prstGeom prst="rect">
            <a:avLst/>
          </a:prstGeom>
          <a:noFill/>
          <a:ln/>
        </p:spPr>
        <p:txBody>
          <a:bodyPr wrap="square" rtlCol="0" anchor="t"/>
          <a:lstStyle/>
          <a:p>
            <a:pPr marL="342900" indent="-342900">
              <a:lnSpc>
                <a:spcPct val="114000"/>
              </a:lnSpc>
              <a:buSzPct val="100000"/>
              <a:buChar char="•"/>
            </a:pPr>
            <a:r>
              <a:rPr lang="en-US" sz="1200" dirty="0">
                <a:solidFill>
                  <a:srgbClr val="474747"/>
                </a:solidFill>
                <a:latin typeface="Proxima Nova"/>
              </a:rPr>
              <a:t>AI-optimized floor scheduling</a:t>
            </a:r>
            <a:endParaRPr lang="en-US" sz="900" dirty="0"/>
          </a:p>
          <a:p>
            <a:pPr marL="342900" indent="-342900">
              <a:lnSpc>
                <a:spcPct val="114000"/>
              </a:lnSpc>
              <a:buSzPct val="100000"/>
              <a:buChar char="•"/>
            </a:pPr>
            <a:r>
              <a:rPr lang="en-US" sz="1200" dirty="0">
                <a:solidFill>
                  <a:srgbClr val="474747"/>
                </a:solidFill>
                <a:latin typeface="Proxima Nova"/>
              </a:rPr>
              <a:t>District consolidation modeling</a:t>
            </a:r>
            <a:endParaRPr lang="en-US" sz="900" dirty="0"/>
          </a:p>
          <a:p>
            <a:pPr marL="342900" indent="-342900">
              <a:lnSpc>
                <a:spcPct val="114000"/>
              </a:lnSpc>
              <a:buSzPct val="100000"/>
              <a:buChar char="•"/>
            </a:pPr>
            <a:r>
              <a:rPr lang="en-US" sz="1200" dirty="0">
                <a:solidFill>
                  <a:srgbClr val="474747"/>
                </a:solidFill>
                <a:latin typeface="Proxima Nova"/>
              </a:rPr>
              <a:t>Store tiering &amp; portfolio rebalancing</a:t>
            </a:r>
            <a:endParaRPr lang="en-US" sz="900" dirty="0"/>
          </a:p>
          <a:p>
            <a:pPr marL="342900" indent="-342900">
              <a:lnSpc>
                <a:spcPct val="114000"/>
              </a:lnSpc>
              <a:buSzPct val="100000"/>
              <a:buChar char="•"/>
            </a:pPr>
            <a:r>
              <a:rPr lang="en-US" sz="1200" dirty="0">
                <a:solidFill>
                  <a:srgbClr val="474747"/>
                </a:solidFill>
                <a:latin typeface="Proxima Nova"/>
              </a:rPr>
              <a:t>Scenario planning — before you commit</a:t>
            </a:r>
            <a:endParaRPr lang="en-US" sz="900" dirty="0"/>
          </a:p>
        </p:txBody>
      </p:sp>
      <p:sp>
        <p:nvSpPr>
          <p:cNvPr id="11" name="Shape 8"/>
          <p:cNvSpPr/>
          <p:nvPr/>
        </p:nvSpPr>
        <p:spPr>
          <a:xfrm>
            <a:off x="2450307" y="927100"/>
            <a:ext cx="1993900" cy="3810000"/>
          </a:xfrm>
          <a:prstGeom prst="rect">
            <a:avLst/>
          </a:prstGeom>
          <a:solidFill>
            <a:srgbClr val="E3E8EE"/>
          </a:solidFill>
          <a:ln/>
          <a:effectLst>
            <a:outerShdw blurRad="101600" dist="25400" dir="8100000" algn="bl" rotWithShape="0">
              <a:srgbClr val="000000">
                <a:alpha val="9000"/>
              </a:srgbClr>
            </a:outerShdw>
          </a:effectLst>
        </p:spPr>
        <p:txBody>
          <a:bodyPr/>
          <a:lstStyle/>
          <a:p>
            <a:endParaRPr lang="en-US"/>
          </a:p>
        </p:txBody>
      </p:sp>
      <p:sp>
        <p:nvSpPr>
          <p:cNvPr id="12" name="Shape 9"/>
          <p:cNvSpPr/>
          <p:nvPr/>
        </p:nvSpPr>
        <p:spPr>
          <a:xfrm>
            <a:off x="2450307" y="927100"/>
            <a:ext cx="1993900" cy="800100"/>
          </a:xfrm>
          <a:prstGeom prst="rect">
            <a:avLst/>
          </a:prstGeom>
          <a:solidFill>
            <a:schemeClr val="accent3"/>
          </a:solidFill>
          <a:ln w="12700">
            <a:solidFill>
              <a:schemeClr val="accent3"/>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2585943" y="1115568"/>
            <a:ext cx="384048" cy="384048"/>
          </a:xfrm>
          <a:prstGeom prst="rect">
            <a:avLst/>
          </a:prstGeom>
        </p:spPr>
      </p:pic>
      <p:sp>
        <p:nvSpPr>
          <p:cNvPr id="14" name="Text 10"/>
          <p:cNvSpPr/>
          <p:nvPr/>
        </p:nvSpPr>
        <p:spPr>
          <a:xfrm>
            <a:off x="3047207" y="1092200"/>
            <a:ext cx="1308100" cy="508000"/>
          </a:xfrm>
          <a:prstGeom prst="rect">
            <a:avLst/>
          </a:prstGeom>
          <a:noFill/>
          <a:ln/>
        </p:spPr>
        <p:txBody>
          <a:bodyPr wrap="square" rtlCol="0" anchor="ctr"/>
          <a:lstStyle/>
          <a:p>
            <a:pPr marL="0" indent="0">
              <a:lnSpc>
                <a:spcPct val="110000"/>
              </a:lnSpc>
              <a:buNone/>
            </a:pPr>
            <a:r>
              <a:rPr lang="en-US" sz="1400" b="1" dirty="0">
                <a:solidFill>
                  <a:schemeClr val="tx1">
                    <a:lumMod val="50000"/>
                  </a:schemeClr>
                </a:solidFill>
                <a:latin typeface="Proxima Nova Bold"/>
              </a:rPr>
              <a:t>Coaching &amp; Next-Best Action</a:t>
            </a:r>
            <a:endParaRPr lang="en-US" sz="1100" dirty="0">
              <a:solidFill>
                <a:schemeClr val="tx1">
                  <a:lumMod val="50000"/>
                </a:schemeClr>
              </a:solidFill>
            </a:endParaRPr>
          </a:p>
        </p:txBody>
      </p:sp>
      <p:sp>
        <p:nvSpPr>
          <p:cNvPr id="15" name="Text 11"/>
          <p:cNvSpPr/>
          <p:nvPr/>
        </p:nvSpPr>
        <p:spPr>
          <a:xfrm>
            <a:off x="2450307" y="1841500"/>
            <a:ext cx="1993900" cy="2730500"/>
          </a:xfrm>
          <a:prstGeom prst="rect">
            <a:avLst/>
          </a:prstGeom>
          <a:noFill/>
          <a:ln/>
        </p:spPr>
        <p:txBody>
          <a:bodyPr wrap="square" rtlCol="0" anchor="t"/>
          <a:lstStyle/>
          <a:p>
            <a:pPr marL="342900" indent="-342900">
              <a:lnSpc>
                <a:spcPct val="114000"/>
              </a:lnSpc>
              <a:buSzPct val="100000"/>
              <a:buChar char="•"/>
            </a:pPr>
            <a:r>
              <a:rPr lang="en-US" sz="1200" dirty="0">
                <a:solidFill>
                  <a:srgbClr val="474747"/>
                </a:solidFill>
                <a:latin typeface="Proxima Nova"/>
              </a:rPr>
              <a:t>Associate-level insights with specific actions</a:t>
            </a:r>
            <a:endParaRPr lang="en-US" sz="900" dirty="0"/>
          </a:p>
          <a:p>
            <a:pPr marL="342900" indent="-342900">
              <a:lnSpc>
                <a:spcPct val="114000"/>
              </a:lnSpc>
              <a:buSzPct val="100000"/>
              <a:buChar char="•"/>
            </a:pPr>
            <a:r>
              <a:rPr lang="en-US" sz="1200" dirty="0">
                <a:solidFill>
                  <a:srgbClr val="474747"/>
                </a:solidFill>
                <a:latin typeface="Proxima Nova"/>
              </a:rPr>
              <a:t>"Add 3 Tempur-Pedic displays at underperforming stores"</a:t>
            </a:r>
            <a:endParaRPr lang="en-US" sz="900" dirty="0"/>
          </a:p>
          <a:p>
            <a:pPr marL="342900" indent="-342900">
              <a:lnSpc>
                <a:spcPct val="114000"/>
              </a:lnSpc>
              <a:buSzPct val="100000"/>
              <a:buChar char="•"/>
            </a:pPr>
            <a:r>
              <a:rPr lang="en-US" sz="1200" dirty="0">
                <a:solidFill>
                  <a:srgbClr val="474747"/>
                </a:solidFill>
                <a:latin typeface="Proxima Nova"/>
              </a:rPr>
              <a:t>Manager walk-through tools &amp; coaching guides</a:t>
            </a:r>
            <a:endParaRPr lang="en-US" sz="900" dirty="0"/>
          </a:p>
          <a:p>
            <a:pPr marL="342900" indent="-342900">
              <a:lnSpc>
                <a:spcPct val="114000"/>
              </a:lnSpc>
              <a:buSzPct val="100000"/>
              <a:buChar char="•"/>
            </a:pPr>
            <a:r>
              <a:rPr lang="en-US" sz="1200" dirty="0">
                <a:solidFill>
                  <a:srgbClr val="474747"/>
                </a:solidFill>
                <a:latin typeface="Proxima Nova"/>
              </a:rPr>
              <a:t>Proactive performance gap alerts</a:t>
            </a:r>
            <a:endParaRPr lang="en-US" sz="900" dirty="0"/>
          </a:p>
        </p:txBody>
      </p:sp>
      <p:sp>
        <p:nvSpPr>
          <p:cNvPr id="16" name="Shape 12"/>
          <p:cNvSpPr/>
          <p:nvPr/>
        </p:nvSpPr>
        <p:spPr>
          <a:xfrm>
            <a:off x="4672014" y="927100"/>
            <a:ext cx="1993900" cy="3810000"/>
          </a:xfrm>
          <a:prstGeom prst="rect">
            <a:avLst/>
          </a:prstGeom>
          <a:solidFill>
            <a:srgbClr val="E3E8EE"/>
          </a:solidFill>
          <a:ln/>
          <a:effectLst>
            <a:outerShdw blurRad="101600" dist="25400" dir="8100000" algn="bl" rotWithShape="0">
              <a:srgbClr val="000000">
                <a:alpha val="9000"/>
              </a:srgbClr>
            </a:outerShdw>
          </a:effectLst>
        </p:spPr>
        <p:txBody>
          <a:bodyPr/>
          <a:lstStyle/>
          <a:p>
            <a:endParaRPr lang="en-US"/>
          </a:p>
        </p:txBody>
      </p:sp>
      <p:sp>
        <p:nvSpPr>
          <p:cNvPr id="17" name="Shape 13"/>
          <p:cNvSpPr/>
          <p:nvPr/>
        </p:nvSpPr>
        <p:spPr>
          <a:xfrm>
            <a:off x="4672014" y="927100"/>
            <a:ext cx="1993900" cy="800100"/>
          </a:xfrm>
          <a:prstGeom prst="rect">
            <a:avLst/>
          </a:prstGeom>
          <a:solidFill>
            <a:schemeClr val="accent3"/>
          </a:solidFill>
          <a:ln w="12700">
            <a:solidFill>
              <a:schemeClr val="accent3"/>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4806126" y="1115568"/>
            <a:ext cx="384048" cy="384048"/>
          </a:xfrm>
          <a:prstGeom prst="rect">
            <a:avLst/>
          </a:prstGeom>
        </p:spPr>
      </p:pic>
      <p:sp>
        <p:nvSpPr>
          <p:cNvPr id="19" name="Text 14"/>
          <p:cNvSpPr/>
          <p:nvPr/>
        </p:nvSpPr>
        <p:spPr>
          <a:xfrm>
            <a:off x="5268914" y="1092200"/>
            <a:ext cx="1308100" cy="508000"/>
          </a:xfrm>
          <a:prstGeom prst="rect">
            <a:avLst/>
          </a:prstGeom>
          <a:noFill/>
          <a:ln/>
        </p:spPr>
        <p:txBody>
          <a:bodyPr wrap="square" rtlCol="0" anchor="ctr"/>
          <a:lstStyle/>
          <a:p>
            <a:pPr marL="0" indent="0">
              <a:lnSpc>
                <a:spcPct val="110000"/>
              </a:lnSpc>
              <a:buNone/>
            </a:pPr>
            <a:r>
              <a:rPr lang="en-US" sz="1400" b="1" dirty="0">
                <a:solidFill>
                  <a:schemeClr val="tx1">
                    <a:lumMod val="50000"/>
                  </a:schemeClr>
                </a:solidFill>
                <a:latin typeface="Proxima Nova Bold"/>
              </a:rPr>
              <a:t>Rev Ops Visibility</a:t>
            </a:r>
            <a:endParaRPr lang="en-US" sz="1100" dirty="0">
              <a:solidFill>
                <a:schemeClr val="tx1">
                  <a:lumMod val="50000"/>
                </a:schemeClr>
              </a:solidFill>
            </a:endParaRPr>
          </a:p>
        </p:txBody>
      </p:sp>
      <p:sp>
        <p:nvSpPr>
          <p:cNvPr id="20" name="Text 15"/>
          <p:cNvSpPr/>
          <p:nvPr/>
        </p:nvSpPr>
        <p:spPr>
          <a:xfrm>
            <a:off x="4672014" y="1841500"/>
            <a:ext cx="1981200" cy="2730500"/>
          </a:xfrm>
          <a:prstGeom prst="rect">
            <a:avLst/>
          </a:prstGeom>
          <a:noFill/>
          <a:ln/>
        </p:spPr>
        <p:txBody>
          <a:bodyPr wrap="square" rtlCol="0" anchor="t"/>
          <a:lstStyle/>
          <a:p>
            <a:pPr marL="342900" indent="-342900">
              <a:lnSpc>
                <a:spcPct val="114000"/>
              </a:lnSpc>
              <a:buSzPct val="100000"/>
              <a:buChar char="•"/>
            </a:pPr>
            <a:r>
              <a:rPr lang="en-US" sz="1200" dirty="0">
                <a:solidFill>
                  <a:srgbClr val="474747"/>
                </a:solidFill>
                <a:latin typeface="Proxima Nova"/>
              </a:rPr>
              <a:t>Granular floor activity by associate, brand, district</a:t>
            </a:r>
            <a:endParaRPr lang="en-US" sz="900" dirty="0"/>
          </a:p>
          <a:p>
            <a:pPr marL="342900" indent="-342900">
              <a:lnSpc>
                <a:spcPct val="114000"/>
              </a:lnSpc>
              <a:buSzPct val="100000"/>
              <a:buChar char="•"/>
            </a:pPr>
            <a:r>
              <a:rPr lang="en-US" sz="1200" dirty="0">
                <a:solidFill>
                  <a:srgbClr val="474747"/>
                </a:solidFill>
                <a:latin typeface="Proxima Nova"/>
              </a:rPr>
              <a:t>Real-time dashboards connecting quota to results</a:t>
            </a:r>
            <a:endParaRPr lang="en-US" sz="900" dirty="0"/>
          </a:p>
          <a:p>
            <a:pPr marL="342900" indent="-342900">
              <a:lnSpc>
                <a:spcPct val="114000"/>
              </a:lnSpc>
              <a:buSzPct val="100000"/>
              <a:buChar char="•"/>
            </a:pPr>
            <a:r>
              <a:rPr lang="en-US" sz="1200" dirty="0">
                <a:solidFill>
                  <a:srgbClr val="474747"/>
                </a:solidFill>
                <a:latin typeface="Proxima Nova"/>
              </a:rPr>
              <a:t>Store-level performance and trend alerts</a:t>
            </a:r>
            <a:endParaRPr lang="en-US" sz="900" dirty="0"/>
          </a:p>
          <a:p>
            <a:pPr marL="342900" indent="-342900">
              <a:lnSpc>
                <a:spcPct val="114000"/>
              </a:lnSpc>
              <a:buSzPct val="100000"/>
              <a:buChar char="•"/>
            </a:pPr>
            <a:r>
              <a:rPr lang="en-US" sz="1200" dirty="0">
                <a:solidFill>
                  <a:srgbClr val="474747"/>
                </a:solidFill>
                <a:latin typeface="Proxima Nova"/>
              </a:rPr>
              <a:t>Insights that drive action — not just reporting</a:t>
            </a:r>
            <a:endParaRPr lang="en-US" sz="900" dirty="0"/>
          </a:p>
        </p:txBody>
      </p:sp>
      <p:sp>
        <p:nvSpPr>
          <p:cNvPr id="21" name="Shape 16"/>
          <p:cNvSpPr/>
          <p:nvPr/>
        </p:nvSpPr>
        <p:spPr>
          <a:xfrm>
            <a:off x="6893722" y="927100"/>
            <a:ext cx="1993900" cy="3810000"/>
          </a:xfrm>
          <a:prstGeom prst="rect">
            <a:avLst/>
          </a:prstGeom>
          <a:solidFill>
            <a:srgbClr val="E3E8EE"/>
          </a:solidFill>
          <a:ln/>
          <a:effectLst>
            <a:outerShdw blurRad="101600" dist="25400" dir="8100000" algn="bl" rotWithShape="0">
              <a:srgbClr val="000000">
                <a:alpha val="9000"/>
              </a:srgbClr>
            </a:outerShdw>
          </a:effectLst>
        </p:spPr>
        <p:txBody>
          <a:bodyPr/>
          <a:lstStyle/>
          <a:p>
            <a:endParaRPr lang="en-US"/>
          </a:p>
        </p:txBody>
      </p:sp>
      <p:sp>
        <p:nvSpPr>
          <p:cNvPr id="22" name="Shape 17"/>
          <p:cNvSpPr/>
          <p:nvPr/>
        </p:nvSpPr>
        <p:spPr>
          <a:xfrm>
            <a:off x="6893722" y="927100"/>
            <a:ext cx="1993900" cy="800100"/>
          </a:xfrm>
          <a:prstGeom prst="rect">
            <a:avLst/>
          </a:prstGeom>
          <a:solidFill>
            <a:schemeClr val="accent3"/>
          </a:solidFill>
          <a:ln w="12700">
            <a:solidFill>
              <a:schemeClr val="accent3"/>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7026310" y="1115568"/>
            <a:ext cx="384048" cy="384048"/>
          </a:xfrm>
          <a:prstGeom prst="rect">
            <a:avLst/>
          </a:prstGeom>
        </p:spPr>
      </p:pic>
      <p:sp>
        <p:nvSpPr>
          <p:cNvPr id="24" name="Text 18"/>
          <p:cNvSpPr/>
          <p:nvPr/>
        </p:nvSpPr>
        <p:spPr>
          <a:xfrm>
            <a:off x="7477922" y="1092200"/>
            <a:ext cx="1308100" cy="508000"/>
          </a:xfrm>
          <a:prstGeom prst="rect">
            <a:avLst/>
          </a:prstGeom>
          <a:noFill/>
          <a:ln/>
        </p:spPr>
        <p:txBody>
          <a:bodyPr wrap="square" rtlCol="0" anchor="ctr"/>
          <a:lstStyle/>
          <a:p>
            <a:pPr marL="0" indent="0">
              <a:lnSpc>
                <a:spcPct val="110000"/>
              </a:lnSpc>
              <a:buNone/>
            </a:pPr>
            <a:r>
              <a:rPr lang="en-US" sz="1400" b="1" dirty="0">
                <a:solidFill>
                  <a:schemeClr val="tx1">
                    <a:lumMod val="50000"/>
                  </a:schemeClr>
                </a:solidFill>
                <a:latin typeface="Proxima Nova Bold"/>
              </a:rPr>
              <a:t>Comp Modeling &amp; Transparency</a:t>
            </a:r>
            <a:endParaRPr lang="en-US" sz="1100" dirty="0">
              <a:solidFill>
                <a:schemeClr val="tx1">
                  <a:lumMod val="50000"/>
                </a:schemeClr>
              </a:solidFill>
            </a:endParaRPr>
          </a:p>
        </p:txBody>
      </p:sp>
      <p:sp>
        <p:nvSpPr>
          <p:cNvPr id="25" name="Text 19"/>
          <p:cNvSpPr/>
          <p:nvPr/>
        </p:nvSpPr>
        <p:spPr>
          <a:xfrm>
            <a:off x="6893722" y="1841500"/>
            <a:ext cx="1993900" cy="2730500"/>
          </a:xfrm>
          <a:prstGeom prst="rect">
            <a:avLst/>
          </a:prstGeom>
          <a:noFill/>
          <a:ln/>
        </p:spPr>
        <p:txBody>
          <a:bodyPr wrap="square" rtlCol="0" anchor="t"/>
          <a:lstStyle/>
          <a:p>
            <a:pPr marL="342900" indent="-342900">
              <a:lnSpc>
                <a:spcPct val="114000"/>
              </a:lnSpc>
              <a:buSzPct val="100000"/>
              <a:buChar char="•"/>
            </a:pPr>
            <a:r>
              <a:rPr lang="en-US" sz="1200" dirty="0">
                <a:solidFill>
                  <a:srgbClr val="474747"/>
                </a:solidFill>
                <a:latin typeface="Proxima Nova"/>
              </a:rPr>
              <a:t>Real-time commission calculations</a:t>
            </a:r>
            <a:endParaRPr lang="en-US" sz="900" dirty="0"/>
          </a:p>
          <a:p>
            <a:pPr marL="342900" indent="-342900">
              <a:lnSpc>
                <a:spcPct val="114000"/>
              </a:lnSpc>
              <a:buSzPct val="100000"/>
              <a:buChar char="•"/>
            </a:pPr>
            <a:r>
              <a:rPr lang="en-US" sz="1200" dirty="0">
                <a:solidFill>
                  <a:srgbClr val="474747"/>
                </a:solidFill>
                <a:latin typeface="Proxima Nova"/>
              </a:rPr>
              <a:t>"What if" scenario modeling for new plan structures</a:t>
            </a:r>
            <a:endParaRPr lang="en-US" sz="900" dirty="0"/>
          </a:p>
          <a:p>
            <a:pPr marL="342900" indent="-342900">
              <a:lnSpc>
                <a:spcPct val="114000"/>
              </a:lnSpc>
              <a:buSzPct val="100000"/>
              <a:buChar char="•"/>
            </a:pPr>
            <a:r>
              <a:rPr lang="en-US" sz="1200" dirty="0">
                <a:solidFill>
                  <a:srgbClr val="474747"/>
                </a:solidFill>
                <a:latin typeface="Proxima Nova"/>
              </a:rPr>
              <a:t>Dispute resolution workflow</a:t>
            </a:r>
            <a:endParaRPr lang="en-US" sz="900" dirty="0"/>
          </a:p>
          <a:p>
            <a:pPr marL="342900" indent="-342900">
              <a:lnSpc>
                <a:spcPct val="114000"/>
              </a:lnSpc>
              <a:buSzPct val="100000"/>
              <a:buChar char="•"/>
            </a:pPr>
            <a:r>
              <a:rPr lang="en-US" sz="1200" dirty="0">
                <a:solidFill>
                  <a:srgbClr val="474747"/>
                </a:solidFill>
                <a:latin typeface="Proxima Nova"/>
              </a:rPr>
              <a:t>New plan rollout support — built for your transition</a:t>
            </a:r>
            <a:endParaRPr lang="en-US" sz="900" dirty="0"/>
          </a:p>
        </p:txBody>
      </p:sp>
      <p:sp>
        <p:nvSpPr>
          <p:cNvPr id="26" name="Shape 20"/>
          <p:cNvSpPr/>
          <p:nvPr/>
        </p:nvSpPr>
        <p:spPr>
          <a:xfrm>
            <a:off x="0" y="4892040"/>
            <a:ext cx="9144000" cy="251460"/>
          </a:xfrm>
          <a:prstGeom prst="rect">
            <a:avLst/>
          </a:prstGeom>
          <a:solidFill>
            <a:srgbClr val="3C475C"/>
          </a:solidFill>
          <a:ln w="12700">
            <a:solidFill>
              <a:srgbClr val="0F2B5B"/>
            </a:solidFill>
            <a:prstDash val="solid"/>
          </a:ln>
        </p:spPr>
        <p:txBody>
          <a:bodyPr/>
          <a:lstStyle/>
          <a:p>
            <a:endParaRPr lang="en-US"/>
          </a:p>
        </p:txBody>
      </p:sp>
      <p:sp>
        <p:nvSpPr>
          <p:cNvPr id="27" name="Text 21"/>
          <p:cNvSpPr/>
          <p:nvPr/>
        </p:nvSpPr>
        <p:spPr>
          <a:xfrm>
            <a:off x="0" y="4914900"/>
            <a:ext cx="9144000" cy="203200"/>
          </a:xfrm>
          <a:prstGeom prst="rect">
            <a:avLst/>
          </a:prstGeom>
          <a:noFill/>
          <a:ln/>
        </p:spPr>
        <p:txBody>
          <a:bodyPr wrap="square" lIns="0" tIns="0" rIns="0" bIns="0" rtlCol="0" anchor="ctr"/>
          <a:lstStyle/>
          <a:p>
            <a:pPr algn="ctr">
              <a:buNone/>
            </a:pPr>
            <a:r>
              <a:rPr lang="en-US" sz="1000" dirty="0">
                <a:solidFill>
                  <a:srgbClr val="B9C5D3"/>
                </a:solidFill>
                <a:latin typeface="Proxima Nova"/>
              </a:rPr>
              <a:t>Confidential and Proprietary - The Blue Horizons Group LLC</a:t>
            </a:r>
          </a:p>
        </p:txBody>
      </p:sp>
      <p:sp>
        <p:nvSpPr>
          <p:cNvPr id="28" name="Text 22"/>
          <p:cNvSpPr/>
          <p:nvPr/>
        </p:nvSpPr>
        <p:spPr>
          <a:xfrm>
            <a:off x="6400800" y="4901184"/>
            <a:ext cx="2423160" cy="201168"/>
          </a:xfrm>
          <a:prstGeom prst="rect">
            <a:avLst/>
          </a:prstGeom>
          <a:noFill/>
          <a:ln/>
        </p:spPr>
        <p:txBody>
          <a:bodyPr wrap="square" lIns="0" tIns="0" rIns="0" bIns="0" rtlCol="0" anchor="ctr"/>
          <a:lstStyle/>
          <a:p>
            <a:pPr marL="0" indent="0" algn="r">
              <a:buNone/>
            </a:pPr>
            <a:r>
              <a:rPr lang="en-US" sz="1000">
                <a:solidFill>
                  <a:srgbClr val="B9C5D3"/>
                </a:solidFill>
                <a:latin typeface="Proxima Nova"/>
              </a:rPr>
              <a:t>Confidential  ·  March 16, 2026</a:t>
            </a:r>
            <a:endParaRPr lang="en-US" sz="800" dirty="0"/>
          </a:p>
        </p:txBody>
      </p:sp>
    </p:spTree>
    <p:extLst>
      <p:ext uri="{BB962C8B-B14F-4D97-AF65-F5344CB8AC3E}">
        <p14:creationId xmlns:p14="http://schemas.microsoft.com/office/powerpoint/2010/main" val="683400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B716C"/>
          </a:solidFill>
          <a:ln w="12700">
            <a:solidFill>
              <a:schemeClr val="accent3"/>
            </a:solidFill>
            <a:prstDash val="solid"/>
          </a:ln>
        </p:spPr>
        <p:txBody>
          <a:bodyPr/>
          <a:lstStyle/>
          <a:p>
            <a:endParaRPr lang="en-US"/>
          </a:p>
        </p:txBody>
      </p:sp>
      <p:sp>
        <p:nvSpPr>
          <p:cNvPr id="3" name="Shape 1"/>
          <p:cNvSpPr/>
          <p:nvPr/>
        </p:nvSpPr>
        <p:spPr>
          <a:xfrm>
            <a:off x="0" y="73152"/>
            <a:ext cx="9144000" cy="749808"/>
          </a:xfrm>
          <a:prstGeom prst="rect">
            <a:avLst/>
          </a:prstGeom>
          <a:solidFill>
            <a:srgbClr val="3C475C"/>
          </a:solidFill>
          <a:ln w="12700">
            <a:solidFill>
              <a:srgbClr val="0F2B5B"/>
            </a:solidFill>
            <a:prstDash val="solid"/>
          </a:ln>
        </p:spPr>
        <p:txBody>
          <a:bodyPr/>
          <a:lstStyle/>
          <a:p>
            <a:endParaRPr lang="en-US"/>
          </a:p>
        </p:txBody>
      </p:sp>
      <p:sp>
        <p:nvSpPr>
          <p:cNvPr id="4" name="Text 2"/>
          <p:cNvSpPr/>
          <p:nvPr/>
        </p:nvSpPr>
        <p:spPr>
          <a:xfrm>
            <a:off x="365760" y="-18288"/>
            <a:ext cx="6400800" cy="749808"/>
          </a:xfrm>
          <a:prstGeom prst="rect">
            <a:avLst/>
          </a:prstGeom>
          <a:noFill/>
          <a:ln/>
        </p:spPr>
        <p:txBody>
          <a:bodyPr wrap="square" lIns="0" tIns="0" rIns="0" bIns="0" rtlCol="0" anchor="ctr"/>
          <a:lstStyle/>
          <a:p>
            <a:pPr marL="0" indent="0">
              <a:buNone/>
            </a:pPr>
            <a:r>
              <a:rPr lang="en-US" sz="2600" b="1" dirty="0">
                <a:solidFill>
                  <a:srgbClr val="FFFFFF"/>
                </a:solidFill>
                <a:latin typeface="Proxima Nova Bold" pitchFamily="34" charset="0"/>
                <a:ea typeface="Calibri" pitchFamily="34" charset="-122"/>
                <a:cs typeface="Calibri" pitchFamily="34" charset="-120"/>
              </a:rPr>
              <a:t>How It's Built</a:t>
            </a:r>
            <a:endParaRPr lang="en-US" sz="2600" dirty="0"/>
          </a:p>
        </p:txBody>
      </p:sp>
      <p:sp>
        <p:nvSpPr>
          <p:cNvPr id="5" name="Text 3"/>
          <p:cNvSpPr/>
          <p:nvPr/>
        </p:nvSpPr>
        <p:spPr>
          <a:xfrm>
            <a:off x="365760" y="-26863"/>
            <a:ext cx="8412480" cy="749808"/>
          </a:xfrm>
          <a:prstGeom prst="rect">
            <a:avLst/>
          </a:prstGeom>
          <a:noFill/>
          <a:ln/>
        </p:spPr>
        <p:txBody>
          <a:bodyPr wrap="square" lIns="0" tIns="0" rIns="0" bIns="0" rtlCol="0" anchor="b"/>
          <a:lstStyle/>
          <a:p>
            <a:r>
              <a:rPr lang="en-US" sz="1300" i="1" dirty="0">
                <a:solidFill>
                  <a:schemeClr val="accent1"/>
                </a:solidFill>
                <a:latin typeface="Proxima Nova"/>
              </a:rPr>
              <a:t>Designed to live in your environment, not ours.</a:t>
            </a:r>
          </a:p>
        </p:txBody>
      </p:sp>
      <p:sp>
        <p:nvSpPr>
          <p:cNvPr id="6" name="Shape 4"/>
          <p:cNvSpPr/>
          <p:nvPr/>
        </p:nvSpPr>
        <p:spPr>
          <a:xfrm>
            <a:off x="228600" y="889000"/>
            <a:ext cx="4165600" cy="1879600"/>
          </a:xfrm>
          <a:prstGeom prst="rect">
            <a:avLst/>
          </a:prstGeom>
          <a:solidFill>
            <a:srgbClr val="E3E8EE"/>
          </a:solidFill>
          <a:ln/>
          <a:effectLst>
            <a:outerShdw blurRad="101600" dist="25400" dir="8100000" algn="bl" rotWithShape="0">
              <a:srgbClr val="000000">
                <a:alpha val="9000"/>
              </a:srgbClr>
            </a:outerShdw>
          </a:effectLst>
        </p:spPr>
        <p:txBody>
          <a:bodyPr/>
          <a:lstStyle/>
          <a:p>
            <a:endParaRPr lang="en-US"/>
          </a:p>
        </p:txBody>
      </p:sp>
      <p:sp>
        <p:nvSpPr>
          <p:cNvPr id="7" name="Shape 5"/>
          <p:cNvSpPr/>
          <p:nvPr/>
        </p:nvSpPr>
        <p:spPr>
          <a:xfrm>
            <a:off x="228600" y="889000"/>
            <a:ext cx="4165600" cy="635000"/>
          </a:xfrm>
          <a:prstGeom prst="rect">
            <a:avLst/>
          </a:prstGeom>
          <a:solidFill>
            <a:srgbClr val="3C475C"/>
          </a:solidFill>
          <a:ln w="12700">
            <a:solidFill>
              <a:schemeClr val="tx1"/>
            </a:solidFill>
            <a:prstDash val="solid"/>
          </a:ln>
        </p:spPr>
        <p:txBody>
          <a:bodyPr/>
          <a:lstStyle/>
          <a:p>
            <a:endParaRPr lang="en-US"/>
          </a:p>
        </p:txBody>
      </p:sp>
      <p:sp>
        <p:nvSpPr>
          <p:cNvPr id="8" name="Shape 6"/>
          <p:cNvSpPr/>
          <p:nvPr/>
        </p:nvSpPr>
        <p:spPr>
          <a:xfrm>
            <a:off x="355600" y="1016000"/>
            <a:ext cx="381000" cy="381000"/>
          </a:xfrm>
          <a:prstGeom prst="ellipse">
            <a:avLst/>
          </a:prstGeom>
          <a:solidFill>
            <a:srgbClr val="DB716C"/>
          </a:solidFill>
          <a:ln w="12700">
            <a:solidFill>
              <a:schemeClr val="accent2"/>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418304" y="1078704"/>
            <a:ext cx="260351" cy="260351"/>
          </a:xfrm>
          <a:prstGeom prst="rect">
            <a:avLst/>
          </a:prstGeom>
        </p:spPr>
      </p:pic>
      <p:sp>
        <p:nvSpPr>
          <p:cNvPr id="10" name="Text 7"/>
          <p:cNvSpPr/>
          <p:nvPr/>
        </p:nvSpPr>
        <p:spPr>
          <a:xfrm>
            <a:off x="838200" y="1041400"/>
            <a:ext cx="3429000" cy="355600"/>
          </a:xfrm>
          <a:prstGeom prst="rect">
            <a:avLst/>
          </a:prstGeom>
          <a:noFill/>
          <a:ln/>
        </p:spPr>
        <p:txBody>
          <a:bodyPr wrap="square" rtlCol="0" anchor="ctr"/>
          <a:lstStyle/>
          <a:p>
            <a:pPr marL="0" indent="0">
              <a:buNone/>
            </a:pPr>
            <a:r>
              <a:rPr lang="en-US" sz="1500" b="1" dirty="0">
                <a:solidFill>
                  <a:srgbClr val="FFFFFF"/>
                </a:solidFill>
                <a:latin typeface="Proxima Nova Bold" pitchFamily="34" charset="0"/>
                <a:ea typeface="Calibri" pitchFamily="34" charset="-122"/>
                <a:cs typeface="Calibri" pitchFamily="34" charset="-120"/>
              </a:rPr>
              <a:t>D365-Native</a:t>
            </a:r>
            <a:endParaRPr lang="en-US" sz="1400" dirty="0"/>
          </a:p>
        </p:txBody>
      </p:sp>
      <p:sp>
        <p:nvSpPr>
          <p:cNvPr id="11" name="Text 8"/>
          <p:cNvSpPr/>
          <p:nvPr/>
        </p:nvSpPr>
        <p:spPr>
          <a:xfrm>
            <a:off x="381000" y="1561304"/>
            <a:ext cx="3860800" cy="1041400"/>
          </a:xfrm>
          <a:prstGeom prst="rect">
            <a:avLst/>
          </a:prstGeom>
          <a:noFill/>
          <a:ln/>
        </p:spPr>
        <p:txBody>
          <a:bodyPr wrap="square" rtlCol="0" anchor="t"/>
          <a:lstStyle/>
          <a:p>
            <a:pPr marL="0" indent="0">
              <a:lnSpc>
                <a:spcPct val="135000"/>
              </a:lnSpc>
              <a:buNone/>
            </a:pPr>
            <a:r>
              <a:rPr lang="en-US" sz="1350" dirty="0">
                <a:solidFill>
                  <a:srgbClr val="474747"/>
                </a:solidFill>
                <a:latin typeface="Proxima Nova"/>
              </a:rPr>
              <a:t>Connects directly to your existing D365 environment. No redundant data warehouse, no additional cloud hops, no new infrastructure burden for your IT team.</a:t>
            </a:r>
            <a:endParaRPr lang="en-US" sz="1350" dirty="0"/>
          </a:p>
        </p:txBody>
      </p:sp>
      <p:sp>
        <p:nvSpPr>
          <p:cNvPr id="12" name="Shape 9"/>
          <p:cNvSpPr/>
          <p:nvPr/>
        </p:nvSpPr>
        <p:spPr>
          <a:xfrm>
            <a:off x="4749800" y="889000"/>
            <a:ext cx="4165600" cy="1879600"/>
          </a:xfrm>
          <a:prstGeom prst="rect">
            <a:avLst/>
          </a:prstGeom>
          <a:solidFill>
            <a:srgbClr val="E3E8EE"/>
          </a:solidFill>
          <a:ln/>
          <a:effectLst>
            <a:outerShdw blurRad="101600" dist="25400" dir="8100000" algn="bl" rotWithShape="0">
              <a:srgbClr val="000000">
                <a:alpha val="9000"/>
              </a:srgbClr>
            </a:outerShdw>
          </a:effectLst>
        </p:spPr>
        <p:txBody>
          <a:bodyPr/>
          <a:lstStyle/>
          <a:p>
            <a:endParaRPr lang="en-US"/>
          </a:p>
        </p:txBody>
      </p:sp>
      <p:sp>
        <p:nvSpPr>
          <p:cNvPr id="13" name="Shape 10"/>
          <p:cNvSpPr/>
          <p:nvPr/>
        </p:nvSpPr>
        <p:spPr>
          <a:xfrm>
            <a:off x="4749800" y="889000"/>
            <a:ext cx="4165600" cy="635000"/>
          </a:xfrm>
          <a:prstGeom prst="rect">
            <a:avLst/>
          </a:prstGeom>
          <a:solidFill>
            <a:srgbClr val="3C475C"/>
          </a:solidFill>
          <a:ln w="12700">
            <a:solidFill>
              <a:schemeClr val="tx1"/>
            </a:solidFill>
            <a:prstDash val="solid"/>
          </a:ln>
        </p:spPr>
        <p:txBody>
          <a:bodyPr/>
          <a:lstStyle/>
          <a:p>
            <a:endParaRPr lang="en-US"/>
          </a:p>
        </p:txBody>
      </p:sp>
      <p:sp>
        <p:nvSpPr>
          <p:cNvPr id="14" name="Shape 11"/>
          <p:cNvSpPr/>
          <p:nvPr/>
        </p:nvSpPr>
        <p:spPr>
          <a:xfrm>
            <a:off x="4876800" y="1016000"/>
            <a:ext cx="381000" cy="381000"/>
          </a:xfrm>
          <a:prstGeom prst="ellipse">
            <a:avLst/>
          </a:prstGeom>
          <a:solidFill>
            <a:srgbClr val="DB716C"/>
          </a:solidFill>
          <a:ln w="12700">
            <a:solidFill>
              <a:schemeClr val="accent2"/>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4930776" y="1062832"/>
            <a:ext cx="273050" cy="273050"/>
          </a:xfrm>
          <a:prstGeom prst="rect">
            <a:avLst/>
          </a:prstGeom>
        </p:spPr>
      </p:pic>
      <p:sp>
        <p:nvSpPr>
          <p:cNvPr id="16" name="Text 12"/>
          <p:cNvSpPr/>
          <p:nvPr/>
        </p:nvSpPr>
        <p:spPr>
          <a:xfrm>
            <a:off x="5359400" y="1041400"/>
            <a:ext cx="3429000" cy="355600"/>
          </a:xfrm>
          <a:prstGeom prst="rect">
            <a:avLst/>
          </a:prstGeom>
          <a:noFill/>
          <a:ln/>
        </p:spPr>
        <p:txBody>
          <a:bodyPr wrap="square" rtlCol="0" anchor="ctr"/>
          <a:lstStyle/>
          <a:p>
            <a:pPr marL="0" indent="0">
              <a:buNone/>
            </a:pPr>
            <a:r>
              <a:rPr lang="en-US" sz="1500" b="1" dirty="0">
                <a:solidFill>
                  <a:srgbClr val="FFFFFF"/>
                </a:solidFill>
                <a:latin typeface="Proxima Nova Bold" pitchFamily="34" charset="0"/>
                <a:ea typeface="Calibri" pitchFamily="34" charset="-122"/>
                <a:cs typeface="Calibri" pitchFamily="34" charset="-120"/>
              </a:rPr>
              <a:t>You Own the Code</a:t>
            </a:r>
            <a:endParaRPr lang="en-US" sz="1400" dirty="0"/>
          </a:p>
        </p:txBody>
      </p:sp>
      <p:sp>
        <p:nvSpPr>
          <p:cNvPr id="17" name="Text 13"/>
          <p:cNvSpPr/>
          <p:nvPr/>
        </p:nvSpPr>
        <p:spPr>
          <a:xfrm>
            <a:off x="4902200" y="1561304"/>
            <a:ext cx="3860800" cy="1041400"/>
          </a:xfrm>
          <a:prstGeom prst="rect">
            <a:avLst/>
          </a:prstGeom>
          <a:noFill/>
          <a:ln/>
        </p:spPr>
        <p:txBody>
          <a:bodyPr wrap="square" rtlCol="0" anchor="t"/>
          <a:lstStyle/>
          <a:p>
            <a:pPr marL="0" indent="0">
              <a:lnSpc>
                <a:spcPct val="135000"/>
              </a:lnSpc>
              <a:buNone/>
            </a:pPr>
            <a:r>
              <a:rPr lang="en-US" sz="1350" dirty="0">
                <a:solidFill>
                  <a:srgbClr val="474747"/>
                </a:solidFill>
                <a:latin typeface="Proxima Nova"/>
              </a:rPr>
              <a:t>Deployed in your environment, not ours. When the engagement is complete, the software belongs to Mattress Firm. This is not a SaaS subscription you rent and return.</a:t>
            </a:r>
            <a:endParaRPr lang="en-US" sz="1350" dirty="0"/>
          </a:p>
        </p:txBody>
      </p:sp>
      <p:sp>
        <p:nvSpPr>
          <p:cNvPr id="18" name="Shape 14"/>
          <p:cNvSpPr/>
          <p:nvPr/>
        </p:nvSpPr>
        <p:spPr>
          <a:xfrm>
            <a:off x="228600" y="2870200"/>
            <a:ext cx="4165600" cy="1879600"/>
          </a:xfrm>
          <a:prstGeom prst="rect">
            <a:avLst/>
          </a:prstGeom>
          <a:solidFill>
            <a:srgbClr val="E3E8EE"/>
          </a:solidFill>
          <a:ln/>
          <a:effectLst>
            <a:outerShdw blurRad="101600" dist="25400" dir="8100000" algn="bl" rotWithShape="0">
              <a:srgbClr val="000000">
                <a:alpha val="9000"/>
              </a:srgbClr>
            </a:outerShdw>
          </a:effectLst>
        </p:spPr>
        <p:txBody>
          <a:bodyPr/>
          <a:lstStyle/>
          <a:p>
            <a:endParaRPr lang="en-US"/>
          </a:p>
        </p:txBody>
      </p:sp>
      <p:sp>
        <p:nvSpPr>
          <p:cNvPr id="19" name="Shape 15"/>
          <p:cNvSpPr/>
          <p:nvPr/>
        </p:nvSpPr>
        <p:spPr>
          <a:xfrm>
            <a:off x="228600" y="2870200"/>
            <a:ext cx="4165600" cy="635000"/>
          </a:xfrm>
          <a:prstGeom prst="rect">
            <a:avLst/>
          </a:prstGeom>
          <a:solidFill>
            <a:srgbClr val="3C475C"/>
          </a:solidFill>
          <a:ln w="12700">
            <a:solidFill>
              <a:schemeClr val="tx1"/>
            </a:solidFill>
            <a:prstDash val="solid"/>
          </a:ln>
        </p:spPr>
        <p:txBody>
          <a:bodyPr/>
          <a:lstStyle/>
          <a:p>
            <a:endParaRPr lang="en-US"/>
          </a:p>
        </p:txBody>
      </p:sp>
      <p:sp>
        <p:nvSpPr>
          <p:cNvPr id="20" name="Shape 16"/>
          <p:cNvSpPr/>
          <p:nvPr/>
        </p:nvSpPr>
        <p:spPr>
          <a:xfrm>
            <a:off x="355600" y="2997200"/>
            <a:ext cx="381000" cy="381000"/>
          </a:xfrm>
          <a:prstGeom prst="ellipse">
            <a:avLst/>
          </a:prstGeom>
          <a:solidFill>
            <a:srgbClr val="DB716C"/>
          </a:solidFill>
          <a:ln w="12700">
            <a:solidFill>
              <a:schemeClr val="accent2"/>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381000" y="3022600"/>
            <a:ext cx="326232" cy="326232"/>
          </a:xfrm>
          <a:prstGeom prst="rect">
            <a:avLst/>
          </a:prstGeom>
        </p:spPr>
      </p:pic>
      <p:sp>
        <p:nvSpPr>
          <p:cNvPr id="22" name="Text 17"/>
          <p:cNvSpPr/>
          <p:nvPr/>
        </p:nvSpPr>
        <p:spPr>
          <a:xfrm>
            <a:off x="838200" y="3022600"/>
            <a:ext cx="3429000" cy="355600"/>
          </a:xfrm>
          <a:prstGeom prst="rect">
            <a:avLst/>
          </a:prstGeom>
          <a:noFill/>
          <a:ln/>
        </p:spPr>
        <p:txBody>
          <a:bodyPr wrap="square" rtlCol="0" anchor="ctr"/>
          <a:lstStyle/>
          <a:p>
            <a:pPr marL="0" indent="0">
              <a:buNone/>
            </a:pPr>
            <a:r>
              <a:rPr lang="en-US" sz="1500" b="1" dirty="0">
                <a:solidFill>
                  <a:srgbClr val="FFFFFF"/>
                </a:solidFill>
                <a:latin typeface="Proxima Nova Bold" pitchFamily="34" charset="0"/>
                <a:ea typeface="Calibri" pitchFamily="34" charset="-122"/>
                <a:cs typeface="Calibri" pitchFamily="34" charset="-120"/>
              </a:rPr>
              <a:t>Governance First</a:t>
            </a:r>
            <a:endParaRPr lang="en-US" sz="1400" dirty="0"/>
          </a:p>
        </p:txBody>
      </p:sp>
      <p:sp>
        <p:nvSpPr>
          <p:cNvPr id="23" name="Text 18"/>
          <p:cNvSpPr/>
          <p:nvPr/>
        </p:nvSpPr>
        <p:spPr>
          <a:xfrm>
            <a:off x="381000" y="3542504"/>
            <a:ext cx="3860800" cy="1041400"/>
          </a:xfrm>
          <a:prstGeom prst="rect">
            <a:avLst/>
          </a:prstGeom>
          <a:noFill/>
          <a:ln/>
        </p:spPr>
        <p:txBody>
          <a:bodyPr wrap="square" rtlCol="0" anchor="t"/>
          <a:lstStyle/>
          <a:p>
            <a:pPr marL="0" indent="0">
              <a:lnSpc>
                <a:spcPct val="135000"/>
              </a:lnSpc>
              <a:buNone/>
            </a:pPr>
            <a:r>
              <a:rPr lang="en-US" sz="1350" dirty="0">
                <a:solidFill>
                  <a:srgbClr val="474747"/>
                </a:solidFill>
                <a:latin typeface="Proxima Nova"/>
              </a:rPr>
              <a:t>Every AI action is logged, auditable, and policy-gated. No hallucination risk. Built for enterprise scrutiny — not a research project bolted onto a product.</a:t>
            </a:r>
            <a:endParaRPr lang="en-US" sz="1350" dirty="0"/>
          </a:p>
        </p:txBody>
      </p:sp>
      <p:sp>
        <p:nvSpPr>
          <p:cNvPr id="24" name="Shape 19"/>
          <p:cNvSpPr/>
          <p:nvPr/>
        </p:nvSpPr>
        <p:spPr>
          <a:xfrm>
            <a:off x="4749800" y="2870200"/>
            <a:ext cx="4165600" cy="1879600"/>
          </a:xfrm>
          <a:prstGeom prst="rect">
            <a:avLst/>
          </a:prstGeom>
          <a:solidFill>
            <a:srgbClr val="E3E8EE"/>
          </a:solidFill>
          <a:ln/>
          <a:effectLst>
            <a:outerShdw blurRad="101600" dist="25400" dir="8100000" algn="bl" rotWithShape="0">
              <a:srgbClr val="000000">
                <a:alpha val="9000"/>
              </a:srgbClr>
            </a:outerShdw>
          </a:effectLst>
        </p:spPr>
        <p:txBody>
          <a:bodyPr/>
          <a:lstStyle/>
          <a:p>
            <a:endParaRPr lang="en-US"/>
          </a:p>
        </p:txBody>
      </p:sp>
      <p:sp>
        <p:nvSpPr>
          <p:cNvPr id="25" name="Shape 20"/>
          <p:cNvSpPr/>
          <p:nvPr/>
        </p:nvSpPr>
        <p:spPr>
          <a:xfrm>
            <a:off x="4749800" y="2870200"/>
            <a:ext cx="4165600" cy="635000"/>
          </a:xfrm>
          <a:prstGeom prst="rect">
            <a:avLst/>
          </a:prstGeom>
          <a:solidFill>
            <a:srgbClr val="3C475C"/>
          </a:solidFill>
          <a:ln w="12700">
            <a:solidFill>
              <a:schemeClr val="tx1"/>
            </a:solidFill>
            <a:prstDash val="solid"/>
          </a:ln>
        </p:spPr>
        <p:txBody>
          <a:bodyPr/>
          <a:lstStyle/>
          <a:p>
            <a:endParaRPr lang="en-US"/>
          </a:p>
        </p:txBody>
      </p:sp>
      <p:sp>
        <p:nvSpPr>
          <p:cNvPr id="26" name="Shape 21"/>
          <p:cNvSpPr/>
          <p:nvPr/>
        </p:nvSpPr>
        <p:spPr>
          <a:xfrm>
            <a:off x="4876800" y="2997200"/>
            <a:ext cx="381000" cy="381000"/>
          </a:xfrm>
          <a:prstGeom prst="ellipse">
            <a:avLst/>
          </a:prstGeom>
          <a:solidFill>
            <a:srgbClr val="DB716C"/>
          </a:solidFill>
          <a:ln w="12700">
            <a:solidFill>
              <a:schemeClr val="accent2"/>
            </a:solidFill>
            <a:prstDash val="solid"/>
          </a:ln>
        </p:spPr>
        <p:txBody>
          <a:bodyPr/>
          <a:lstStyle/>
          <a:p>
            <a:endParaRPr lang="en-US"/>
          </a:p>
        </p:txBody>
      </p:sp>
      <p:pic>
        <p:nvPicPr>
          <p:cNvPr id="27" name="Image 3" descr="preencoded.png"/>
          <p:cNvPicPr>
            <a:picLocks noChangeAspect="1"/>
          </p:cNvPicPr>
          <p:nvPr/>
        </p:nvPicPr>
        <p:blipFill>
          <a:blip r:embed="rId6"/>
          <a:stretch>
            <a:fillRect/>
          </a:stretch>
        </p:blipFill>
        <p:spPr>
          <a:xfrm>
            <a:off x="4905376" y="3086100"/>
            <a:ext cx="269876" cy="269876"/>
          </a:xfrm>
          <a:prstGeom prst="rect">
            <a:avLst/>
          </a:prstGeom>
        </p:spPr>
      </p:pic>
      <p:sp>
        <p:nvSpPr>
          <p:cNvPr id="28" name="Text 22"/>
          <p:cNvSpPr/>
          <p:nvPr/>
        </p:nvSpPr>
        <p:spPr>
          <a:xfrm>
            <a:off x="5359400" y="3022600"/>
            <a:ext cx="3429000" cy="355600"/>
          </a:xfrm>
          <a:prstGeom prst="rect">
            <a:avLst/>
          </a:prstGeom>
          <a:noFill/>
          <a:ln/>
        </p:spPr>
        <p:txBody>
          <a:bodyPr wrap="square" rtlCol="0" anchor="ctr"/>
          <a:lstStyle/>
          <a:p>
            <a:pPr marL="0" indent="0">
              <a:buNone/>
            </a:pPr>
            <a:r>
              <a:rPr lang="en-US" sz="1500" b="1" dirty="0">
                <a:solidFill>
                  <a:srgbClr val="FFFFFF"/>
                </a:solidFill>
                <a:latin typeface="Proxima Nova Bold" pitchFamily="34" charset="0"/>
                <a:ea typeface="Calibri" pitchFamily="34" charset="-122"/>
                <a:cs typeface="Calibri" pitchFamily="34" charset="-120"/>
              </a:rPr>
              <a:t>Agile Delivery</a:t>
            </a:r>
            <a:endParaRPr lang="en-US" sz="1400" dirty="0"/>
          </a:p>
        </p:txBody>
      </p:sp>
      <p:sp>
        <p:nvSpPr>
          <p:cNvPr id="29" name="Text 23"/>
          <p:cNvSpPr/>
          <p:nvPr/>
        </p:nvSpPr>
        <p:spPr>
          <a:xfrm>
            <a:off x="4902200" y="3542504"/>
            <a:ext cx="3860800" cy="1041400"/>
          </a:xfrm>
          <a:prstGeom prst="rect">
            <a:avLst/>
          </a:prstGeom>
          <a:noFill/>
          <a:ln/>
        </p:spPr>
        <p:txBody>
          <a:bodyPr wrap="square" rtlCol="0" anchor="t"/>
          <a:lstStyle/>
          <a:p>
            <a:pPr marL="0" indent="0">
              <a:lnSpc>
                <a:spcPct val="135000"/>
              </a:lnSpc>
              <a:buNone/>
            </a:pPr>
            <a:r>
              <a:rPr lang="en-US" sz="1350" dirty="0">
                <a:solidFill>
                  <a:srgbClr val="474747"/>
                </a:solidFill>
                <a:latin typeface="Proxima Nova"/>
              </a:rPr>
              <a:t>Rally → working prototype → test → iterate. Smaller implementation timeframes. Our delivery model was designed for organizations that can't afford to wait 12 months for a proof point.</a:t>
            </a:r>
            <a:endParaRPr lang="en-US" sz="1350" dirty="0"/>
          </a:p>
        </p:txBody>
      </p:sp>
      <p:sp>
        <p:nvSpPr>
          <p:cNvPr id="30" name="Shape 24"/>
          <p:cNvSpPr/>
          <p:nvPr/>
        </p:nvSpPr>
        <p:spPr>
          <a:xfrm>
            <a:off x="0" y="4892040"/>
            <a:ext cx="9144000" cy="251460"/>
          </a:xfrm>
          <a:prstGeom prst="rect">
            <a:avLst/>
          </a:prstGeom>
          <a:solidFill>
            <a:srgbClr val="3C475C"/>
          </a:solidFill>
          <a:ln w="12700">
            <a:solidFill>
              <a:srgbClr val="0F2B5B"/>
            </a:solidFill>
            <a:prstDash val="solid"/>
          </a:ln>
        </p:spPr>
        <p:txBody>
          <a:bodyPr/>
          <a:lstStyle/>
          <a:p>
            <a:endParaRPr lang="en-US"/>
          </a:p>
        </p:txBody>
      </p:sp>
      <p:sp>
        <p:nvSpPr>
          <p:cNvPr id="31" name="Text 25"/>
          <p:cNvSpPr/>
          <p:nvPr/>
        </p:nvSpPr>
        <p:spPr>
          <a:xfrm>
            <a:off x="0" y="4914900"/>
            <a:ext cx="9144000" cy="203200"/>
          </a:xfrm>
          <a:prstGeom prst="rect">
            <a:avLst/>
          </a:prstGeom>
          <a:noFill/>
          <a:ln/>
        </p:spPr>
        <p:txBody>
          <a:bodyPr wrap="square" lIns="0" tIns="0" rIns="0" bIns="0" rtlCol="0" anchor="ctr"/>
          <a:lstStyle/>
          <a:p>
            <a:pPr algn="ctr">
              <a:buNone/>
            </a:pPr>
            <a:r>
              <a:rPr lang="en-US" sz="1000" dirty="0">
                <a:solidFill>
                  <a:srgbClr val="B9C5D3"/>
                </a:solidFill>
                <a:latin typeface="Proxima Nova"/>
              </a:rPr>
              <a:t>Confidential and Proprietary - The Blue Horizons Group LLC</a:t>
            </a:r>
          </a:p>
        </p:txBody>
      </p:sp>
      <p:sp>
        <p:nvSpPr>
          <p:cNvPr id="32" name="Text 26"/>
          <p:cNvSpPr/>
          <p:nvPr/>
        </p:nvSpPr>
        <p:spPr>
          <a:xfrm>
            <a:off x="6400800" y="4901184"/>
            <a:ext cx="2423160" cy="201168"/>
          </a:xfrm>
          <a:prstGeom prst="rect">
            <a:avLst/>
          </a:prstGeom>
          <a:noFill/>
          <a:ln/>
        </p:spPr>
        <p:txBody>
          <a:bodyPr wrap="square" lIns="0" tIns="0" rIns="0" bIns="0" rtlCol="0" anchor="ctr"/>
          <a:lstStyle/>
          <a:p>
            <a:pPr marL="0" indent="0" algn="r">
              <a:buNone/>
            </a:pPr>
            <a:r>
              <a:rPr lang="en-US" sz="1000">
                <a:solidFill>
                  <a:srgbClr val="B9C5D3"/>
                </a:solidFill>
                <a:latin typeface="Proxima Nova"/>
              </a:rPr>
              <a:t>Confidential  ·  March 16, 2026</a:t>
            </a:r>
            <a:endParaRPr lang="en-US" sz="800" dirty="0"/>
          </a:p>
        </p:txBody>
      </p:sp>
    </p:spTree>
    <p:extLst>
      <p:ext uri="{BB962C8B-B14F-4D97-AF65-F5344CB8AC3E}">
        <p14:creationId xmlns:p14="http://schemas.microsoft.com/office/powerpoint/2010/main" val="3177352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9144000" cy="73152"/>
          </a:xfrm>
          <a:prstGeom prst="rect">
            <a:avLst/>
          </a:prstGeom>
          <a:solidFill>
            <a:schemeClr val="tx1"/>
          </a:solidFill>
          <a:ln w="12700">
            <a:solidFill>
              <a:schemeClr val="accent2"/>
            </a:solidFill>
            <a:prstDash val="solid"/>
          </a:ln>
        </p:spPr>
        <p:txBody>
          <a:bodyPr/>
          <a:lstStyle/>
          <a:p>
            <a:endParaRPr lang="en-US"/>
          </a:p>
        </p:txBody>
      </p:sp>
      <p:sp>
        <p:nvSpPr>
          <p:cNvPr id="4" name="Text 2"/>
          <p:cNvSpPr/>
          <p:nvPr/>
        </p:nvSpPr>
        <p:spPr>
          <a:xfrm>
            <a:off x="502920" y="49812"/>
            <a:ext cx="8229600" cy="530352"/>
          </a:xfrm>
          <a:prstGeom prst="rect">
            <a:avLst/>
          </a:prstGeom>
          <a:noFill/>
          <a:ln/>
        </p:spPr>
        <p:txBody>
          <a:bodyPr wrap="square" rtlCol="0" anchor="ctr"/>
          <a:lstStyle/>
          <a:p>
            <a:pPr marL="0" indent="0">
              <a:buNone/>
            </a:pPr>
            <a:r>
              <a:rPr lang="en-US" sz="2600" b="1" dirty="0">
                <a:solidFill>
                  <a:srgbClr val="3C475C"/>
                </a:solidFill>
                <a:latin typeface="Proxima Nova Bold" pitchFamily="34" charset="0"/>
                <a:ea typeface="Calibri" pitchFamily="34" charset="-122"/>
                <a:cs typeface="Calibri" pitchFamily="34" charset="-120"/>
              </a:rPr>
              <a:t>The Team Behind It</a:t>
            </a:r>
            <a:endParaRPr lang="en-US" sz="2600" dirty="0"/>
          </a:p>
        </p:txBody>
      </p:sp>
      <p:sp>
        <p:nvSpPr>
          <p:cNvPr id="5" name="Text 3"/>
          <p:cNvSpPr/>
          <p:nvPr/>
        </p:nvSpPr>
        <p:spPr>
          <a:xfrm>
            <a:off x="502920" y="512486"/>
            <a:ext cx="8229600" cy="292608"/>
          </a:xfrm>
          <a:prstGeom prst="rect">
            <a:avLst/>
          </a:prstGeom>
          <a:noFill/>
          <a:ln/>
        </p:spPr>
        <p:txBody>
          <a:bodyPr wrap="square" rtlCol="0" anchor="ctr"/>
          <a:lstStyle/>
          <a:p>
            <a:pPr marL="0" indent="0">
              <a:buNone/>
            </a:pPr>
            <a:r>
              <a:rPr lang="en-US" sz="1300" i="1" dirty="0">
                <a:solidFill>
                  <a:srgbClr val="718AA8"/>
                </a:solidFill>
                <a:latin typeface="Proxima Nova"/>
              </a:rPr>
              <a:t>We've lived this. So has the platform.</a:t>
            </a:r>
            <a:endParaRPr lang="en-US" sz="1300" dirty="0"/>
          </a:p>
        </p:txBody>
      </p:sp>
      <p:sp>
        <p:nvSpPr>
          <p:cNvPr id="6" name="Shape 4"/>
          <p:cNvSpPr/>
          <p:nvPr/>
        </p:nvSpPr>
        <p:spPr>
          <a:xfrm>
            <a:off x="342900" y="1066800"/>
            <a:ext cx="2743200" cy="3683000"/>
          </a:xfrm>
          <a:prstGeom prst="rect">
            <a:avLst/>
          </a:prstGeom>
          <a:solidFill>
            <a:srgbClr val="E3E8EE"/>
          </a:solidFill>
          <a:ln/>
          <a:effectLst>
            <a:outerShdw blurRad="101600" dist="38100" dir="8100000" algn="bl" rotWithShape="0">
              <a:srgbClr val="000000">
                <a:alpha val="30000"/>
              </a:srgbClr>
            </a:outerShdw>
          </a:effectLst>
        </p:spPr>
        <p:txBody>
          <a:bodyPr/>
          <a:lstStyle/>
          <a:p>
            <a:endParaRPr lang="en-US"/>
          </a:p>
        </p:txBody>
      </p:sp>
      <p:sp>
        <p:nvSpPr>
          <p:cNvPr id="7" name="Shape 5"/>
          <p:cNvSpPr/>
          <p:nvPr/>
        </p:nvSpPr>
        <p:spPr>
          <a:xfrm>
            <a:off x="342900" y="1066800"/>
            <a:ext cx="2743200" cy="50800"/>
          </a:xfrm>
          <a:prstGeom prst="rect">
            <a:avLst/>
          </a:prstGeom>
          <a:solidFill>
            <a:schemeClr val="tx1"/>
          </a:solidFill>
          <a:ln w="12700">
            <a:solidFill>
              <a:schemeClr val="tx1"/>
            </a:solidFill>
            <a:prstDash val="solid"/>
          </a:ln>
        </p:spPr>
        <p:txBody>
          <a:bodyPr/>
          <a:lstStyle/>
          <a:p>
            <a:endParaRPr lang="en-US"/>
          </a:p>
        </p:txBody>
      </p:sp>
      <p:sp>
        <p:nvSpPr>
          <p:cNvPr id="8" name="Shape 6"/>
          <p:cNvSpPr/>
          <p:nvPr/>
        </p:nvSpPr>
        <p:spPr>
          <a:xfrm>
            <a:off x="495300" y="1168400"/>
            <a:ext cx="1371600" cy="279400"/>
          </a:xfrm>
          <a:prstGeom prst="rect">
            <a:avLst/>
          </a:prstGeom>
          <a:solidFill>
            <a:srgbClr val="DB716C"/>
          </a:solidFill>
          <a:ln w="12700">
            <a:solidFill>
              <a:schemeClr val="tx2"/>
            </a:solidFill>
            <a:prstDash val="solid"/>
          </a:ln>
        </p:spPr>
        <p:txBody>
          <a:bodyPr/>
          <a:lstStyle/>
          <a:p>
            <a:endParaRPr lang="en-US"/>
          </a:p>
        </p:txBody>
      </p:sp>
      <p:sp>
        <p:nvSpPr>
          <p:cNvPr id="9" name="Text 7"/>
          <p:cNvSpPr/>
          <p:nvPr/>
        </p:nvSpPr>
        <p:spPr>
          <a:xfrm>
            <a:off x="495300" y="1168400"/>
            <a:ext cx="1371600" cy="279400"/>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Proxima Nova Bold"/>
              </a:rPr>
              <a:t>ADVISORY</a:t>
            </a:r>
            <a:endParaRPr lang="en-US" sz="800" dirty="0"/>
          </a:p>
        </p:txBody>
      </p:sp>
      <p:sp>
        <p:nvSpPr>
          <p:cNvPr id="10" name="Text 8"/>
          <p:cNvSpPr/>
          <p:nvPr/>
        </p:nvSpPr>
        <p:spPr>
          <a:xfrm>
            <a:off x="495300" y="1498600"/>
            <a:ext cx="2438400" cy="304800"/>
          </a:xfrm>
          <a:prstGeom prst="rect">
            <a:avLst/>
          </a:prstGeom>
          <a:noFill/>
          <a:ln/>
        </p:spPr>
        <p:txBody>
          <a:bodyPr wrap="square" rtlCol="0" anchor="ctr"/>
          <a:lstStyle/>
          <a:p>
            <a:pPr marL="0" indent="0">
              <a:lnSpc>
                <a:spcPct val="120000"/>
              </a:lnSpc>
              <a:buNone/>
            </a:pPr>
            <a:r>
              <a:rPr lang="en-US" sz="1600" b="1" dirty="0">
                <a:solidFill>
                  <a:srgbClr val="3C475C"/>
                </a:solidFill>
                <a:latin typeface="Proxima Nova Bold" pitchFamily="34" charset="0"/>
                <a:ea typeface="Calibri" pitchFamily="34" charset="-122"/>
                <a:cs typeface="Calibri" pitchFamily="34" charset="-120"/>
              </a:rPr>
              <a:t>Blue Horizons Group</a:t>
            </a:r>
            <a:endParaRPr lang="en-US" sz="1400" dirty="0"/>
          </a:p>
        </p:txBody>
      </p:sp>
      <p:sp>
        <p:nvSpPr>
          <p:cNvPr id="11" name="Text 9"/>
          <p:cNvSpPr/>
          <p:nvPr/>
        </p:nvSpPr>
        <p:spPr>
          <a:xfrm>
            <a:off x="342900" y="1818480"/>
            <a:ext cx="2743200" cy="1498600"/>
          </a:xfrm>
          <a:prstGeom prst="rect">
            <a:avLst/>
          </a:prstGeom>
          <a:noFill/>
          <a:ln/>
        </p:spPr>
        <p:txBody>
          <a:bodyPr wrap="square" rtlCol="0" anchor="t"/>
          <a:lstStyle/>
          <a:p>
            <a:pPr marL="0" indent="0">
              <a:lnSpc>
                <a:spcPct val="114000"/>
              </a:lnSpc>
              <a:buNone/>
            </a:pPr>
            <a:r>
              <a:rPr lang="en-US" sz="1200" dirty="0">
                <a:solidFill>
                  <a:srgbClr val="474747"/>
                </a:solidFill>
                <a:latin typeface="Proxima Nova"/>
              </a:rPr>
              <a:t>BHG brings decades of hands-on Revenue Operations advisory work across some of the most complex enterprise environments in the country. We've designed comp plans, implemented systems, and lived the pain of fragmented data. We're not observers of this problem — we've been solving it for clients for years.</a:t>
            </a:r>
            <a:endParaRPr lang="en-US" sz="900" dirty="0"/>
          </a:p>
        </p:txBody>
      </p:sp>
      <p:sp>
        <p:nvSpPr>
          <p:cNvPr id="12" name="Shape 10"/>
          <p:cNvSpPr/>
          <p:nvPr/>
        </p:nvSpPr>
        <p:spPr>
          <a:xfrm>
            <a:off x="495300" y="4020352"/>
            <a:ext cx="2438400" cy="0"/>
          </a:xfrm>
          <a:prstGeom prst="line">
            <a:avLst/>
          </a:prstGeom>
          <a:noFill/>
          <a:ln w="10160">
            <a:solidFill>
              <a:schemeClr val="tx1"/>
            </a:solidFill>
            <a:prstDash val="solid"/>
          </a:ln>
        </p:spPr>
        <p:txBody>
          <a:bodyPr/>
          <a:lstStyle/>
          <a:p>
            <a:endParaRPr lang="en-US"/>
          </a:p>
        </p:txBody>
      </p:sp>
      <p:sp>
        <p:nvSpPr>
          <p:cNvPr id="13" name="Text 11"/>
          <p:cNvSpPr/>
          <p:nvPr/>
        </p:nvSpPr>
        <p:spPr>
          <a:xfrm>
            <a:off x="353568" y="4099725"/>
            <a:ext cx="2732532" cy="609600"/>
          </a:xfrm>
          <a:prstGeom prst="rect">
            <a:avLst/>
          </a:prstGeom>
          <a:noFill/>
          <a:ln/>
        </p:spPr>
        <p:txBody>
          <a:bodyPr wrap="square" rtlCol="0" anchor="t"/>
          <a:lstStyle/>
          <a:p>
            <a:pPr marL="0" indent="0">
              <a:lnSpc>
                <a:spcPct val="114000"/>
              </a:lnSpc>
              <a:buNone/>
            </a:pPr>
            <a:r>
              <a:rPr lang="en-US" sz="1200" b="1" i="1" dirty="0">
                <a:solidFill>
                  <a:srgbClr val="DB716C"/>
                </a:solidFill>
                <a:latin typeface="Proxima Nova Bold"/>
              </a:rPr>
              <a:t>Active enterprise delivery partner — Varicent, Xactly, and more</a:t>
            </a:r>
            <a:endParaRPr lang="en-US" sz="800" dirty="0"/>
          </a:p>
        </p:txBody>
      </p:sp>
      <p:sp>
        <p:nvSpPr>
          <p:cNvPr id="14" name="Shape 12"/>
          <p:cNvSpPr/>
          <p:nvPr/>
        </p:nvSpPr>
        <p:spPr>
          <a:xfrm>
            <a:off x="3276600" y="1066800"/>
            <a:ext cx="2743200" cy="3683000"/>
          </a:xfrm>
          <a:prstGeom prst="rect">
            <a:avLst/>
          </a:prstGeom>
          <a:solidFill>
            <a:srgbClr val="E3E8EE"/>
          </a:solidFill>
          <a:ln/>
          <a:effectLst>
            <a:outerShdw blurRad="101600" dist="38100" dir="8100000" algn="bl" rotWithShape="0">
              <a:srgbClr val="000000">
                <a:alpha val="30000"/>
              </a:srgbClr>
            </a:outerShdw>
          </a:effectLst>
        </p:spPr>
        <p:txBody>
          <a:bodyPr/>
          <a:lstStyle/>
          <a:p>
            <a:endParaRPr lang="en-US"/>
          </a:p>
        </p:txBody>
      </p:sp>
      <p:sp>
        <p:nvSpPr>
          <p:cNvPr id="15" name="Shape 13"/>
          <p:cNvSpPr/>
          <p:nvPr/>
        </p:nvSpPr>
        <p:spPr>
          <a:xfrm>
            <a:off x="3276600" y="1066800"/>
            <a:ext cx="2743200" cy="50800"/>
          </a:xfrm>
          <a:prstGeom prst="rect">
            <a:avLst/>
          </a:prstGeom>
          <a:solidFill>
            <a:schemeClr val="accent2"/>
          </a:solidFill>
          <a:ln w="12700">
            <a:solidFill>
              <a:schemeClr val="accent2"/>
            </a:solidFill>
            <a:prstDash val="solid"/>
          </a:ln>
        </p:spPr>
        <p:txBody>
          <a:bodyPr/>
          <a:lstStyle/>
          <a:p>
            <a:endParaRPr lang="en-US"/>
          </a:p>
        </p:txBody>
      </p:sp>
      <p:sp>
        <p:nvSpPr>
          <p:cNvPr id="16" name="Shape 14"/>
          <p:cNvSpPr/>
          <p:nvPr/>
        </p:nvSpPr>
        <p:spPr>
          <a:xfrm>
            <a:off x="3429000" y="1168400"/>
            <a:ext cx="1371600" cy="279400"/>
          </a:xfrm>
          <a:prstGeom prst="rect">
            <a:avLst/>
          </a:prstGeom>
          <a:solidFill>
            <a:srgbClr val="DB716C"/>
          </a:solidFill>
          <a:ln w="12700">
            <a:solidFill>
              <a:schemeClr val="tx2"/>
            </a:solidFill>
            <a:prstDash val="solid"/>
          </a:ln>
        </p:spPr>
        <p:txBody>
          <a:bodyPr/>
          <a:lstStyle/>
          <a:p>
            <a:endParaRPr lang="en-US"/>
          </a:p>
        </p:txBody>
      </p:sp>
      <p:sp>
        <p:nvSpPr>
          <p:cNvPr id="17" name="Text 15"/>
          <p:cNvSpPr/>
          <p:nvPr/>
        </p:nvSpPr>
        <p:spPr>
          <a:xfrm>
            <a:off x="3429000" y="1168400"/>
            <a:ext cx="1371600" cy="279400"/>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Proxima Nova Bold"/>
              </a:rPr>
              <a:t>PLATFORM</a:t>
            </a:r>
            <a:endParaRPr lang="en-US" sz="800" dirty="0"/>
          </a:p>
        </p:txBody>
      </p:sp>
      <p:sp>
        <p:nvSpPr>
          <p:cNvPr id="18" name="Text 16"/>
          <p:cNvSpPr/>
          <p:nvPr/>
        </p:nvSpPr>
        <p:spPr>
          <a:xfrm>
            <a:off x="3429000" y="1498600"/>
            <a:ext cx="2438400" cy="304800"/>
          </a:xfrm>
          <a:prstGeom prst="rect">
            <a:avLst/>
          </a:prstGeom>
          <a:noFill/>
          <a:ln/>
        </p:spPr>
        <p:txBody>
          <a:bodyPr wrap="square" rtlCol="0" anchor="ctr"/>
          <a:lstStyle/>
          <a:p>
            <a:pPr marL="0" indent="0">
              <a:lnSpc>
                <a:spcPct val="120000"/>
              </a:lnSpc>
              <a:buNone/>
            </a:pPr>
            <a:r>
              <a:rPr lang="en-US" sz="1600" b="1" dirty="0">
                <a:solidFill>
                  <a:srgbClr val="3C475C"/>
                </a:solidFill>
                <a:latin typeface="Proxima Nova Bold" pitchFamily="34" charset="0"/>
                <a:ea typeface="Calibri" pitchFamily="34" charset="-122"/>
                <a:cs typeface="Calibri" pitchFamily="34" charset="-120"/>
              </a:rPr>
              <a:t>AI Code Rally</a:t>
            </a:r>
            <a:endParaRPr lang="en-US" sz="1400" dirty="0"/>
          </a:p>
        </p:txBody>
      </p:sp>
      <p:sp>
        <p:nvSpPr>
          <p:cNvPr id="19" name="Text 17"/>
          <p:cNvSpPr/>
          <p:nvPr/>
        </p:nvSpPr>
        <p:spPr>
          <a:xfrm>
            <a:off x="3276600" y="1818480"/>
            <a:ext cx="2743200" cy="1498600"/>
          </a:xfrm>
          <a:prstGeom prst="rect">
            <a:avLst/>
          </a:prstGeom>
          <a:noFill/>
          <a:ln/>
        </p:spPr>
        <p:txBody>
          <a:bodyPr wrap="square" rtlCol="0" anchor="t"/>
          <a:lstStyle/>
          <a:p>
            <a:pPr marL="0" indent="0">
              <a:lnSpc>
                <a:spcPct val="114000"/>
              </a:lnSpc>
              <a:buNone/>
            </a:pPr>
            <a:r>
              <a:rPr lang="en-US" sz="1200" dirty="0">
                <a:solidFill>
                  <a:srgbClr val="474747"/>
                </a:solidFill>
                <a:latin typeface="Proxima Nova"/>
              </a:rPr>
              <a:t>The technology layer powering Register is AICR's production-grade AI platform — already running in multiple live enterprise environments at 99.9% uptime. This is not a prototype or a research project. It's infrastructure that was built for exactly this kind of deployment: governed, auditable, and fast.</a:t>
            </a:r>
            <a:endParaRPr lang="en-US" sz="900" dirty="0"/>
          </a:p>
        </p:txBody>
      </p:sp>
      <p:sp>
        <p:nvSpPr>
          <p:cNvPr id="20" name="Shape 18"/>
          <p:cNvSpPr/>
          <p:nvPr/>
        </p:nvSpPr>
        <p:spPr>
          <a:xfrm>
            <a:off x="3429000" y="4020352"/>
            <a:ext cx="2438400" cy="0"/>
          </a:xfrm>
          <a:prstGeom prst="line">
            <a:avLst/>
          </a:prstGeom>
          <a:noFill/>
          <a:ln w="10160">
            <a:solidFill>
              <a:schemeClr val="tx1"/>
            </a:solidFill>
            <a:prstDash val="solid"/>
          </a:ln>
        </p:spPr>
        <p:txBody>
          <a:bodyPr/>
          <a:lstStyle/>
          <a:p>
            <a:endParaRPr lang="en-US"/>
          </a:p>
        </p:txBody>
      </p:sp>
      <p:sp>
        <p:nvSpPr>
          <p:cNvPr id="21" name="Text 19"/>
          <p:cNvSpPr/>
          <p:nvPr/>
        </p:nvSpPr>
        <p:spPr>
          <a:xfrm>
            <a:off x="3276598" y="4099725"/>
            <a:ext cx="2743200" cy="609600"/>
          </a:xfrm>
          <a:prstGeom prst="rect">
            <a:avLst/>
          </a:prstGeom>
          <a:noFill/>
          <a:ln/>
        </p:spPr>
        <p:txBody>
          <a:bodyPr wrap="square" rtlCol="0" anchor="t"/>
          <a:lstStyle/>
          <a:p>
            <a:pPr>
              <a:lnSpc>
                <a:spcPct val="114000"/>
              </a:lnSpc>
            </a:pPr>
            <a:r>
              <a:rPr lang="en-US" sz="1200" b="1" i="1" dirty="0">
                <a:solidFill>
                  <a:srgbClr val="DB716C"/>
                </a:solidFill>
                <a:latin typeface="Proxima Nova Bold"/>
              </a:rPr>
              <a:t xml:space="preserve">Agentic Engineered Framework · Built for the enterprise </a:t>
            </a:r>
            <a:endParaRPr lang="en-US" sz="800" dirty="0"/>
          </a:p>
        </p:txBody>
      </p:sp>
      <p:sp>
        <p:nvSpPr>
          <p:cNvPr id="22" name="Shape 20"/>
          <p:cNvSpPr/>
          <p:nvPr/>
        </p:nvSpPr>
        <p:spPr>
          <a:xfrm>
            <a:off x="6197600" y="1066800"/>
            <a:ext cx="2743200" cy="3683000"/>
          </a:xfrm>
          <a:prstGeom prst="rect">
            <a:avLst/>
          </a:prstGeom>
          <a:solidFill>
            <a:srgbClr val="E3E8EE"/>
          </a:solidFill>
          <a:ln/>
          <a:effectLst>
            <a:outerShdw blurRad="101600" dist="38100" dir="8100000" algn="bl" rotWithShape="0">
              <a:srgbClr val="000000">
                <a:alpha val="30000"/>
              </a:srgbClr>
            </a:outerShdw>
          </a:effectLst>
        </p:spPr>
        <p:txBody>
          <a:bodyPr/>
          <a:lstStyle/>
          <a:p>
            <a:endParaRPr lang="en-US"/>
          </a:p>
        </p:txBody>
      </p:sp>
      <p:sp>
        <p:nvSpPr>
          <p:cNvPr id="23" name="Shape 21"/>
          <p:cNvSpPr/>
          <p:nvPr/>
        </p:nvSpPr>
        <p:spPr>
          <a:xfrm>
            <a:off x="6197600" y="1066800"/>
            <a:ext cx="2743200" cy="50800"/>
          </a:xfrm>
          <a:prstGeom prst="rect">
            <a:avLst/>
          </a:prstGeom>
          <a:solidFill>
            <a:schemeClr val="accent3"/>
          </a:solidFill>
          <a:ln w="12700">
            <a:solidFill>
              <a:schemeClr val="accent3"/>
            </a:solidFill>
            <a:prstDash val="solid"/>
          </a:ln>
        </p:spPr>
        <p:txBody>
          <a:bodyPr/>
          <a:lstStyle/>
          <a:p>
            <a:endParaRPr lang="en-US"/>
          </a:p>
        </p:txBody>
      </p:sp>
      <p:sp>
        <p:nvSpPr>
          <p:cNvPr id="24" name="Shape 22"/>
          <p:cNvSpPr/>
          <p:nvPr/>
        </p:nvSpPr>
        <p:spPr>
          <a:xfrm>
            <a:off x="6350000" y="1168400"/>
            <a:ext cx="1371600" cy="279400"/>
          </a:xfrm>
          <a:prstGeom prst="rect">
            <a:avLst/>
          </a:prstGeom>
          <a:solidFill>
            <a:srgbClr val="DB716C"/>
          </a:solidFill>
          <a:ln w="12700">
            <a:solidFill>
              <a:schemeClr val="tx2"/>
            </a:solidFill>
            <a:prstDash val="solid"/>
          </a:ln>
        </p:spPr>
        <p:txBody>
          <a:bodyPr/>
          <a:lstStyle/>
          <a:p>
            <a:endParaRPr lang="en-US"/>
          </a:p>
        </p:txBody>
      </p:sp>
      <p:sp>
        <p:nvSpPr>
          <p:cNvPr id="25" name="Text 23"/>
          <p:cNvSpPr/>
          <p:nvPr/>
        </p:nvSpPr>
        <p:spPr>
          <a:xfrm>
            <a:off x="6350000" y="1168400"/>
            <a:ext cx="1371600" cy="279400"/>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Proxima Nova Bold"/>
              </a:rPr>
              <a:t>COMP ENGINE</a:t>
            </a:r>
            <a:endParaRPr lang="en-US" sz="800" dirty="0"/>
          </a:p>
        </p:txBody>
      </p:sp>
      <p:sp>
        <p:nvSpPr>
          <p:cNvPr id="26" name="Text 24"/>
          <p:cNvSpPr/>
          <p:nvPr/>
        </p:nvSpPr>
        <p:spPr>
          <a:xfrm>
            <a:off x="6350000" y="1498600"/>
            <a:ext cx="2438400" cy="304800"/>
          </a:xfrm>
          <a:prstGeom prst="rect">
            <a:avLst/>
          </a:prstGeom>
          <a:noFill/>
          <a:ln/>
        </p:spPr>
        <p:txBody>
          <a:bodyPr wrap="square" rtlCol="0" anchor="ctr"/>
          <a:lstStyle/>
          <a:p>
            <a:pPr marL="0" indent="0">
              <a:lnSpc>
                <a:spcPct val="120000"/>
              </a:lnSpc>
              <a:buNone/>
            </a:pPr>
            <a:r>
              <a:rPr lang="en-US" sz="1600" b="1" dirty="0">
                <a:solidFill>
                  <a:srgbClr val="3C475C"/>
                </a:solidFill>
                <a:latin typeface="Proxima Nova Bold" pitchFamily="34" charset="0"/>
                <a:ea typeface="Calibri" pitchFamily="34" charset="-122"/>
                <a:cs typeface="Calibri" pitchFamily="34" charset="-120"/>
              </a:rPr>
              <a:t>Eastline Consulting</a:t>
            </a:r>
            <a:endParaRPr lang="en-US" sz="1400" dirty="0"/>
          </a:p>
        </p:txBody>
      </p:sp>
      <p:sp>
        <p:nvSpPr>
          <p:cNvPr id="27" name="Text 25"/>
          <p:cNvSpPr/>
          <p:nvPr/>
        </p:nvSpPr>
        <p:spPr>
          <a:xfrm>
            <a:off x="6197600" y="1818480"/>
            <a:ext cx="2743200" cy="1498600"/>
          </a:xfrm>
          <a:prstGeom prst="rect">
            <a:avLst/>
          </a:prstGeom>
          <a:noFill/>
          <a:ln/>
        </p:spPr>
        <p:txBody>
          <a:bodyPr wrap="square" rtlCol="0" anchor="t"/>
          <a:lstStyle/>
          <a:p>
            <a:pPr marL="0" indent="0">
              <a:lnSpc>
                <a:spcPct val="114000"/>
              </a:lnSpc>
              <a:buNone/>
            </a:pPr>
            <a:r>
              <a:rPr lang="en-US" sz="1200" dirty="0">
                <a:solidFill>
                  <a:srgbClr val="474747"/>
                </a:solidFill>
                <a:latin typeface="Proxima Nova"/>
              </a:rPr>
              <a:t>The compensation engine is delivered by Eastline Consulting, led by Jared Cannon — who architected enterprise incentive compensation platforms at Paycom before founding Eastline. When Mattress Firm's comp transformation demands a purpose-built engine with serious domain depth behind it, Eastline is that answer.</a:t>
            </a:r>
            <a:endParaRPr lang="en-US" sz="900" dirty="0"/>
          </a:p>
        </p:txBody>
      </p:sp>
      <p:sp>
        <p:nvSpPr>
          <p:cNvPr id="28" name="Shape 26"/>
          <p:cNvSpPr/>
          <p:nvPr/>
        </p:nvSpPr>
        <p:spPr>
          <a:xfrm>
            <a:off x="6350000" y="4020352"/>
            <a:ext cx="2438400" cy="0"/>
          </a:xfrm>
          <a:prstGeom prst="line">
            <a:avLst/>
          </a:prstGeom>
          <a:noFill/>
          <a:ln w="10160">
            <a:solidFill>
              <a:schemeClr val="tx1"/>
            </a:solidFill>
            <a:prstDash val="solid"/>
          </a:ln>
        </p:spPr>
        <p:txBody>
          <a:bodyPr/>
          <a:lstStyle/>
          <a:p>
            <a:endParaRPr lang="en-US"/>
          </a:p>
        </p:txBody>
      </p:sp>
      <p:sp>
        <p:nvSpPr>
          <p:cNvPr id="29" name="Text 27"/>
          <p:cNvSpPr/>
          <p:nvPr/>
        </p:nvSpPr>
        <p:spPr>
          <a:xfrm>
            <a:off x="6197599" y="4099725"/>
            <a:ext cx="2743199" cy="609600"/>
          </a:xfrm>
          <a:prstGeom prst="rect">
            <a:avLst/>
          </a:prstGeom>
          <a:noFill/>
          <a:ln/>
        </p:spPr>
        <p:txBody>
          <a:bodyPr wrap="square" rtlCol="0" anchor="t"/>
          <a:lstStyle/>
          <a:p>
            <a:pPr marL="0" indent="0">
              <a:lnSpc>
                <a:spcPct val="114000"/>
              </a:lnSpc>
              <a:buNone/>
            </a:pPr>
            <a:r>
              <a:rPr lang="en-US" sz="1200" b="1" i="1" dirty="0">
                <a:solidFill>
                  <a:srgbClr val="DB716C"/>
                </a:solidFill>
                <a:latin typeface="Proxima Nova Bold"/>
              </a:rPr>
              <a:t>Enterprise ICM expertise · Paycom-scale deployment experience</a:t>
            </a:r>
            <a:endParaRPr lang="en-US" sz="800" dirty="0"/>
          </a:p>
        </p:txBody>
      </p:sp>
      <p:sp>
        <p:nvSpPr>
          <p:cNvPr id="30" name="Shape 28"/>
          <p:cNvSpPr/>
          <p:nvPr/>
        </p:nvSpPr>
        <p:spPr>
          <a:xfrm>
            <a:off x="0" y="4892040"/>
            <a:ext cx="9144000" cy="251460"/>
          </a:xfrm>
          <a:prstGeom prst="rect">
            <a:avLst/>
          </a:prstGeom>
          <a:solidFill>
            <a:srgbClr val="3C475C"/>
          </a:solidFill>
          <a:ln w="12700">
            <a:solidFill>
              <a:srgbClr val="071A38"/>
            </a:solidFill>
            <a:prstDash val="solid"/>
          </a:ln>
        </p:spPr>
        <p:txBody>
          <a:bodyPr/>
          <a:lstStyle/>
          <a:p>
            <a:endParaRPr lang="en-US"/>
          </a:p>
        </p:txBody>
      </p:sp>
      <p:sp>
        <p:nvSpPr>
          <p:cNvPr id="31" name="Text 29"/>
          <p:cNvSpPr/>
          <p:nvPr/>
        </p:nvSpPr>
        <p:spPr>
          <a:xfrm>
            <a:off x="0" y="4914900"/>
            <a:ext cx="9144000" cy="203200"/>
          </a:xfrm>
          <a:prstGeom prst="rect">
            <a:avLst/>
          </a:prstGeom>
          <a:noFill/>
          <a:ln/>
        </p:spPr>
        <p:txBody>
          <a:bodyPr wrap="square" lIns="0" tIns="0" rIns="0" bIns="0" rtlCol="0" anchor="ctr"/>
          <a:lstStyle/>
          <a:p>
            <a:pPr algn="ctr">
              <a:buNone/>
            </a:pPr>
            <a:r>
              <a:rPr lang="en-US" sz="1000" dirty="0">
                <a:solidFill>
                  <a:srgbClr val="B9C5D3"/>
                </a:solidFill>
                <a:latin typeface="Proxima Nova"/>
              </a:rPr>
              <a:t>Confidential and Proprietary - The Blue Horizons Group LLC</a:t>
            </a:r>
          </a:p>
        </p:txBody>
      </p:sp>
      <p:sp>
        <p:nvSpPr>
          <p:cNvPr id="32" name="Text 30"/>
          <p:cNvSpPr/>
          <p:nvPr/>
        </p:nvSpPr>
        <p:spPr>
          <a:xfrm>
            <a:off x="6400800" y="4901184"/>
            <a:ext cx="2423160" cy="201168"/>
          </a:xfrm>
          <a:prstGeom prst="rect">
            <a:avLst/>
          </a:prstGeom>
          <a:noFill/>
          <a:ln/>
        </p:spPr>
        <p:txBody>
          <a:bodyPr wrap="square" lIns="0" tIns="0" rIns="0" bIns="0" rtlCol="0" anchor="ctr"/>
          <a:lstStyle/>
          <a:p>
            <a:pPr marL="0" indent="0" algn="r">
              <a:buNone/>
            </a:pPr>
            <a:r>
              <a:rPr lang="en-US" sz="1000">
                <a:solidFill>
                  <a:srgbClr val="B9C5D3"/>
                </a:solidFill>
                <a:latin typeface="Proxima Nova"/>
              </a:rPr>
              <a:t>Confidential  ·  March 16, 2026</a:t>
            </a:r>
            <a:endParaRPr lang="en-US" sz="800" dirty="0"/>
          </a:p>
        </p:txBody>
      </p:sp>
      <p:sp>
        <p:nvSpPr>
          <p:cNvPr id="2" name="Shape 0"/>
          <p:cNvSpPr/>
          <p:nvPr/>
        </p:nvSpPr>
        <p:spPr>
          <a:xfrm>
            <a:off x="0" y="0"/>
            <a:ext cx="201168" cy="5143500"/>
          </a:xfrm>
          <a:prstGeom prst="rect">
            <a:avLst/>
          </a:prstGeom>
          <a:solidFill>
            <a:schemeClr val="tx1"/>
          </a:solidFill>
          <a:ln w="12700">
            <a:solidFill>
              <a:schemeClr val="accent2"/>
            </a:solidFill>
            <a:prstDash val="solid"/>
          </a:ln>
        </p:spPr>
        <p:txBody>
          <a:bodyPr/>
          <a:lstStyle/>
          <a:p>
            <a:endParaRPr lang="en-US"/>
          </a:p>
        </p:txBody>
      </p:sp>
    </p:spTree>
    <p:extLst>
      <p:ext uri="{BB962C8B-B14F-4D97-AF65-F5344CB8AC3E}">
        <p14:creationId xmlns:p14="http://schemas.microsoft.com/office/powerpoint/2010/main" val="2280260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DB716C"/>
          </a:solidFill>
          <a:ln w="12700">
            <a:solidFill>
              <a:schemeClr val="accent3"/>
            </a:solidFill>
            <a:prstDash val="solid"/>
          </a:ln>
        </p:spPr>
        <p:txBody>
          <a:bodyPr/>
          <a:lstStyle/>
          <a:p>
            <a:endParaRPr lang="en-US"/>
          </a:p>
        </p:txBody>
      </p:sp>
      <p:sp>
        <p:nvSpPr>
          <p:cNvPr id="3" name="Shape 1"/>
          <p:cNvSpPr/>
          <p:nvPr/>
        </p:nvSpPr>
        <p:spPr>
          <a:xfrm>
            <a:off x="0" y="0"/>
            <a:ext cx="9144000" cy="73152"/>
          </a:xfrm>
          <a:prstGeom prst="rect">
            <a:avLst/>
          </a:prstGeom>
          <a:solidFill>
            <a:srgbClr val="DB716C"/>
          </a:solidFill>
          <a:ln w="12700">
            <a:solidFill>
              <a:schemeClr val="accent3"/>
            </a:solidFill>
            <a:prstDash val="solid"/>
          </a:ln>
        </p:spPr>
        <p:txBody>
          <a:bodyPr/>
          <a:lstStyle/>
          <a:p>
            <a:endParaRPr lang="en-US"/>
          </a:p>
        </p:txBody>
      </p:sp>
      <p:sp>
        <p:nvSpPr>
          <p:cNvPr id="4" name="Text 2"/>
          <p:cNvSpPr/>
          <p:nvPr/>
        </p:nvSpPr>
        <p:spPr>
          <a:xfrm>
            <a:off x="508000" y="167480"/>
            <a:ext cx="8229600" cy="482600"/>
          </a:xfrm>
          <a:prstGeom prst="rect">
            <a:avLst/>
          </a:prstGeom>
          <a:noFill/>
          <a:ln/>
        </p:spPr>
        <p:txBody>
          <a:bodyPr wrap="square" rtlCol="0" anchor="ctr"/>
          <a:lstStyle/>
          <a:p>
            <a:pPr marL="0" indent="0">
              <a:buNone/>
            </a:pPr>
            <a:r>
              <a:rPr lang="en-US" sz="2600" b="1" dirty="0">
                <a:solidFill>
                  <a:srgbClr val="3C475C"/>
                </a:solidFill>
                <a:latin typeface="Proxima Nova Bold" pitchFamily="34" charset="0"/>
                <a:ea typeface="Calibri" pitchFamily="34" charset="-122"/>
                <a:cs typeface="Calibri" pitchFamily="34" charset="-120"/>
              </a:rPr>
              <a:t>The Path Forward</a:t>
            </a:r>
            <a:endParaRPr lang="en-US" sz="2600" dirty="0"/>
          </a:p>
        </p:txBody>
      </p:sp>
      <p:sp>
        <p:nvSpPr>
          <p:cNvPr id="5" name="Text 3"/>
          <p:cNvSpPr/>
          <p:nvPr/>
        </p:nvSpPr>
        <p:spPr>
          <a:xfrm>
            <a:off x="508000" y="613569"/>
            <a:ext cx="8229600" cy="228600"/>
          </a:xfrm>
          <a:prstGeom prst="rect">
            <a:avLst/>
          </a:prstGeom>
          <a:noFill/>
          <a:ln/>
        </p:spPr>
        <p:txBody>
          <a:bodyPr wrap="square" rtlCol="0" anchor="ctr"/>
          <a:lstStyle/>
          <a:p>
            <a:pPr marL="0" indent="0">
              <a:buNone/>
            </a:pPr>
            <a:r>
              <a:rPr lang="en-US" sz="1300" i="1" dirty="0">
                <a:solidFill>
                  <a:srgbClr val="718AA8"/>
                </a:solidFill>
                <a:latin typeface="Proxima Nova"/>
              </a:rPr>
              <a:t>Low risk. Fast start. Built on what you already have.</a:t>
            </a:r>
          </a:p>
        </p:txBody>
      </p:sp>
      <p:sp>
        <p:nvSpPr>
          <p:cNvPr id="6" name="Shape 4"/>
          <p:cNvSpPr/>
          <p:nvPr/>
        </p:nvSpPr>
        <p:spPr>
          <a:xfrm>
            <a:off x="332584" y="1019176"/>
            <a:ext cx="2057400" cy="2946400"/>
          </a:xfrm>
          <a:prstGeom prst="rect">
            <a:avLst/>
          </a:prstGeom>
          <a:solidFill>
            <a:srgbClr val="E3E8EE"/>
          </a:solidFill>
          <a:ln/>
          <a:effectLst>
            <a:outerShdw blurRad="101600" dist="38100" dir="8100000" algn="bl" rotWithShape="0">
              <a:srgbClr val="000000">
                <a:alpha val="30000"/>
              </a:srgbClr>
            </a:outerShdw>
          </a:effectLst>
        </p:spPr>
        <p:txBody>
          <a:bodyPr/>
          <a:lstStyle/>
          <a:p>
            <a:endParaRPr lang="en-US"/>
          </a:p>
        </p:txBody>
      </p:sp>
      <p:sp>
        <p:nvSpPr>
          <p:cNvPr id="7" name="Shape 5"/>
          <p:cNvSpPr/>
          <p:nvPr/>
        </p:nvSpPr>
        <p:spPr>
          <a:xfrm>
            <a:off x="318296" y="1019176"/>
            <a:ext cx="63500" cy="3022600"/>
          </a:xfrm>
          <a:prstGeom prst="rect">
            <a:avLst/>
          </a:prstGeom>
          <a:solidFill>
            <a:srgbClr val="3C475C"/>
          </a:solidFill>
          <a:ln w="12700">
            <a:solidFill>
              <a:schemeClr val="tx1"/>
            </a:solidFill>
            <a:prstDash val="solid"/>
          </a:ln>
        </p:spPr>
        <p:txBody>
          <a:bodyPr/>
          <a:lstStyle/>
          <a:p>
            <a:endParaRPr lang="en-US"/>
          </a:p>
        </p:txBody>
      </p:sp>
      <p:sp>
        <p:nvSpPr>
          <p:cNvPr id="8" name="Text 6"/>
          <p:cNvSpPr/>
          <p:nvPr/>
        </p:nvSpPr>
        <p:spPr>
          <a:xfrm>
            <a:off x="459584" y="1146176"/>
            <a:ext cx="533400" cy="533400"/>
          </a:xfrm>
          <a:prstGeom prst="rect">
            <a:avLst/>
          </a:prstGeom>
          <a:noFill/>
          <a:ln/>
        </p:spPr>
        <p:txBody>
          <a:bodyPr wrap="none" lIns="0" tIns="0" rIns="0" bIns="0" rtlCol="0" anchor="ctr"/>
          <a:lstStyle/>
          <a:p>
            <a:pPr marL="0" indent="0">
              <a:buNone/>
            </a:pPr>
            <a:r>
              <a:rPr lang="en-US" sz="2000" b="1" dirty="0">
                <a:solidFill>
                  <a:srgbClr val="DB716C"/>
                </a:solidFill>
                <a:latin typeface="Proxima Nova Bold"/>
              </a:rPr>
              <a:t>01</a:t>
            </a:r>
            <a:endParaRPr lang="en-US" sz="2800" dirty="0"/>
          </a:p>
        </p:txBody>
      </p:sp>
      <p:sp>
        <p:nvSpPr>
          <p:cNvPr id="9" name="Text 7"/>
          <p:cNvSpPr/>
          <p:nvPr/>
        </p:nvSpPr>
        <p:spPr>
          <a:xfrm>
            <a:off x="459584" y="1730376"/>
            <a:ext cx="1879600" cy="279400"/>
          </a:xfrm>
          <a:prstGeom prst="rect">
            <a:avLst/>
          </a:prstGeom>
          <a:noFill/>
          <a:ln/>
        </p:spPr>
        <p:txBody>
          <a:bodyPr wrap="square" rtlCol="0" anchor="ctr"/>
          <a:lstStyle/>
          <a:p>
            <a:pPr marL="0" indent="0">
              <a:buNone/>
            </a:pPr>
            <a:r>
              <a:rPr lang="en-US" sz="1600" b="1" dirty="0">
                <a:solidFill>
                  <a:srgbClr val="3C475C"/>
                </a:solidFill>
                <a:latin typeface="Proxima Nova Bold" pitchFamily="34" charset="0"/>
                <a:ea typeface="Calibri" pitchFamily="34" charset="-122"/>
                <a:cs typeface="Calibri" pitchFamily="34" charset="-120"/>
              </a:rPr>
              <a:t>Rally</a:t>
            </a:r>
            <a:endParaRPr lang="en-US" sz="1500" dirty="0"/>
          </a:p>
        </p:txBody>
      </p:sp>
      <p:sp>
        <p:nvSpPr>
          <p:cNvPr id="10" name="Text 8"/>
          <p:cNvSpPr/>
          <p:nvPr/>
        </p:nvSpPr>
        <p:spPr>
          <a:xfrm>
            <a:off x="469112" y="2159128"/>
            <a:ext cx="1957388" cy="256032"/>
          </a:xfrm>
          <a:prstGeom prst="rect">
            <a:avLst/>
          </a:prstGeom>
          <a:noFill/>
          <a:ln/>
        </p:spPr>
        <p:txBody>
          <a:bodyPr wrap="square" rtlCol="0" anchor="ctr"/>
          <a:lstStyle/>
          <a:p>
            <a:pPr marL="0" indent="0">
              <a:buNone/>
            </a:pPr>
            <a:r>
              <a:rPr lang="en-US" sz="1400" i="1" dirty="0">
                <a:solidFill>
                  <a:srgbClr val="718AA8"/>
                </a:solidFill>
                <a:latin typeface="Proxima Nova"/>
              </a:rPr>
              <a:t>Structured Discovery</a:t>
            </a:r>
            <a:endParaRPr lang="en-US" sz="1000" dirty="0"/>
          </a:p>
        </p:txBody>
      </p:sp>
      <p:sp>
        <p:nvSpPr>
          <p:cNvPr id="11" name="Text 9"/>
          <p:cNvSpPr/>
          <p:nvPr/>
        </p:nvSpPr>
        <p:spPr>
          <a:xfrm>
            <a:off x="459584" y="2466976"/>
            <a:ext cx="1879600" cy="1320800"/>
          </a:xfrm>
          <a:prstGeom prst="rect">
            <a:avLst/>
          </a:prstGeom>
          <a:noFill/>
          <a:ln/>
        </p:spPr>
        <p:txBody>
          <a:bodyPr wrap="square" rtlCol="0" anchor="t">
            <a:normAutofit fontScale="85000" lnSpcReduction="10000"/>
          </a:bodyPr>
          <a:lstStyle/>
          <a:p>
            <a:pPr marL="0" indent="0">
              <a:lnSpc>
                <a:spcPct val="130000"/>
              </a:lnSpc>
              <a:buNone/>
            </a:pPr>
            <a:r>
              <a:rPr lang="en-US" sz="1300" dirty="0">
                <a:solidFill>
                  <a:srgbClr val="474747"/>
                </a:solidFill>
                <a:latin typeface="Proxima Nova"/>
              </a:rPr>
              <a:t>Domain research, data exploration, and business model analysis. We arrive knowing your business — and leave with everything needed to build.</a:t>
            </a:r>
          </a:p>
        </p:txBody>
      </p:sp>
      <p:pic>
        <p:nvPicPr>
          <p:cNvPr id="12" name="Image 0" descr="preencoded.png"/>
          <p:cNvPicPr>
            <a:picLocks noChangeAspect="1"/>
          </p:cNvPicPr>
          <p:nvPr/>
        </p:nvPicPr>
        <p:blipFill>
          <a:blip r:embed="rId3"/>
          <a:stretch>
            <a:fillRect/>
          </a:stretch>
        </p:blipFill>
        <p:spPr>
          <a:xfrm>
            <a:off x="2370140" y="2339976"/>
            <a:ext cx="137160" cy="365760"/>
          </a:xfrm>
          <a:prstGeom prst="rect">
            <a:avLst/>
          </a:prstGeom>
        </p:spPr>
      </p:pic>
      <p:sp>
        <p:nvSpPr>
          <p:cNvPr id="13" name="Shape 10"/>
          <p:cNvSpPr/>
          <p:nvPr/>
        </p:nvSpPr>
        <p:spPr>
          <a:xfrm>
            <a:off x="2505872" y="1019176"/>
            <a:ext cx="2057400" cy="2946400"/>
          </a:xfrm>
          <a:prstGeom prst="rect">
            <a:avLst/>
          </a:prstGeom>
          <a:solidFill>
            <a:srgbClr val="E3E8EE"/>
          </a:solidFill>
          <a:ln/>
          <a:effectLst>
            <a:outerShdw blurRad="101600" dist="38100" dir="8100000" algn="bl" rotWithShape="0">
              <a:srgbClr val="000000">
                <a:alpha val="30000"/>
              </a:srgbClr>
            </a:outerShdw>
          </a:effectLst>
        </p:spPr>
        <p:txBody>
          <a:bodyPr/>
          <a:lstStyle/>
          <a:p>
            <a:endParaRPr lang="en-US"/>
          </a:p>
        </p:txBody>
      </p:sp>
      <p:sp>
        <p:nvSpPr>
          <p:cNvPr id="14" name="Shape 11"/>
          <p:cNvSpPr/>
          <p:nvPr/>
        </p:nvSpPr>
        <p:spPr>
          <a:xfrm>
            <a:off x="2491584" y="1019176"/>
            <a:ext cx="63500" cy="3022600"/>
          </a:xfrm>
          <a:prstGeom prst="rect">
            <a:avLst/>
          </a:prstGeom>
          <a:solidFill>
            <a:srgbClr val="3C475C"/>
          </a:solidFill>
          <a:ln w="12700">
            <a:solidFill>
              <a:schemeClr val="tx1"/>
            </a:solidFill>
            <a:prstDash val="solid"/>
          </a:ln>
        </p:spPr>
        <p:txBody>
          <a:bodyPr/>
          <a:lstStyle/>
          <a:p>
            <a:endParaRPr lang="en-US"/>
          </a:p>
        </p:txBody>
      </p:sp>
      <p:sp>
        <p:nvSpPr>
          <p:cNvPr id="15" name="Text 12"/>
          <p:cNvSpPr/>
          <p:nvPr/>
        </p:nvSpPr>
        <p:spPr>
          <a:xfrm>
            <a:off x="2632872" y="1146176"/>
            <a:ext cx="533400" cy="533400"/>
          </a:xfrm>
          <a:prstGeom prst="rect">
            <a:avLst/>
          </a:prstGeom>
          <a:noFill/>
          <a:ln/>
        </p:spPr>
        <p:txBody>
          <a:bodyPr wrap="none" lIns="0" tIns="0" rIns="0" bIns="0" rtlCol="0" anchor="ctr"/>
          <a:lstStyle/>
          <a:p>
            <a:pPr marL="0" indent="0">
              <a:buNone/>
            </a:pPr>
            <a:r>
              <a:rPr lang="en-US" sz="2000" b="1" dirty="0">
                <a:solidFill>
                  <a:srgbClr val="DB716C"/>
                </a:solidFill>
                <a:latin typeface="Proxima Nova Bold"/>
              </a:rPr>
              <a:t>02</a:t>
            </a:r>
            <a:endParaRPr lang="en-US" sz="2800" dirty="0"/>
          </a:p>
        </p:txBody>
      </p:sp>
      <p:sp>
        <p:nvSpPr>
          <p:cNvPr id="16" name="Text 13"/>
          <p:cNvSpPr/>
          <p:nvPr/>
        </p:nvSpPr>
        <p:spPr>
          <a:xfrm>
            <a:off x="2632872" y="1730376"/>
            <a:ext cx="1879600" cy="279400"/>
          </a:xfrm>
          <a:prstGeom prst="rect">
            <a:avLst/>
          </a:prstGeom>
          <a:noFill/>
          <a:ln/>
        </p:spPr>
        <p:txBody>
          <a:bodyPr wrap="square" rtlCol="0" anchor="ctr"/>
          <a:lstStyle/>
          <a:p>
            <a:pPr marL="0" indent="0">
              <a:buNone/>
            </a:pPr>
            <a:r>
              <a:rPr lang="en-US" sz="1600" b="1" dirty="0">
                <a:solidFill>
                  <a:srgbClr val="3C475C"/>
                </a:solidFill>
                <a:latin typeface="Proxima Nova Bold" pitchFamily="34" charset="0"/>
                <a:ea typeface="Calibri" pitchFamily="34" charset="-122"/>
                <a:cs typeface="Calibri" pitchFamily="34" charset="-120"/>
              </a:rPr>
              <a:t>Build</a:t>
            </a:r>
            <a:endParaRPr lang="en-US" sz="1500" dirty="0"/>
          </a:p>
        </p:txBody>
      </p:sp>
      <p:sp>
        <p:nvSpPr>
          <p:cNvPr id="17" name="Text 14"/>
          <p:cNvSpPr/>
          <p:nvPr/>
        </p:nvSpPr>
        <p:spPr>
          <a:xfrm>
            <a:off x="2641256" y="2159128"/>
            <a:ext cx="1879600" cy="256032"/>
          </a:xfrm>
          <a:prstGeom prst="rect">
            <a:avLst/>
          </a:prstGeom>
          <a:noFill/>
          <a:ln/>
        </p:spPr>
        <p:txBody>
          <a:bodyPr wrap="square" rtlCol="0" anchor="ctr"/>
          <a:lstStyle/>
          <a:p>
            <a:pPr marL="0" indent="0">
              <a:buNone/>
            </a:pPr>
            <a:r>
              <a:rPr lang="en-US" sz="1400" i="1" dirty="0">
                <a:solidFill>
                  <a:srgbClr val="718AA8"/>
                </a:solidFill>
                <a:latin typeface="Proxima Nova"/>
              </a:rPr>
              <a:t>Working Prototype</a:t>
            </a:r>
            <a:endParaRPr lang="en-US" sz="1000" dirty="0"/>
          </a:p>
        </p:txBody>
      </p:sp>
      <p:sp>
        <p:nvSpPr>
          <p:cNvPr id="18" name="Text 15"/>
          <p:cNvSpPr/>
          <p:nvPr/>
        </p:nvSpPr>
        <p:spPr>
          <a:xfrm>
            <a:off x="2632872" y="2466976"/>
            <a:ext cx="1879600" cy="1320800"/>
          </a:xfrm>
          <a:prstGeom prst="rect">
            <a:avLst/>
          </a:prstGeom>
          <a:noFill/>
          <a:ln/>
        </p:spPr>
        <p:txBody>
          <a:bodyPr wrap="square" rtlCol="0" anchor="t">
            <a:normAutofit fontScale="92500" lnSpcReduction="20000"/>
          </a:bodyPr>
          <a:lstStyle/>
          <a:p>
            <a:pPr marL="0" indent="0">
              <a:lnSpc>
                <a:spcPct val="130000"/>
              </a:lnSpc>
              <a:buNone/>
            </a:pPr>
            <a:r>
              <a:rPr lang="en-US" sz="1300" dirty="0">
                <a:solidFill>
                  <a:srgbClr val="474747"/>
                </a:solidFill>
                <a:latin typeface="Proxima Nova"/>
              </a:rPr>
              <a:t>Register configured to your data, hierarchy, and comp logic. A working prototype — not a mockup — delivered in weeks.</a:t>
            </a:r>
          </a:p>
        </p:txBody>
      </p:sp>
      <p:pic>
        <p:nvPicPr>
          <p:cNvPr id="19" name="Image 1" descr="preencoded.png"/>
          <p:cNvPicPr>
            <a:picLocks noChangeAspect="1"/>
          </p:cNvPicPr>
          <p:nvPr/>
        </p:nvPicPr>
        <p:blipFill>
          <a:blip r:embed="rId3"/>
          <a:stretch>
            <a:fillRect/>
          </a:stretch>
        </p:blipFill>
        <p:spPr>
          <a:xfrm>
            <a:off x="4546604" y="2339976"/>
            <a:ext cx="137160" cy="365760"/>
          </a:xfrm>
          <a:prstGeom prst="rect">
            <a:avLst/>
          </a:prstGeom>
        </p:spPr>
      </p:pic>
      <p:sp>
        <p:nvSpPr>
          <p:cNvPr id="20" name="Shape 16"/>
          <p:cNvSpPr/>
          <p:nvPr/>
        </p:nvSpPr>
        <p:spPr>
          <a:xfrm>
            <a:off x="4693448" y="1019176"/>
            <a:ext cx="2057400" cy="2946400"/>
          </a:xfrm>
          <a:prstGeom prst="rect">
            <a:avLst/>
          </a:prstGeom>
          <a:solidFill>
            <a:srgbClr val="E3E8EE"/>
          </a:solidFill>
          <a:ln/>
          <a:effectLst>
            <a:outerShdw blurRad="101600" dist="38100" dir="8100000" algn="bl" rotWithShape="0">
              <a:srgbClr val="000000">
                <a:alpha val="30000"/>
              </a:srgbClr>
            </a:outerShdw>
          </a:effectLst>
        </p:spPr>
        <p:txBody>
          <a:bodyPr/>
          <a:lstStyle/>
          <a:p>
            <a:endParaRPr lang="en-US"/>
          </a:p>
        </p:txBody>
      </p:sp>
      <p:sp>
        <p:nvSpPr>
          <p:cNvPr id="21" name="Shape 17"/>
          <p:cNvSpPr/>
          <p:nvPr/>
        </p:nvSpPr>
        <p:spPr>
          <a:xfrm>
            <a:off x="4679160" y="1019176"/>
            <a:ext cx="63500" cy="3022600"/>
          </a:xfrm>
          <a:prstGeom prst="rect">
            <a:avLst/>
          </a:prstGeom>
          <a:solidFill>
            <a:srgbClr val="3C475C"/>
          </a:solidFill>
          <a:ln w="12700">
            <a:solidFill>
              <a:schemeClr val="tx1"/>
            </a:solidFill>
            <a:prstDash val="solid"/>
          </a:ln>
        </p:spPr>
        <p:txBody>
          <a:bodyPr/>
          <a:lstStyle/>
          <a:p>
            <a:endParaRPr lang="en-US"/>
          </a:p>
        </p:txBody>
      </p:sp>
      <p:sp>
        <p:nvSpPr>
          <p:cNvPr id="22" name="Text 18"/>
          <p:cNvSpPr/>
          <p:nvPr/>
        </p:nvSpPr>
        <p:spPr>
          <a:xfrm>
            <a:off x="4820448" y="1146176"/>
            <a:ext cx="533400" cy="533400"/>
          </a:xfrm>
          <a:prstGeom prst="rect">
            <a:avLst/>
          </a:prstGeom>
          <a:noFill/>
          <a:ln/>
        </p:spPr>
        <p:txBody>
          <a:bodyPr wrap="none" lIns="0" tIns="0" rIns="0" bIns="0" rtlCol="0" anchor="ctr"/>
          <a:lstStyle/>
          <a:p>
            <a:pPr marL="0" indent="0">
              <a:buNone/>
            </a:pPr>
            <a:r>
              <a:rPr lang="en-US" sz="2000" b="1" dirty="0">
                <a:solidFill>
                  <a:srgbClr val="DB716C"/>
                </a:solidFill>
                <a:latin typeface="Proxima Nova Bold"/>
              </a:rPr>
              <a:t>03</a:t>
            </a:r>
            <a:endParaRPr lang="en-US" sz="2800" dirty="0"/>
          </a:p>
        </p:txBody>
      </p:sp>
      <p:sp>
        <p:nvSpPr>
          <p:cNvPr id="23" name="Text 19"/>
          <p:cNvSpPr/>
          <p:nvPr/>
        </p:nvSpPr>
        <p:spPr>
          <a:xfrm>
            <a:off x="4820448" y="1730376"/>
            <a:ext cx="1879600" cy="279400"/>
          </a:xfrm>
          <a:prstGeom prst="rect">
            <a:avLst/>
          </a:prstGeom>
          <a:noFill/>
          <a:ln/>
        </p:spPr>
        <p:txBody>
          <a:bodyPr wrap="square" rtlCol="0" anchor="ctr"/>
          <a:lstStyle/>
          <a:p>
            <a:pPr marL="0" indent="0">
              <a:buNone/>
            </a:pPr>
            <a:r>
              <a:rPr lang="en-US" sz="1600" b="1" dirty="0">
                <a:solidFill>
                  <a:srgbClr val="3C475C"/>
                </a:solidFill>
                <a:latin typeface="Proxima Nova Bold" pitchFamily="34" charset="0"/>
                <a:ea typeface="Calibri" pitchFamily="34" charset="-122"/>
                <a:cs typeface="Calibri" pitchFamily="34" charset="-120"/>
              </a:rPr>
              <a:t>Test</a:t>
            </a:r>
            <a:endParaRPr lang="en-US" sz="1500" dirty="0"/>
          </a:p>
        </p:txBody>
      </p:sp>
      <p:sp>
        <p:nvSpPr>
          <p:cNvPr id="24" name="Text 20"/>
          <p:cNvSpPr/>
          <p:nvPr/>
        </p:nvSpPr>
        <p:spPr>
          <a:xfrm>
            <a:off x="4818672" y="2159128"/>
            <a:ext cx="1968692" cy="256032"/>
          </a:xfrm>
          <a:prstGeom prst="rect">
            <a:avLst/>
          </a:prstGeom>
          <a:noFill/>
          <a:ln/>
        </p:spPr>
        <p:txBody>
          <a:bodyPr wrap="square" rtlCol="0" anchor="ctr"/>
          <a:lstStyle/>
          <a:p>
            <a:pPr marL="0" indent="0">
              <a:buNone/>
            </a:pPr>
            <a:r>
              <a:rPr lang="en-US" sz="1400" i="1" dirty="0">
                <a:solidFill>
                  <a:srgbClr val="718AA8"/>
                </a:solidFill>
                <a:latin typeface="Proxima Nova"/>
              </a:rPr>
              <a:t>Clear Feedback</a:t>
            </a:r>
            <a:endParaRPr lang="en-US" sz="1000" dirty="0"/>
          </a:p>
        </p:txBody>
      </p:sp>
      <p:sp>
        <p:nvSpPr>
          <p:cNvPr id="25" name="Text 21"/>
          <p:cNvSpPr/>
          <p:nvPr/>
        </p:nvSpPr>
        <p:spPr>
          <a:xfrm>
            <a:off x="4820448" y="2466976"/>
            <a:ext cx="1879600" cy="1320800"/>
          </a:xfrm>
          <a:prstGeom prst="rect">
            <a:avLst/>
          </a:prstGeom>
          <a:noFill/>
          <a:ln/>
        </p:spPr>
        <p:txBody>
          <a:bodyPr wrap="square" rtlCol="0" anchor="t">
            <a:normAutofit fontScale="85000" lnSpcReduction="10000"/>
          </a:bodyPr>
          <a:lstStyle/>
          <a:p>
            <a:pPr marL="0" indent="0">
              <a:lnSpc>
                <a:spcPct val="130000"/>
              </a:lnSpc>
              <a:buNone/>
            </a:pPr>
            <a:r>
              <a:rPr lang="en-US" sz="1300" dirty="0">
                <a:solidFill>
                  <a:srgbClr val="474747"/>
                </a:solidFill>
                <a:latin typeface="Proxima Nova"/>
              </a:rPr>
              <a:t>Running on your D365 environment with your actual data. Issues fixed fast. Iteration cycles measured in days, not months.</a:t>
            </a:r>
          </a:p>
        </p:txBody>
      </p:sp>
      <p:pic>
        <p:nvPicPr>
          <p:cNvPr id="26" name="Image 2" descr="preencoded.png"/>
          <p:cNvPicPr>
            <a:picLocks noChangeAspect="1"/>
          </p:cNvPicPr>
          <p:nvPr/>
        </p:nvPicPr>
        <p:blipFill>
          <a:blip r:embed="rId3"/>
          <a:stretch>
            <a:fillRect/>
          </a:stretch>
        </p:blipFill>
        <p:spPr>
          <a:xfrm>
            <a:off x="6730212" y="2339976"/>
            <a:ext cx="137160" cy="365760"/>
          </a:xfrm>
          <a:prstGeom prst="rect">
            <a:avLst/>
          </a:prstGeom>
        </p:spPr>
      </p:pic>
      <p:sp>
        <p:nvSpPr>
          <p:cNvPr id="27" name="Shape 22"/>
          <p:cNvSpPr/>
          <p:nvPr/>
        </p:nvSpPr>
        <p:spPr>
          <a:xfrm>
            <a:off x="6881024" y="1019176"/>
            <a:ext cx="2057400" cy="2946400"/>
          </a:xfrm>
          <a:prstGeom prst="rect">
            <a:avLst/>
          </a:prstGeom>
          <a:solidFill>
            <a:srgbClr val="E3E8EE"/>
          </a:solidFill>
          <a:ln/>
          <a:effectLst>
            <a:outerShdw blurRad="101600" dist="38100" dir="8100000" algn="bl" rotWithShape="0">
              <a:srgbClr val="000000">
                <a:alpha val="30000"/>
              </a:srgbClr>
            </a:outerShdw>
          </a:effectLst>
        </p:spPr>
        <p:txBody>
          <a:bodyPr/>
          <a:lstStyle/>
          <a:p>
            <a:endParaRPr lang="en-US"/>
          </a:p>
        </p:txBody>
      </p:sp>
      <p:sp>
        <p:nvSpPr>
          <p:cNvPr id="28" name="Shape 23"/>
          <p:cNvSpPr/>
          <p:nvPr/>
        </p:nvSpPr>
        <p:spPr>
          <a:xfrm>
            <a:off x="6866736" y="1019176"/>
            <a:ext cx="63500" cy="3022600"/>
          </a:xfrm>
          <a:prstGeom prst="rect">
            <a:avLst/>
          </a:prstGeom>
          <a:solidFill>
            <a:srgbClr val="3C475C"/>
          </a:solidFill>
          <a:ln w="12700">
            <a:solidFill>
              <a:schemeClr val="tx1"/>
            </a:solidFill>
            <a:prstDash val="solid"/>
          </a:ln>
        </p:spPr>
        <p:txBody>
          <a:bodyPr/>
          <a:lstStyle/>
          <a:p>
            <a:endParaRPr lang="en-US"/>
          </a:p>
        </p:txBody>
      </p:sp>
      <p:sp>
        <p:nvSpPr>
          <p:cNvPr id="29" name="Text 24"/>
          <p:cNvSpPr/>
          <p:nvPr/>
        </p:nvSpPr>
        <p:spPr>
          <a:xfrm>
            <a:off x="7008024" y="1146176"/>
            <a:ext cx="533400" cy="533400"/>
          </a:xfrm>
          <a:prstGeom prst="rect">
            <a:avLst/>
          </a:prstGeom>
          <a:noFill/>
          <a:ln/>
        </p:spPr>
        <p:txBody>
          <a:bodyPr wrap="none" lIns="0" tIns="0" rIns="0" bIns="0" rtlCol="0" anchor="ctr"/>
          <a:lstStyle/>
          <a:p>
            <a:pPr marL="0" indent="0">
              <a:buNone/>
            </a:pPr>
            <a:r>
              <a:rPr lang="en-US" sz="2000" b="1" dirty="0">
                <a:solidFill>
                  <a:srgbClr val="DB716C"/>
                </a:solidFill>
                <a:latin typeface="Proxima Nova Bold"/>
              </a:rPr>
              <a:t>04</a:t>
            </a:r>
            <a:endParaRPr lang="en-US" sz="2800" dirty="0"/>
          </a:p>
        </p:txBody>
      </p:sp>
      <p:sp>
        <p:nvSpPr>
          <p:cNvPr id="30" name="Text 25"/>
          <p:cNvSpPr/>
          <p:nvPr/>
        </p:nvSpPr>
        <p:spPr>
          <a:xfrm>
            <a:off x="7008024" y="1730376"/>
            <a:ext cx="1879600" cy="279400"/>
          </a:xfrm>
          <a:prstGeom prst="rect">
            <a:avLst/>
          </a:prstGeom>
          <a:noFill/>
          <a:ln/>
        </p:spPr>
        <p:txBody>
          <a:bodyPr wrap="square" rtlCol="0" anchor="ctr"/>
          <a:lstStyle/>
          <a:p>
            <a:pPr marL="0" indent="0">
              <a:buNone/>
            </a:pPr>
            <a:r>
              <a:rPr lang="en-US" sz="1600" b="1" dirty="0">
                <a:solidFill>
                  <a:srgbClr val="3C475C"/>
                </a:solidFill>
                <a:latin typeface="Proxima Nova Bold" pitchFamily="34" charset="0"/>
                <a:ea typeface="Calibri" pitchFamily="34" charset="-122"/>
                <a:cs typeface="Calibri" pitchFamily="34" charset="-120"/>
              </a:rPr>
              <a:t>Deploy</a:t>
            </a:r>
            <a:endParaRPr lang="en-US" sz="1500" dirty="0"/>
          </a:p>
        </p:txBody>
      </p:sp>
      <p:sp>
        <p:nvSpPr>
          <p:cNvPr id="31" name="Text 26"/>
          <p:cNvSpPr/>
          <p:nvPr/>
        </p:nvSpPr>
        <p:spPr>
          <a:xfrm>
            <a:off x="6996088" y="2159128"/>
            <a:ext cx="1879600" cy="256032"/>
          </a:xfrm>
          <a:prstGeom prst="rect">
            <a:avLst/>
          </a:prstGeom>
          <a:noFill/>
          <a:ln/>
        </p:spPr>
        <p:txBody>
          <a:bodyPr wrap="square" rtlCol="0" anchor="ctr"/>
          <a:lstStyle/>
          <a:p>
            <a:pPr marL="0" indent="0">
              <a:buNone/>
            </a:pPr>
            <a:r>
              <a:rPr lang="en-US" sz="1400" i="1" dirty="0">
                <a:solidFill>
                  <a:srgbClr val="718AA8"/>
                </a:solidFill>
                <a:latin typeface="Proxima Nova"/>
              </a:rPr>
              <a:t>You Own It</a:t>
            </a:r>
            <a:endParaRPr lang="en-US" sz="1000" dirty="0"/>
          </a:p>
        </p:txBody>
      </p:sp>
      <p:sp>
        <p:nvSpPr>
          <p:cNvPr id="32" name="Text 27"/>
          <p:cNvSpPr/>
          <p:nvPr/>
        </p:nvSpPr>
        <p:spPr>
          <a:xfrm>
            <a:off x="7008024" y="2466976"/>
            <a:ext cx="1879600" cy="1320800"/>
          </a:xfrm>
          <a:prstGeom prst="rect">
            <a:avLst/>
          </a:prstGeom>
          <a:noFill/>
          <a:ln/>
        </p:spPr>
        <p:txBody>
          <a:bodyPr wrap="square" rtlCol="0" anchor="t">
            <a:normAutofit fontScale="92500" lnSpcReduction="20000"/>
          </a:bodyPr>
          <a:lstStyle/>
          <a:p>
            <a:pPr marL="0" indent="0">
              <a:lnSpc>
                <a:spcPct val="130000"/>
              </a:lnSpc>
              <a:buNone/>
            </a:pPr>
            <a:r>
              <a:rPr lang="en-US" sz="1300" dirty="0">
                <a:solidFill>
                  <a:srgbClr val="474747"/>
                </a:solidFill>
                <a:latin typeface="Proxima Nova"/>
              </a:rPr>
              <a:t>Deployed in Mattress Firm's environment. The code is yours. Knowledge transfer complete. This is an asset — not a dependency.</a:t>
            </a:r>
          </a:p>
        </p:txBody>
      </p:sp>
      <p:sp>
        <p:nvSpPr>
          <p:cNvPr id="33" name="Shape 28"/>
          <p:cNvSpPr/>
          <p:nvPr/>
        </p:nvSpPr>
        <p:spPr>
          <a:xfrm>
            <a:off x="318296" y="3965576"/>
            <a:ext cx="8636000" cy="609600"/>
          </a:xfrm>
          <a:prstGeom prst="rect">
            <a:avLst/>
          </a:prstGeom>
          <a:solidFill>
            <a:srgbClr val="3C475C"/>
          </a:solidFill>
          <a:ln w="12700">
            <a:solidFill>
              <a:schemeClr val="tx1"/>
            </a:solidFill>
            <a:prstDash val="solid"/>
          </a:ln>
        </p:spPr>
        <p:txBody>
          <a:bodyPr/>
          <a:lstStyle/>
          <a:p>
            <a:endParaRPr lang="en-US"/>
          </a:p>
        </p:txBody>
      </p:sp>
      <p:sp>
        <p:nvSpPr>
          <p:cNvPr id="34" name="Text 29"/>
          <p:cNvSpPr/>
          <p:nvPr/>
        </p:nvSpPr>
        <p:spPr>
          <a:xfrm>
            <a:off x="318296" y="3965576"/>
            <a:ext cx="8636000" cy="609600"/>
          </a:xfrm>
          <a:prstGeom prst="rect">
            <a:avLst/>
          </a:prstGeom>
          <a:noFill/>
          <a:ln/>
        </p:spPr>
        <p:txBody>
          <a:bodyPr wrap="square" lIns="0" tIns="0" rIns="0" bIns="0" rtlCol="0" anchor="ctr"/>
          <a:lstStyle/>
          <a:p>
            <a:pPr marL="0" indent="0" algn="ctr">
              <a:buNone/>
            </a:pPr>
            <a:r>
              <a:rPr lang="en-US" sz="1400" b="1" dirty="0">
                <a:solidFill>
                  <a:srgbClr val="FFFFFF"/>
                </a:solidFill>
                <a:latin typeface="Proxima Nova Bold"/>
              </a:rPr>
              <a:t>This is a parallel track — not a replacement for any future platform decision. You can start now, at low cost, and see results in weeks.</a:t>
            </a:r>
            <a:endParaRPr lang="en-US" sz="1100" dirty="0"/>
          </a:p>
        </p:txBody>
      </p:sp>
      <p:sp>
        <p:nvSpPr>
          <p:cNvPr id="35" name="Shape 30"/>
          <p:cNvSpPr/>
          <p:nvPr/>
        </p:nvSpPr>
        <p:spPr>
          <a:xfrm>
            <a:off x="0" y="4892040"/>
            <a:ext cx="9144000" cy="251460"/>
          </a:xfrm>
          <a:prstGeom prst="rect">
            <a:avLst/>
          </a:prstGeom>
          <a:solidFill>
            <a:srgbClr val="3C475C"/>
          </a:solidFill>
          <a:ln w="12700">
            <a:solidFill>
              <a:srgbClr val="071A38"/>
            </a:solidFill>
            <a:prstDash val="solid"/>
          </a:ln>
        </p:spPr>
        <p:txBody>
          <a:bodyPr/>
          <a:lstStyle/>
          <a:p>
            <a:endParaRPr lang="en-US"/>
          </a:p>
        </p:txBody>
      </p:sp>
      <p:sp>
        <p:nvSpPr>
          <p:cNvPr id="36" name="Text 31"/>
          <p:cNvSpPr/>
          <p:nvPr/>
        </p:nvSpPr>
        <p:spPr>
          <a:xfrm>
            <a:off x="0" y="4914900"/>
            <a:ext cx="9144000" cy="203200"/>
          </a:xfrm>
          <a:prstGeom prst="rect">
            <a:avLst/>
          </a:prstGeom>
          <a:noFill/>
          <a:ln/>
        </p:spPr>
        <p:txBody>
          <a:bodyPr wrap="square" lIns="0" tIns="0" rIns="0" bIns="0" rtlCol="0" anchor="ctr"/>
          <a:lstStyle/>
          <a:p>
            <a:pPr algn="ctr">
              <a:buNone/>
            </a:pPr>
            <a:r>
              <a:rPr lang="en-US" sz="1000" dirty="0">
                <a:solidFill>
                  <a:srgbClr val="B9C5D3"/>
                </a:solidFill>
                <a:latin typeface="Proxima Nova"/>
              </a:rPr>
              <a:t>Confidential and Proprietary - The Blue Horizons Group LLC</a:t>
            </a:r>
          </a:p>
        </p:txBody>
      </p:sp>
      <p:sp>
        <p:nvSpPr>
          <p:cNvPr id="37" name="Text 32"/>
          <p:cNvSpPr/>
          <p:nvPr/>
        </p:nvSpPr>
        <p:spPr>
          <a:xfrm>
            <a:off x="6400800" y="4901184"/>
            <a:ext cx="2423160" cy="201168"/>
          </a:xfrm>
          <a:prstGeom prst="rect">
            <a:avLst/>
          </a:prstGeom>
          <a:noFill/>
          <a:ln/>
        </p:spPr>
        <p:txBody>
          <a:bodyPr wrap="square" lIns="0" tIns="0" rIns="0" bIns="0" rtlCol="0" anchor="ctr"/>
          <a:lstStyle/>
          <a:p>
            <a:pPr marL="0" indent="0" algn="r">
              <a:buNone/>
            </a:pPr>
            <a:r>
              <a:rPr lang="en-US" sz="1000">
                <a:solidFill>
                  <a:srgbClr val="B9C5D3"/>
                </a:solidFill>
                <a:latin typeface="Proxima Nova"/>
              </a:rPr>
              <a:t>Confidential  ·  March 16, 2026</a:t>
            </a:r>
            <a:endParaRPr lang="en-US" sz="800" dirty="0"/>
          </a:p>
        </p:txBody>
      </p:sp>
    </p:spTree>
    <p:extLst>
      <p:ext uri="{BB962C8B-B14F-4D97-AF65-F5344CB8AC3E}">
        <p14:creationId xmlns:p14="http://schemas.microsoft.com/office/powerpoint/2010/main" val="751631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C2507C-1D4A-180A-96CD-42BA9DC9D3FA}"/>
              </a:ext>
            </a:extLst>
          </p:cNvPr>
          <p:cNvSpPr txBox="1"/>
          <p:nvPr/>
        </p:nvSpPr>
        <p:spPr>
          <a:xfrm>
            <a:off x="2382137" y="2175599"/>
            <a:ext cx="4379725" cy="769441"/>
          </a:xfrm>
          <a:prstGeom prst="rect">
            <a:avLst/>
          </a:prstGeom>
          <a:noFill/>
        </p:spPr>
        <p:txBody>
          <a:bodyPr wrap="none" rtlCol="0">
            <a:spAutoFit/>
          </a:bodyPr>
          <a:lstStyle/>
          <a:p>
            <a:r>
              <a:rPr lang="en-US" sz="4400" b="1" dirty="0" err="1">
                <a:latin typeface="Proxima Nova Extrabold" panose="02000506030000020004" pitchFamily="2" charset="0"/>
              </a:rPr>
              <a:t>Register</a:t>
            </a:r>
            <a:r>
              <a:rPr lang="en-US" sz="4400" b="1" dirty="0">
                <a:latin typeface="Proxima Nova Extrabold" panose="02000506030000020004" pitchFamily="2" charset="0"/>
              </a:rPr>
              <a:t xml:space="preserve"> Demo </a:t>
            </a:r>
          </a:p>
        </p:txBody>
      </p:sp>
      <p:sp>
        <p:nvSpPr>
          <p:cNvPr id="3" name="Shape 1">
            <a:extLst>
              <a:ext uri="{FF2B5EF4-FFF2-40B4-BE49-F238E27FC236}">
                <a16:creationId xmlns:a16="http://schemas.microsoft.com/office/drawing/2014/main" id="{891646B5-F15C-B90A-D12E-E5713895B0A8}"/>
              </a:ext>
            </a:extLst>
          </p:cNvPr>
          <p:cNvSpPr/>
          <p:nvPr/>
        </p:nvSpPr>
        <p:spPr>
          <a:xfrm>
            <a:off x="6583680" y="0"/>
            <a:ext cx="2560320" cy="2011680"/>
          </a:xfrm>
          <a:prstGeom prst="rect">
            <a:avLst/>
          </a:prstGeom>
          <a:solidFill>
            <a:srgbClr val="3C475C"/>
          </a:solidFill>
          <a:ln w="12700">
            <a:solidFill>
              <a:srgbClr val="1A3D73"/>
            </a:solidFill>
            <a:prstDash val="solid"/>
          </a:ln>
        </p:spPr>
        <p:txBody>
          <a:bodyPr/>
          <a:lstStyle/>
          <a:p>
            <a:endParaRPr lang="en-US"/>
          </a:p>
        </p:txBody>
      </p:sp>
      <p:sp>
        <p:nvSpPr>
          <p:cNvPr id="4" name="Shape 2">
            <a:extLst>
              <a:ext uri="{FF2B5EF4-FFF2-40B4-BE49-F238E27FC236}">
                <a16:creationId xmlns:a16="http://schemas.microsoft.com/office/drawing/2014/main" id="{5D944AE0-B56B-44F2-565E-E1391B9B0986}"/>
              </a:ext>
            </a:extLst>
          </p:cNvPr>
          <p:cNvSpPr/>
          <p:nvPr/>
        </p:nvSpPr>
        <p:spPr>
          <a:xfrm>
            <a:off x="7406640" y="0"/>
            <a:ext cx="1737360" cy="2560320"/>
          </a:xfrm>
          <a:prstGeom prst="rect">
            <a:avLst/>
          </a:prstGeom>
          <a:solidFill>
            <a:srgbClr val="718AA8"/>
          </a:solidFill>
          <a:ln w="12700">
            <a:solidFill>
              <a:srgbClr val="0D3570"/>
            </a:solidFill>
            <a:prstDash val="solid"/>
          </a:ln>
        </p:spPr>
        <p:txBody>
          <a:bodyPr/>
          <a:lstStyle/>
          <a:p>
            <a:endParaRPr lang="en-US"/>
          </a:p>
        </p:txBody>
      </p:sp>
      <p:grpSp>
        <p:nvGrpSpPr>
          <p:cNvPr id="7" name="Group 6">
            <a:extLst>
              <a:ext uri="{FF2B5EF4-FFF2-40B4-BE49-F238E27FC236}">
                <a16:creationId xmlns:a16="http://schemas.microsoft.com/office/drawing/2014/main" id="{B761E9AC-1255-6672-7832-22C0BED5F453}"/>
              </a:ext>
            </a:extLst>
          </p:cNvPr>
          <p:cNvGrpSpPr/>
          <p:nvPr/>
        </p:nvGrpSpPr>
        <p:grpSpPr>
          <a:xfrm rot="10800000">
            <a:off x="0" y="2571750"/>
            <a:ext cx="2560320" cy="2560320"/>
            <a:chOff x="6736080" y="152400"/>
            <a:chExt cx="2560320" cy="2560320"/>
          </a:xfrm>
        </p:grpSpPr>
        <p:sp>
          <p:nvSpPr>
            <p:cNvPr id="5" name="Shape 1">
              <a:extLst>
                <a:ext uri="{FF2B5EF4-FFF2-40B4-BE49-F238E27FC236}">
                  <a16:creationId xmlns:a16="http://schemas.microsoft.com/office/drawing/2014/main" id="{2156D8F1-FF4C-F972-C8E1-DC396C9591AE}"/>
                </a:ext>
              </a:extLst>
            </p:cNvPr>
            <p:cNvSpPr/>
            <p:nvPr/>
          </p:nvSpPr>
          <p:spPr>
            <a:xfrm>
              <a:off x="6736080" y="152400"/>
              <a:ext cx="2560320" cy="2011680"/>
            </a:xfrm>
            <a:prstGeom prst="rect">
              <a:avLst/>
            </a:prstGeom>
            <a:solidFill>
              <a:srgbClr val="3C475C"/>
            </a:solidFill>
            <a:ln w="12700">
              <a:solidFill>
                <a:srgbClr val="1A3D73"/>
              </a:solidFill>
              <a:prstDash val="solid"/>
            </a:ln>
          </p:spPr>
          <p:txBody>
            <a:bodyPr/>
            <a:lstStyle/>
            <a:p>
              <a:endParaRPr lang="en-US"/>
            </a:p>
          </p:txBody>
        </p:sp>
        <p:sp>
          <p:nvSpPr>
            <p:cNvPr id="6" name="Shape 2">
              <a:extLst>
                <a:ext uri="{FF2B5EF4-FFF2-40B4-BE49-F238E27FC236}">
                  <a16:creationId xmlns:a16="http://schemas.microsoft.com/office/drawing/2014/main" id="{5454E4F0-D581-C746-C4D7-71E693985394}"/>
                </a:ext>
              </a:extLst>
            </p:cNvPr>
            <p:cNvSpPr/>
            <p:nvPr/>
          </p:nvSpPr>
          <p:spPr>
            <a:xfrm>
              <a:off x="7559040" y="152400"/>
              <a:ext cx="1737360" cy="2560320"/>
            </a:xfrm>
            <a:prstGeom prst="rect">
              <a:avLst/>
            </a:prstGeom>
            <a:solidFill>
              <a:srgbClr val="718AA8"/>
            </a:solidFill>
            <a:ln w="12700">
              <a:solidFill>
                <a:srgbClr val="0D3570"/>
              </a:solidFill>
              <a:prstDash val="solid"/>
            </a:ln>
          </p:spPr>
          <p:txBody>
            <a:bodyPr/>
            <a:lstStyle/>
            <a:p>
              <a:endParaRPr lang="en-US"/>
            </a:p>
          </p:txBody>
        </p:sp>
      </p:grpSp>
    </p:spTree>
    <p:extLst>
      <p:ext uri="{BB962C8B-B14F-4D97-AF65-F5344CB8AC3E}">
        <p14:creationId xmlns:p14="http://schemas.microsoft.com/office/powerpoint/2010/main" val="865165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3152"/>
          </a:xfrm>
          <a:prstGeom prst="rect">
            <a:avLst/>
          </a:prstGeom>
          <a:solidFill>
            <a:srgbClr val="DB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9144000" cy="749808"/>
          </a:xfrm>
          <a:prstGeom prst="rect">
            <a:avLst/>
          </a:prstGeom>
          <a:solidFill>
            <a:srgbClr val="3C4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8056"/>
            <a:ext cx="6400800" cy="492443"/>
          </a:xfrm>
          <a:prstGeom prst="rect">
            <a:avLst/>
          </a:prstGeom>
          <a:noFill/>
        </p:spPr>
        <p:txBody>
          <a:bodyPr wrap="square">
            <a:spAutoFit/>
          </a:bodyPr>
          <a:lstStyle/>
          <a:p>
            <a:pPr algn="l">
              <a:defRPr sz="2600" b="1">
                <a:solidFill>
                  <a:srgbClr val="FFFFFF"/>
                </a:solidFill>
                <a:latin typeface="Calibri"/>
              </a:defRPr>
            </a:pPr>
            <a:r>
              <a:rPr b="1" dirty="0">
                <a:latin typeface="Proxima Nova Extrabold" panose="02000506030000020004" pitchFamily="2" charset="0"/>
              </a:rPr>
              <a:t>Solution Investment Overview</a:t>
            </a:r>
          </a:p>
        </p:txBody>
      </p:sp>
      <p:sp>
        <p:nvSpPr>
          <p:cNvPr id="5" name="TextBox 4"/>
          <p:cNvSpPr txBox="1"/>
          <p:nvPr/>
        </p:nvSpPr>
        <p:spPr>
          <a:xfrm>
            <a:off x="365760" y="461944"/>
            <a:ext cx="8000000" cy="292388"/>
          </a:xfrm>
          <a:prstGeom prst="rect">
            <a:avLst/>
          </a:prstGeom>
          <a:noFill/>
        </p:spPr>
        <p:txBody>
          <a:bodyPr wrap="square">
            <a:spAutoFit/>
          </a:bodyPr>
          <a:lstStyle/>
          <a:p>
            <a:pPr algn="l">
              <a:defRPr sz="1300" b="0">
                <a:solidFill>
                  <a:srgbClr val="718AA8"/>
                </a:solidFill>
                <a:latin typeface="Calibri"/>
              </a:defRPr>
            </a:pPr>
            <a:r>
              <a:rPr b="1" i="1" dirty="0">
                <a:solidFill>
                  <a:schemeClr val="accent1"/>
                </a:solidFill>
                <a:latin typeface="Proxima Nova Extrabold" panose="02000506030000020004" pitchFamily="2" charset="0"/>
              </a:rPr>
              <a:t>What you're investing in, why it matters, and what shapes the price.</a:t>
            </a:r>
          </a:p>
        </p:txBody>
      </p:sp>
      <p:sp>
        <p:nvSpPr>
          <p:cNvPr id="6" name="Rectangle 5"/>
          <p:cNvSpPr/>
          <p:nvPr/>
        </p:nvSpPr>
        <p:spPr>
          <a:xfrm>
            <a:off x="0" y="4892040"/>
            <a:ext cx="9144000" cy="251460"/>
          </a:xfrm>
          <a:prstGeom prst="rect">
            <a:avLst/>
          </a:prstGeom>
          <a:solidFill>
            <a:srgbClr val="3C4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0" y="4914900"/>
            <a:ext cx="9144000" cy="203200"/>
          </a:xfrm>
          <a:prstGeom prst="rect">
            <a:avLst/>
          </a:prstGeom>
          <a:noFill/>
        </p:spPr>
        <p:txBody>
          <a:bodyPr wrap="square">
            <a:spAutoFit/>
          </a:bodyPr>
          <a:lstStyle/>
          <a:p>
            <a:pPr algn="ctr">
              <a:defRPr sz="1000" b="0">
                <a:solidFill>
                  <a:srgbClr val="B9C5D3"/>
                </a:solidFill>
                <a:latin typeface="Calibri"/>
              </a:defRPr>
            </a:pPr>
            <a:r>
              <a:t>Confidential and Proprietary - The Blue Horizons Group LLC</a:t>
            </a:r>
          </a:p>
        </p:txBody>
      </p:sp>
      <p:sp>
        <p:nvSpPr>
          <p:cNvPr id="8" name="TextBox 7"/>
          <p:cNvSpPr txBox="1"/>
          <p:nvPr/>
        </p:nvSpPr>
        <p:spPr>
          <a:xfrm>
            <a:off x="6400800" y="4901184"/>
            <a:ext cx="2423160" cy="201168"/>
          </a:xfrm>
          <a:prstGeom prst="rect">
            <a:avLst/>
          </a:prstGeom>
          <a:noFill/>
        </p:spPr>
        <p:txBody>
          <a:bodyPr wrap="square">
            <a:spAutoFit/>
          </a:bodyPr>
          <a:lstStyle/>
          <a:p>
            <a:pPr algn="r">
              <a:defRPr sz="1000" b="0">
                <a:solidFill>
                  <a:srgbClr val="B9C5D3"/>
                </a:solidFill>
                <a:latin typeface="Calibri"/>
              </a:defRPr>
            </a:pPr>
            <a:r>
              <a:t>Confidential  ·  March 16, 2026</a:t>
            </a:r>
          </a:p>
        </p:txBody>
      </p:sp>
      <p:sp>
        <p:nvSpPr>
          <p:cNvPr id="9" name="Rectangle 8"/>
          <p:cNvSpPr/>
          <p:nvPr/>
        </p:nvSpPr>
        <p:spPr>
          <a:xfrm>
            <a:off x="277089" y="1117037"/>
            <a:ext cx="2780000" cy="3505888"/>
          </a:xfrm>
          <a:prstGeom prst="rect">
            <a:avLst/>
          </a:prstGeom>
          <a:solidFill>
            <a:srgbClr val="E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7089" y="1117037"/>
            <a:ext cx="2780000" cy="64000"/>
          </a:xfrm>
          <a:prstGeom prst="rect">
            <a:avLst/>
          </a:prstGeom>
          <a:solidFill>
            <a:srgbClr val="DB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04089" y="1217037"/>
            <a:ext cx="2526000" cy="246221"/>
          </a:xfrm>
          <a:prstGeom prst="rect">
            <a:avLst/>
          </a:prstGeom>
          <a:noFill/>
        </p:spPr>
        <p:txBody>
          <a:bodyPr wrap="square">
            <a:spAutoFit/>
          </a:bodyPr>
          <a:lstStyle/>
          <a:p>
            <a:pPr algn="l">
              <a:defRPr sz="1000" b="1">
                <a:solidFill>
                  <a:srgbClr val="DB716C"/>
                </a:solidFill>
                <a:latin typeface="Calibri"/>
              </a:defRPr>
            </a:pPr>
            <a:r>
              <a:rPr b="1" dirty="0">
                <a:latin typeface="Proxima Nova Extrabold" panose="02000506030000020004" pitchFamily="2" charset="0"/>
              </a:rPr>
              <a:t>PHASE 1</a:t>
            </a:r>
          </a:p>
        </p:txBody>
      </p:sp>
      <p:sp>
        <p:nvSpPr>
          <p:cNvPr id="12" name="TextBox 11"/>
          <p:cNvSpPr txBox="1"/>
          <p:nvPr/>
        </p:nvSpPr>
        <p:spPr>
          <a:xfrm>
            <a:off x="404089" y="1407037"/>
            <a:ext cx="2526000" cy="323165"/>
          </a:xfrm>
          <a:prstGeom prst="rect">
            <a:avLst/>
          </a:prstGeom>
          <a:noFill/>
        </p:spPr>
        <p:txBody>
          <a:bodyPr wrap="square">
            <a:spAutoFit/>
          </a:bodyPr>
          <a:lstStyle/>
          <a:p>
            <a:pPr algn="l">
              <a:defRPr sz="1500" b="1">
                <a:solidFill>
                  <a:srgbClr val="3C475C"/>
                </a:solidFill>
                <a:latin typeface="Calibri"/>
              </a:defRPr>
            </a:pPr>
            <a:r>
              <a:rPr b="1" dirty="0">
                <a:latin typeface="Proxima Nova Extrabold" panose="02000506030000020004" pitchFamily="2" charset="0"/>
              </a:rPr>
              <a:t>Discovery &amp; Assessment</a:t>
            </a:r>
          </a:p>
        </p:txBody>
      </p:sp>
      <p:sp>
        <p:nvSpPr>
          <p:cNvPr id="13" name="TextBox 12"/>
          <p:cNvSpPr txBox="1"/>
          <p:nvPr/>
        </p:nvSpPr>
        <p:spPr>
          <a:xfrm>
            <a:off x="404089" y="1677037"/>
            <a:ext cx="2526000" cy="307777"/>
          </a:xfrm>
          <a:prstGeom prst="rect">
            <a:avLst/>
          </a:prstGeom>
          <a:noFill/>
        </p:spPr>
        <p:txBody>
          <a:bodyPr wrap="square">
            <a:spAutoFit/>
          </a:bodyPr>
          <a:lstStyle/>
          <a:p>
            <a:pPr algn="l">
              <a:defRPr sz="1400" b="1">
                <a:solidFill>
                  <a:srgbClr val="DB716C"/>
                </a:solidFill>
                <a:latin typeface="Calibri"/>
              </a:defRPr>
            </a:pPr>
            <a:r>
              <a:rPr b="1" dirty="0">
                <a:latin typeface="Proxima Nova Extrabold" panose="02000506030000020004" pitchFamily="2" charset="0"/>
              </a:rPr>
              <a:t>$25,000</a:t>
            </a:r>
          </a:p>
        </p:txBody>
      </p:sp>
      <p:sp>
        <p:nvSpPr>
          <p:cNvPr id="14" name="TextBox 13"/>
          <p:cNvSpPr txBox="1"/>
          <p:nvPr/>
        </p:nvSpPr>
        <p:spPr>
          <a:xfrm>
            <a:off x="404089" y="1927037"/>
            <a:ext cx="2526000" cy="2121093"/>
          </a:xfrm>
          <a:prstGeom prst="rect">
            <a:avLst/>
          </a:prstGeom>
          <a:noFill/>
        </p:spPr>
        <p:txBody>
          <a:bodyPr wrap="square">
            <a:spAutoFit/>
          </a:bodyPr>
          <a:lstStyle/>
          <a:p>
            <a:pPr algn="l">
              <a:spcAft>
                <a:spcPts val="300"/>
              </a:spcAft>
              <a:defRPr sz="1000" b="1">
                <a:solidFill>
                  <a:srgbClr val="3C475C"/>
                </a:solidFill>
                <a:latin typeface="Calibri"/>
              </a:defRPr>
            </a:pPr>
            <a:r>
              <a:rPr b="1" dirty="0">
                <a:latin typeface="Proxima Nova Extrabold" panose="02000506030000020004" pitchFamily="2" charset="0"/>
              </a:rPr>
              <a:t>What It Is</a:t>
            </a:r>
          </a:p>
          <a:p>
            <a:pPr algn="l">
              <a:spcAft>
                <a:spcPts val="800"/>
              </a:spcAft>
              <a:defRPr sz="900" b="0">
                <a:solidFill>
                  <a:srgbClr val="474747"/>
                </a:solidFill>
                <a:latin typeface="Calibri"/>
              </a:defRPr>
            </a:pPr>
            <a:r>
              <a:rPr dirty="0">
                <a:latin typeface="Proxima Nova Thin" panose="02000506030000020004" pitchFamily="2" charset="0"/>
              </a:rPr>
              <a:t>Domain research, data exploration, and business model analysis. We map your current state and build the quantified value case.</a:t>
            </a:r>
          </a:p>
          <a:p>
            <a:pPr algn="l">
              <a:spcAft>
                <a:spcPts val="300"/>
              </a:spcAft>
              <a:defRPr sz="1000" b="1">
                <a:solidFill>
                  <a:srgbClr val="3C475C"/>
                </a:solidFill>
                <a:latin typeface="Calibri"/>
              </a:defRPr>
            </a:pPr>
            <a:r>
              <a:rPr b="1" dirty="0">
                <a:latin typeface="Proxima Nova Extrabold" panose="02000506030000020004" pitchFamily="2" charset="0"/>
              </a:rPr>
              <a:t>Why It Matters</a:t>
            </a:r>
          </a:p>
          <a:p>
            <a:pPr algn="l">
              <a:spcAft>
                <a:spcPts val="800"/>
              </a:spcAft>
              <a:defRPr sz="900" b="0">
                <a:solidFill>
                  <a:srgbClr val="474747"/>
                </a:solidFill>
                <a:latin typeface="Calibri"/>
              </a:defRPr>
            </a:pPr>
            <a:r>
              <a:rPr dirty="0">
                <a:latin typeface="Proxima Nova Thin" panose="02000506030000020004" pitchFamily="2" charset="0"/>
              </a:rPr>
              <a:t>Discovery produces the roadmap and ROI justification for every subsequent phase — it's standalone value even if you go no further.</a:t>
            </a:r>
          </a:p>
          <a:p>
            <a:pPr algn="l">
              <a:spcAft>
                <a:spcPts val="300"/>
              </a:spcAft>
              <a:defRPr sz="1000" b="1">
                <a:solidFill>
                  <a:srgbClr val="3C475C"/>
                </a:solidFill>
                <a:latin typeface="Calibri"/>
              </a:defRPr>
            </a:pPr>
            <a:r>
              <a:rPr b="1" dirty="0">
                <a:latin typeface="Proxima Nova Extrabold" panose="02000506030000020004" pitchFamily="2" charset="0"/>
              </a:rPr>
              <a:t>What Drives the Price</a:t>
            </a:r>
          </a:p>
          <a:p>
            <a:pPr algn="l">
              <a:spcAft>
                <a:spcPts val="0"/>
              </a:spcAft>
              <a:defRPr sz="900" b="0">
                <a:solidFill>
                  <a:srgbClr val="474747"/>
                </a:solidFill>
                <a:latin typeface="Calibri"/>
              </a:defRPr>
            </a:pPr>
            <a:r>
              <a:rPr dirty="0">
                <a:latin typeface="Proxima Nova Thin" panose="02000506030000020004" pitchFamily="2" charset="0"/>
              </a:rPr>
              <a:t>Organizational complexity, number of data sources, and comp plan variety. Simpler environments fall at the low end.</a:t>
            </a:r>
          </a:p>
        </p:txBody>
      </p:sp>
      <p:sp>
        <p:nvSpPr>
          <p:cNvPr id="15" name="Rectangle 14"/>
          <p:cNvSpPr/>
          <p:nvPr/>
        </p:nvSpPr>
        <p:spPr>
          <a:xfrm>
            <a:off x="3187089" y="1117037"/>
            <a:ext cx="2780000" cy="3505888"/>
          </a:xfrm>
          <a:prstGeom prst="rect">
            <a:avLst/>
          </a:prstGeom>
          <a:solidFill>
            <a:srgbClr val="E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187089" y="1117037"/>
            <a:ext cx="2780000" cy="64000"/>
          </a:xfrm>
          <a:prstGeom prst="rect">
            <a:avLst/>
          </a:prstGeom>
          <a:solidFill>
            <a:srgbClr val="DB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14089" y="1217037"/>
            <a:ext cx="2526000" cy="246221"/>
          </a:xfrm>
          <a:prstGeom prst="rect">
            <a:avLst/>
          </a:prstGeom>
          <a:noFill/>
        </p:spPr>
        <p:txBody>
          <a:bodyPr wrap="square">
            <a:spAutoFit/>
          </a:bodyPr>
          <a:lstStyle/>
          <a:p>
            <a:pPr algn="l">
              <a:defRPr sz="1000" b="1">
                <a:solidFill>
                  <a:srgbClr val="DB716C"/>
                </a:solidFill>
                <a:latin typeface="Calibri"/>
              </a:defRPr>
            </a:pPr>
            <a:r>
              <a:rPr b="1">
                <a:latin typeface="Proxima Nova Extrabold" panose="02000506030000020004" pitchFamily="2" charset="0"/>
              </a:rPr>
              <a:t>PHASE 2</a:t>
            </a:r>
          </a:p>
        </p:txBody>
      </p:sp>
      <p:sp>
        <p:nvSpPr>
          <p:cNvPr id="18" name="TextBox 17"/>
          <p:cNvSpPr txBox="1"/>
          <p:nvPr/>
        </p:nvSpPr>
        <p:spPr>
          <a:xfrm>
            <a:off x="3314089" y="1407037"/>
            <a:ext cx="2526000" cy="323165"/>
          </a:xfrm>
          <a:prstGeom prst="rect">
            <a:avLst/>
          </a:prstGeom>
          <a:noFill/>
        </p:spPr>
        <p:txBody>
          <a:bodyPr wrap="square">
            <a:spAutoFit/>
          </a:bodyPr>
          <a:lstStyle/>
          <a:p>
            <a:pPr algn="l">
              <a:defRPr sz="1500" b="1">
                <a:solidFill>
                  <a:srgbClr val="3C475C"/>
                </a:solidFill>
                <a:latin typeface="Calibri"/>
              </a:defRPr>
            </a:pPr>
            <a:r>
              <a:rPr b="1">
                <a:latin typeface="Proxima Nova Extrabold" panose="02000506030000020004" pitchFamily="2" charset="0"/>
              </a:rPr>
              <a:t>Foundation Deployment</a:t>
            </a:r>
          </a:p>
        </p:txBody>
      </p:sp>
      <p:sp>
        <p:nvSpPr>
          <p:cNvPr id="19" name="TextBox 18"/>
          <p:cNvSpPr txBox="1"/>
          <p:nvPr/>
        </p:nvSpPr>
        <p:spPr>
          <a:xfrm>
            <a:off x="3314089" y="1677037"/>
            <a:ext cx="2526000" cy="307777"/>
          </a:xfrm>
          <a:prstGeom prst="rect">
            <a:avLst/>
          </a:prstGeom>
          <a:noFill/>
        </p:spPr>
        <p:txBody>
          <a:bodyPr wrap="square">
            <a:spAutoFit/>
          </a:bodyPr>
          <a:lstStyle/>
          <a:p>
            <a:pPr algn="l">
              <a:defRPr sz="1400" b="1">
                <a:solidFill>
                  <a:srgbClr val="DB716C"/>
                </a:solidFill>
                <a:latin typeface="Calibri"/>
              </a:defRPr>
            </a:pPr>
            <a:r>
              <a:rPr b="1">
                <a:latin typeface="Proxima Nova Extrabold" panose="02000506030000020004" pitchFamily="2" charset="0"/>
              </a:rPr>
              <a:t>$200,000</a:t>
            </a:r>
          </a:p>
        </p:txBody>
      </p:sp>
      <p:sp>
        <p:nvSpPr>
          <p:cNvPr id="20" name="TextBox 19"/>
          <p:cNvSpPr txBox="1"/>
          <p:nvPr/>
        </p:nvSpPr>
        <p:spPr>
          <a:xfrm>
            <a:off x="3314089" y="1927037"/>
            <a:ext cx="2526000" cy="2398092"/>
          </a:xfrm>
          <a:prstGeom prst="rect">
            <a:avLst/>
          </a:prstGeom>
          <a:noFill/>
        </p:spPr>
        <p:txBody>
          <a:bodyPr wrap="square">
            <a:spAutoFit/>
          </a:bodyPr>
          <a:lstStyle/>
          <a:p>
            <a:pPr algn="l">
              <a:spcAft>
                <a:spcPts val="300"/>
              </a:spcAft>
              <a:defRPr sz="1000" b="1">
                <a:solidFill>
                  <a:srgbClr val="3C475C"/>
                </a:solidFill>
                <a:latin typeface="Calibri"/>
              </a:defRPr>
            </a:pPr>
            <a:r>
              <a:rPr b="1" dirty="0">
                <a:latin typeface="Proxima Nova Extrabold" panose="02000506030000020004" pitchFamily="2" charset="0"/>
              </a:rPr>
              <a:t>What It Is</a:t>
            </a:r>
          </a:p>
          <a:p>
            <a:pPr algn="l">
              <a:spcAft>
                <a:spcPts val="800"/>
              </a:spcAft>
              <a:defRPr sz="900" b="0">
                <a:solidFill>
                  <a:srgbClr val="474747"/>
                </a:solidFill>
                <a:latin typeface="Calibri"/>
              </a:defRPr>
            </a:pPr>
            <a:r>
              <a:rPr dirty="0">
                <a:latin typeface="Proxima Nova Thin" panose="02000506030000020004" pitchFamily="2" charset="0"/>
              </a:rPr>
              <a:t>Unified data layer, platform integrations, plus first core modules — Corporate Strategy and Sales Strategy — deployed on your D365 environment.</a:t>
            </a:r>
          </a:p>
          <a:p>
            <a:pPr algn="l">
              <a:spcAft>
                <a:spcPts val="300"/>
              </a:spcAft>
              <a:defRPr sz="1000" b="1">
                <a:solidFill>
                  <a:srgbClr val="3C475C"/>
                </a:solidFill>
                <a:latin typeface="Calibri"/>
              </a:defRPr>
            </a:pPr>
            <a:r>
              <a:rPr b="1" dirty="0">
                <a:latin typeface="Proxima Nova Extrabold" panose="02000506030000020004" pitchFamily="2" charset="0"/>
              </a:rPr>
              <a:t>Why It Matters</a:t>
            </a:r>
          </a:p>
          <a:p>
            <a:pPr algn="l">
              <a:spcAft>
                <a:spcPts val="800"/>
              </a:spcAft>
              <a:defRPr sz="900" b="0">
                <a:solidFill>
                  <a:srgbClr val="474747"/>
                </a:solidFill>
                <a:latin typeface="Calibri"/>
              </a:defRPr>
            </a:pPr>
            <a:r>
              <a:rPr dirty="0">
                <a:latin typeface="Proxima Nova Thin" panose="02000506030000020004" pitchFamily="2" charset="0"/>
              </a:rPr>
              <a:t>This is the connective layer that turns fragmented data into a single governed intelligence platform. Everything else builds on this foundation.</a:t>
            </a:r>
          </a:p>
          <a:p>
            <a:pPr algn="l">
              <a:spcAft>
                <a:spcPts val="300"/>
              </a:spcAft>
              <a:defRPr sz="1000" b="1">
                <a:solidFill>
                  <a:srgbClr val="3C475C"/>
                </a:solidFill>
                <a:latin typeface="Calibri"/>
              </a:defRPr>
            </a:pPr>
            <a:r>
              <a:rPr b="1" dirty="0">
                <a:latin typeface="Proxima Nova Extrabold" panose="02000506030000020004" pitchFamily="2" charset="0"/>
              </a:rPr>
              <a:t>What Drives the Price</a:t>
            </a:r>
          </a:p>
          <a:p>
            <a:pPr algn="l">
              <a:spcAft>
                <a:spcPts val="0"/>
              </a:spcAft>
              <a:defRPr sz="900" b="0">
                <a:solidFill>
                  <a:srgbClr val="474747"/>
                </a:solidFill>
                <a:latin typeface="Calibri"/>
              </a:defRPr>
            </a:pPr>
            <a:r>
              <a:rPr dirty="0">
                <a:latin typeface="Proxima Nova Thin" panose="02000506030000020004" pitchFamily="2" charset="0"/>
              </a:rPr>
              <a:t>Number of system integrations, data normalization complexity, and the breadth of initial module deployment.</a:t>
            </a:r>
          </a:p>
        </p:txBody>
      </p:sp>
      <p:sp>
        <p:nvSpPr>
          <p:cNvPr id="21" name="Rectangle 20"/>
          <p:cNvSpPr/>
          <p:nvPr/>
        </p:nvSpPr>
        <p:spPr>
          <a:xfrm>
            <a:off x="6097089" y="1117037"/>
            <a:ext cx="2780000" cy="3505888"/>
          </a:xfrm>
          <a:prstGeom prst="rect">
            <a:avLst/>
          </a:prstGeom>
          <a:solidFill>
            <a:srgbClr val="E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097089" y="1117037"/>
            <a:ext cx="2780000" cy="64000"/>
          </a:xfrm>
          <a:prstGeom prst="rect">
            <a:avLst/>
          </a:prstGeom>
          <a:solidFill>
            <a:srgbClr val="DB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24089" y="1217037"/>
            <a:ext cx="2526000" cy="246221"/>
          </a:xfrm>
          <a:prstGeom prst="rect">
            <a:avLst/>
          </a:prstGeom>
          <a:noFill/>
        </p:spPr>
        <p:txBody>
          <a:bodyPr wrap="square">
            <a:spAutoFit/>
          </a:bodyPr>
          <a:lstStyle/>
          <a:p>
            <a:pPr algn="l">
              <a:defRPr sz="1000" b="1">
                <a:solidFill>
                  <a:srgbClr val="DB716C"/>
                </a:solidFill>
                <a:latin typeface="Calibri"/>
              </a:defRPr>
            </a:pPr>
            <a:r>
              <a:rPr b="1">
                <a:latin typeface="Proxima Nova Extrabold" panose="02000506030000020004" pitchFamily="2" charset="0"/>
              </a:rPr>
              <a:t>PHASE 3</a:t>
            </a:r>
          </a:p>
        </p:txBody>
      </p:sp>
      <p:sp>
        <p:nvSpPr>
          <p:cNvPr id="24" name="TextBox 23"/>
          <p:cNvSpPr txBox="1"/>
          <p:nvPr/>
        </p:nvSpPr>
        <p:spPr>
          <a:xfrm>
            <a:off x="6224089" y="1407037"/>
            <a:ext cx="2526000" cy="323165"/>
          </a:xfrm>
          <a:prstGeom prst="rect">
            <a:avLst/>
          </a:prstGeom>
          <a:noFill/>
        </p:spPr>
        <p:txBody>
          <a:bodyPr wrap="square">
            <a:spAutoFit/>
          </a:bodyPr>
          <a:lstStyle/>
          <a:p>
            <a:pPr algn="l">
              <a:defRPr sz="1500" b="1">
                <a:solidFill>
                  <a:srgbClr val="3C475C"/>
                </a:solidFill>
                <a:latin typeface="Calibri"/>
              </a:defRPr>
            </a:pPr>
            <a:r>
              <a:rPr b="1">
                <a:latin typeface="Proxima Nova Extrabold" panose="02000506030000020004" pitchFamily="2" charset="0"/>
              </a:rPr>
              <a:t>Additional Modules</a:t>
            </a:r>
          </a:p>
        </p:txBody>
      </p:sp>
      <p:sp>
        <p:nvSpPr>
          <p:cNvPr id="25" name="TextBox 24"/>
          <p:cNvSpPr txBox="1"/>
          <p:nvPr/>
        </p:nvSpPr>
        <p:spPr>
          <a:xfrm>
            <a:off x="6224089" y="1677037"/>
            <a:ext cx="2526000" cy="307777"/>
          </a:xfrm>
          <a:prstGeom prst="rect">
            <a:avLst/>
          </a:prstGeom>
          <a:noFill/>
        </p:spPr>
        <p:txBody>
          <a:bodyPr wrap="square">
            <a:spAutoFit/>
          </a:bodyPr>
          <a:lstStyle/>
          <a:p>
            <a:pPr algn="l">
              <a:defRPr sz="1400" b="1">
                <a:solidFill>
                  <a:srgbClr val="DB716C"/>
                </a:solidFill>
                <a:latin typeface="Calibri"/>
              </a:defRPr>
            </a:pPr>
            <a:r>
              <a:rPr b="1">
                <a:latin typeface="Proxima Nova Extrabold" panose="02000506030000020004" pitchFamily="2" charset="0"/>
              </a:rPr>
              <a:t>$180,000</a:t>
            </a:r>
          </a:p>
        </p:txBody>
      </p:sp>
      <p:sp>
        <p:nvSpPr>
          <p:cNvPr id="26" name="TextBox 25"/>
          <p:cNvSpPr txBox="1"/>
          <p:nvPr/>
        </p:nvSpPr>
        <p:spPr>
          <a:xfrm>
            <a:off x="6224089" y="1927037"/>
            <a:ext cx="2526000" cy="2259593"/>
          </a:xfrm>
          <a:prstGeom prst="rect">
            <a:avLst/>
          </a:prstGeom>
          <a:noFill/>
        </p:spPr>
        <p:txBody>
          <a:bodyPr wrap="square">
            <a:spAutoFit/>
          </a:bodyPr>
          <a:lstStyle/>
          <a:p>
            <a:pPr algn="l">
              <a:spcAft>
                <a:spcPts val="300"/>
              </a:spcAft>
              <a:defRPr sz="1000" b="1">
                <a:solidFill>
                  <a:srgbClr val="3C475C"/>
                </a:solidFill>
                <a:latin typeface="Calibri"/>
              </a:defRPr>
            </a:pPr>
            <a:r>
              <a:rPr b="1" dirty="0">
                <a:latin typeface="Proxima Nova Extrabold" panose="02000506030000020004" pitchFamily="2" charset="0"/>
              </a:rPr>
              <a:t>What It Is</a:t>
            </a:r>
          </a:p>
          <a:p>
            <a:pPr algn="l">
              <a:spcAft>
                <a:spcPts val="800"/>
              </a:spcAft>
              <a:defRPr sz="900" b="0">
                <a:solidFill>
                  <a:srgbClr val="474747"/>
                </a:solidFill>
                <a:latin typeface="Calibri"/>
              </a:defRPr>
            </a:pPr>
            <a:r>
              <a:rPr dirty="0">
                <a:latin typeface="Proxima Nova Thin" panose="02000506030000020004" pitchFamily="2" charset="0"/>
              </a:rPr>
              <a:t>Sales Operations, Sales Comp Planning, and Sales Comp Management modules — extending the platform into full revenue operations capability.</a:t>
            </a:r>
          </a:p>
          <a:p>
            <a:pPr algn="l">
              <a:spcAft>
                <a:spcPts val="300"/>
              </a:spcAft>
              <a:defRPr sz="1000" b="1">
                <a:solidFill>
                  <a:srgbClr val="3C475C"/>
                </a:solidFill>
                <a:latin typeface="Calibri"/>
              </a:defRPr>
            </a:pPr>
            <a:r>
              <a:rPr b="1" dirty="0">
                <a:latin typeface="Proxima Nova Extrabold" panose="02000506030000020004" pitchFamily="2" charset="0"/>
              </a:rPr>
              <a:t>Why It Matters</a:t>
            </a:r>
          </a:p>
          <a:p>
            <a:pPr algn="l">
              <a:spcAft>
                <a:spcPts val="800"/>
              </a:spcAft>
              <a:defRPr sz="900" b="0">
                <a:solidFill>
                  <a:srgbClr val="474747"/>
                </a:solidFill>
                <a:latin typeface="Calibri"/>
              </a:defRPr>
            </a:pPr>
            <a:r>
              <a:rPr dirty="0">
                <a:latin typeface="Proxima Nova Thin" panose="02000506030000020004" pitchFamily="2" charset="0"/>
              </a:rPr>
              <a:t>Each module leverages 80% prebuilt components, delivering capabilities that would take months to build from scratch — in weeks.</a:t>
            </a:r>
          </a:p>
          <a:p>
            <a:pPr algn="l">
              <a:spcAft>
                <a:spcPts val="300"/>
              </a:spcAft>
              <a:defRPr sz="1000" b="1">
                <a:solidFill>
                  <a:srgbClr val="3C475C"/>
                </a:solidFill>
                <a:latin typeface="Calibri"/>
              </a:defRPr>
            </a:pPr>
            <a:r>
              <a:rPr b="1" dirty="0">
                <a:latin typeface="Proxima Nova Extrabold" panose="02000506030000020004" pitchFamily="2" charset="0"/>
              </a:rPr>
              <a:t>What Drives the Price</a:t>
            </a:r>
          </a:p>
          <a:p>
            <a:pPr algn="l">
              <a:spcAft>
                <a:spcPts val="0"/>
              </a:spcAft>
              <a:defRPr sz="900" b="0">
                <a:solidFill>
                  <a:srgbClr val="474747"/>
                </a:solidFill>
                <a:latin typeface="Calibri"/>
              </a:defRPr>
            </a:pPr>
            <a:r>
              <a:rPr dirty="0">
                <a:latin typeface="Proxima Nova Thin" panose="02000506030000020004" pitchFamily="2" charset="0"/>
              </a:rPr>
              <a:t>Comp plan complexity, number of payees, and the degree of custom logic required for your business rules.</a:t>
            </a:r>
          </a:p>
        </p:txBody>
      </p:sp>
      <p:sp>
        <p:nvSpPr>
          <p:cNvPr id="27" name="Rectangle 26"/>
          <p:cNvSpPr/>
          <p:nvPr/>
        </p:nvSpPr>
        <p:spPr>
          <a:xfrm>
            <a:off x="277089" y="4342925"/>
            <a:ext cx="8636000" cy="280000"/>
          </a:xfrm>
          <a:prstGeom prst="rect">
            <a:avLst/>
          </a:prstGeom>
          <a:solidFill>
            <a:srgbClr val="3C4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28489" y="4342925"/>
            <a:ext cx="4000000" cy="307777"/>
          </a:xfrm>
          <a:prstGeom prst="rect">
            <a:avLst/>
          </a:prstGeom>
          <a:noFill/>
        </p:spPr>
        <p:txBody>
          <a:bodyPr wrap="square">
            <a:spAutoFit/>
          </a:bodyPr>
          <a:lstStyle/>
          <a:p>
            <a:pPr algn="l">
              <a:defRPr sz="1300" b="1">
                <a:solidFill>
                  <a:srgbClr val="FFFFFF"/>
                </a:solidFill>
                <a:latin typeface="Calibri"/>
              </a:defRPr>
            </a:pPr>
            <a:r>
              <a:rPr b="1" dirty="0">
                <a:latin typeface="Proxima Nova Extrabold" panose="02000506030000020004" pitchFamily="2" charset="0"/>
              </a:rPr>
              <a:t xml:space="preserve">Total </a:t>
            </a:r>
            <a:r>
              <a:rPr sz="1400" b="1" dirty="0">
                <a:latin typeface="Proxima Nova Extrabold" panose="02000506030000020004" pitchFamily="2" charset="0"/>
              </a:rPr>
              <a:t>Solution</a:t>
            </a:r>
            <a:r>
              <a:rPr b="1" dirty="0">
                <a:latin typeface="Proxima Nova Extrabold" panose="02000506030000020004" pitchFamily="2" charset="0"/>
              </a:rPr>
              <a:t xml:space="preserve"> Investment</a:t>
            </a:r>
          </a:p>
        </p:txBody>
      </p:sp>
      <p:sp>
        <p:nvSpPr>
          <p:cNvPr id="29" name="TextBox 28"/>
          <p:cNvSpPr txBox="1"/>
          <p:nvPr/>
        </p:nvSpPr>
        <p:spPr>
          <a:xfrm>
            <a:off x="5859806" y="4342925"/>
            <a:ext cx="2864600" cy="292388"/>
          </a:xfrm>
          <a:prstGeom prst="rect">
            <a:avLst/>
          </a:prstGeom>
          <a:noFill/>
        </p:spPr>
        <p:txBody>
          <a:bodyPr wrap="square">
            <a:spAutoFit/>
          </a:bodyPr>
          <a:lstStyle>
            <a:lvl1pPr>
              <a:defRPr sz="1300" b="1">
                <a:solidFill>
                  <a:srgbClr val="FFFFFF"/>
                </a:solidFill>
                <a:latin typeface="Proxima Nova Extrabold" panose="02000506030000020004" pitchFamily="2" charset="0"/>
              </a:defRPr>
            </a:lvl1pPr>
          </a:lstStyle>
          <a:p>
            <a:pPr algn="r"/>
            <a:r>
              <a:rPr dirty="0"/>
              <a:t>$405,000</a:t>
            </a:r>
          </a:p>
        </p:txBody>
      </p:sp>
      <p:sp>
        <p:nvSpPr>
          <p:cNvPr id="30" name="TextBox 29"/>
          <p:cNvSpPr txBox="1"/>
          <p:nvPr/>
        </p:nvSpPr>
        <p:spPr>
          <a:xfrm>
            <a:off x="228600" y="5080000"/>
            <a:ext cx="8636000" cy="180000"/>
          </a:xfrm>
          <a:prstGeom prst="rect">
            <a:avLst/>
          </a:prstGeom>
          <a:noFill/>
        </p:spPr>
        <p:txBody>
          <a:bodyPr wrap="square">
            <a:spAutoFit/>
          </a:bodyPr>
          <a:lstStyle/>
          <a:p>
            <a:pPr algn="ctr">
              <a:defRPr sz="900" b="0">
                <a:solidFill>
                  <a:srgbClr val="718AA8"/>
                </a:solidFill>
                <a:latin typeface="Calibri"/>
              </a:defRPr>
            </a:pPr>
            <a:r>
              <a:t>Amortized as equal annual installments over a 36-month partnership term  ·  You own the code from day one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3152"/>
          </a:xfrm>
          <a:prstGeom prst="rect">
            <a:avLst/>
          </a:prstGeom>
          <a:solidFill>
            <a:srgbClr val="DB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9144000" cy="749808"/>
          </a:xfrm>
          <a:prstGeom prst="rect">
            <a:avLst/>
          </a:prstGeom>
          <a:solidFill>
            <a:srgbClr val="3C4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8056"/>
            <a:ext cx="6400800" cy="492443"/>
          </a:xfrm>
          <a:prstGeom prst="rect">
            <a:avLst/>
          </a:prstGeom>
          <a:noFill/>
        </p:spPr>
        <p:txBody>
          <a:bodyPr wrap="square">
            <a:spAutoFit/>
          </a:bodyPr>
          <a:lstStyle/>
          <a:p>
            <a:pPr algn="l">
              <a:defRPr sz="2600" b="1">
                <a:solidFill>
                  <a:srgbClr val="FFFFFF"/>
                </a:solidFill>
                <a:latin typeface="Calibri"/>
              </a:defRPr>
            </a:pPr>
            <a:r>
              <a:rPr b="1" dirty="0">
                <a:latin typeface="Proxima Nova Extrabold" panose="02000506030000020004" pitchFamily="2" charset="0"/>
              </a:rPr>
              <a:t>Platform Evolution Partnership</a:t>
            </a:r>
          </a:p>
        </p:txBody>
      </p:sp>
      <p:sp>
        <p:nvSpPr>
          <p:cNvPr id="5" name="TextBox 4"/>
          <p:cNvSpPr txBox="1"/>
          <p:nvPr/>
        </p:nvSpPr>
        <p:spPr>
          <a:xfrm>
            <a:off x="365760" y="477721"/>
            <a:ext cx="8000000" cy="292388"/>
          </a:xfrm>
          <a:prstGeom prst="rect">
            <a:avLst/>
          </a:prstGeom>
          <a:noFill/>
        </p:spPr>
        <p:txBody>
          <a:bodyPr wrap="square">
            <a:spAutoFit/>
          </a:bodyPr>
          <a:lstStyle/>
          <a:p>
            <a:pPr algn="l">
              <a:defRPr sz="1300" b="0">
                <a:solidFill>
                  <a:srgbClr val="718AA8"/>
                </a:solidFill>
                <a:latin typeface="Calibri"/>
              </a:defRPr>
            </a:pPr>
            <a:r>
              <a:rPr b="1" i="1" dirty="0">
                <a:latin typeface="Proxima Nova Extrabold" panose="02000506030000020004" pitchFamily="2" charset="0"/>
              </a:rPr>
              <a:t>Your solution gets smarter over time. Choose the depth of the ongoing relationship.</a:t>
            </a:r>
          </a:p>
        </p:txBody>
      </p:sp>
      <p:sp>
        <p:nvSpPr>
          <p:cNvPr id="6" name="Rectangle 5"/>
          <p:cNvSpPr/>
          <p:nvPr/>
        </p:nvSpPr>
        <p:spPr>
          <a:xfrm>
            <a:off x="0" y="4892040"/>
            <a:ext cx="9144000" cy="251460"/>
          </a:xfrm>
          <a:prstGeom prst="rect">
            <a:avLst/>
          </a:prstGeom>
          <a:solidFill>
            <a:srgbClr val="3C4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0" y="4914900"/>
            <a:ext cx="9144000" cy="203200"/>
          </a:xfrm>
          <a:prstGeom prst="rect">
            <a:avLst/>
          </a:prstGeom>
          <a:noFill/>
        </p:spPr>
        <p:txBody>
          <a:bodyPr wrap="square">
            <a:spAutoFit/>
          </a:bodyPr>
          <a:lstStyle/>
          <a:p>
            <a:pPr algn="ctr">
              <a:defRPr sz="1000" b="0">
                <a:solidFill>
                  <a:srgbClr val="B9C5D3"/>
                </a:solidFill>
                <a:latin typeface="Calibri"/>
              </a:defRPr>
            </a:pPr>
            <a:r>
              <a:t>Confidential and Proprietary - The Blue Horizons Group LLC</a:t>
            </a:r>
          </a:p>
        </p:txBody>
      </p:sp>
      <p:sp>
        <p:nvSpPr>
          <p:cNvPr id="8" name="TextBox 7"/>
          <p:cNvSpPr txBox="1"/>
          <p:nvPr/>
        </p:nvSpPr>
        <p:spPr>
          <a:xfrm>
            <a:off x="6400800" y="4901184"/>
            <a:ext cx="2423160" cy="201168"/>
          </a:xfrm>
          <a:prstGeom prst="rect">
            <a:avLst/>
          </a:prstGeom>
          <a:noFill/>
        </p:spPr>
        <p:txBody>
          <a:bodyPr wrap="square">
            <a:spAutoFit/>
          </a:bodyPr>
          <a:lstStyle/>
          <a:p>
            <a:pPr algn="r">
              <a:defRPr sz="1000" b="0">
                <a:solidFill>
                  <a:srgbClr val="B9C5D3"/>
                </a:solidFill>
                <a:latin typeface="Calibri"/>
              </a:defRPr>
            </a:pPr>
            <a:r>
              <a:t>Confidential  ·  March 16, 2026</a:t>
            </a:r>
          </a:p>
        </p:txBody>
      </p:sp>
      <p:sp>
        <p:nvSpPr>
          <p:cNvPr id="9" name="Rectangle 8"/>
          <p:cNvSpPr/>
          <p:nvPr/>
        </p:nvSpPr>
        <p:spPr>
          <a:xfrm>
            <a:off x="228600" y="920000"/>
            <a:ext cx="2780000" cy="564252"/>
          </a:xfrm>
          <a:prstGeom prst="rect">
            <a:avLst/>
          </a:prstGeom>
          <a:solidFill>
            <a:srgbClr val="3C4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5600" y="960000"/>
            <a:ext cx="2526000" cy="220000"/>
          </a:xfrm>
          <a:prstGeom prst="rect">
            <a:avLst/>
          </a:prstGeom>
          <a:noFill/>
        </p:spPr>
        <p:txBody>
          <a:bodyPr wrap="square">
            <a:spAutoFit/>
          </a:bodyPr>
          <a:lstStyle/>
          <a:p>
            <a:pPr algn="l">
              <a:defRPr sz="1800" b="1">
                <a:solidFill>
                  <a:srgbClr val="FFFFFF"/>
                </a:solidFill>
                <a:latin typeface="Calibri"/>
              </a:defRPr>
            </a:pPr>
            <a:r>
              <a:t>Maintain</a:t>
            </a:r>
          </a:p>
        </p:txBody>
      </p:sp>
      <p:sp>
        <p:nvSpPr>
          <p:cNvPr id="11" name="TextBox 10"/>
          <p:cNvSpPr txBox="1"/>
          <p:nvPr/>
        </p:nvSpPr>
        <p:spPr>
          <a:xfrm>
            <a:off x="355600" y="1200000"/>
            <a:ext cx="2526000" cy="276999"/>
          </a:xfrm>
          <a:prstGeom prst="rect">
            <a:avLst/>
          </a:prstGeom>
          <a:noFill/>
        </p:spPr>
        <p:txBody>
          <a:bodyPr wrap="square">
            <a:spAutoFit/>
          </a:bodyPr>
          <a:lstStyle/>
          <a:p>
            <a:pPr algn="l">
              <a:defRPr sz="1200" b="1">
                <a:solidFill>
                  <a:srgbClr val="CADCFC"/>
                </a:solidFill>
                <a:latin typeface="Calibri"/>
              </a:defRPr>
            </a:pPr>
            <a:r>
              <a:rPr dirty="0"/>
              <a:t>$6,000 / month</a:t>
            </a:r>
          </a:p>
        </p:txBody>
      </p:sp>
      <p:sp>
        <p:nvSpPr>
          <p:cNvPr id="12" name="Rectangle 11"/>
          <p:cNvSpPr/>
          <p:nvPr/>
        </p:nvSpPr>
        <p:spPr>
          <a:xfrm>
            <a:off x="228600" y="1476998"/>
            <a:ext cx="2780000" cy="3143001"/>
          </a:xfrm>
          <a:prstGeom prst="rect">
            <a:avLst/>
          </a:prstGeom>
          <a:solidFill>
            <a:srgbClr val="E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5600" y="1529028"/>
            <a:ext cx="2526000" cy="2780248"/>
          </a:xfrm>
          <a:prstGeom prst="rect">
            <a:avLst/>
          </a:prstGeom>
          <a:noFill/>
        </p:spPr>
        <p:txBody>
          <a:bodyPr wrap="square">
            <a:spAutoFit/>
          </a:bodyPr>
          <a:lstStyle/>
          <a:p>
            <a:pPr algn="l">
              <a:spcAft>
                <a:spcPts val="600"/>
              </a:spcAft>
              <a:defRPr sz="1000" b="1">
                <a:solidFill>
                  <a:srgbClr val="DB716C"/>
                </a:solidFill>
                <a:latin typeface="Calibri"/>
              </a:defRPr>
            </a:pPr>
            <a:r>
              <a:rPr sz="1100" dirty="0"/>
              <a:t>The Foundation</a:t>
            </a:r>
          </a:p>
          <a:p>
            <a:pPr algn="l">
              <a:spcAft>
                <a:spcPts val="1000"/>
              </a:spcAft>
              <a:defRPr sz="900" b="0">
                <a:solidFill>
                  <a:srgbClr val="474747"/>
                </a:solidFill>
                <a:latin typeface="Calibri"/>
              </a:defRPr>
            </a:pPr>
            <a:r>
              <a:rPr sz="1000" dirty="0"/>
              <a:t>Everything you need to keep your deployment healthy, secure, and current.</a:t>
            </a:r>
          </a:p>
          <a:p>
            <a:pPr algn="l">
              <a:spcAft>
                <a:spcPts val="400"/>
              </a:spcAft>
              <a:defRPr sz="1000" b="1">
                <a:solidFill>
                  <a:srgbClr val="3C475C"/>
                </a:solidFill>
                <a:latin typeface="Calibri"/>
              </a:defRPr>
            </a:pPr>
            <a:r>
              <a:rPr sz="1050" dirty="0"/>
              <a:t>Included:</a:t>
            </a:r>
          </a:p>
          <a:p>
            <a:pPr algn="l">
              <a:spcAft>
                <a:spcPts val="300"/>
              </a:spcAft>
              <a:defRPr sz="900" b="0">
                <a:solidFill>
                  <a:srgbClr val="474747"/>
                </a:solidFill>
                <a:latin typeface="Calibri"/>
              </a:defRPr>
            </a:pPr>
            <a:r>
              <a:rPr sz="1000" dirty="0"/>
              <a:t>•  Security patches &amp; infrastructure updates</a:t>
            </a:r>
          </a:p>
          <a:p>
            <a:pPr algn="l">
              <a:spcAft>
                <a:spcPts val="300"/>
              </a:spcAft>
              <a:defRPr sz="900" b="0">
                <a:solidFill>
                  <a:srgbClr val="474747"/>
                </a:solidFill>
                <a:latin typeface="Calibri"/>
              </a:defRPr>
            </a:pPr>
            <a:r>
              <a:rPr sz="1000" dirty="0"/>
              <a:t>•  Shared service upgrades</a:t>
            </a:r>
          </a:p>
          <a:p>
            <a:pPr algn="l">
              <a:spcAft>
                <a:spcPts val="300"/>
              </a:spcAft>
              <a:defRPr sz="900" b="0">
                <a:solidFill>
                  <a:srgbClr val="474747"/>
                </a:solidFill>
                <a:latin typeface="Calibri"/>
              </a:defRPr>
            </a:pPr>
            <a:r>
              <a:rPr sz="1000" dirty="0"/>
              <a:t>•  Break-fix support with defined SLAs</a:t>
            </a:r>
          </a:p>
          <a:p>
            <a:pPr algn="l">
              <a:spcAft>
                <a:spcPts val="300"/>
              </a:spcAft>
              <a:defRPr sz="900" b="0">
                <a:solidFill>
                  <a:srgbClr val="474747"/>
                </a:solidFill>
                <a:latin typeface="Calibri"/>
              </a:defRPr>
            </a:pPr>
            <a:r>
              <a:rPr sz="1000" dirty="0"/>
              <a:t>•  Platform health monitoring &amp; alerting</a:t>
            </a:r>
            <a:endParaRPr lang="en-US" sz="1000" dirty="0"/>
          </a:p>
          <a:p>
            <a:pPr>
              <a:spcAft>
                <a:spcPts val="300"/>
              </a:spcAft>
              <a:defRPr sz="900" b="0">
                <a:solidFill>
                  <a:srgbClr val="474747"/>
                </a:solidFill>
                <a:latin typeface="Calibri"/>
              </a:defRPr>
            </a:pPr>
            <a:r>
              <a:rPr lang="en-US" sz="1000" dirty="0"/>
              <a:t>•  Includes 500K Tokens/</a:t>
            </a:r>
            <a:r>
              <a:rPr lang="en-US" sz="1000" dirty="0" err="1"/>
              <a:t>mo</a:t>
            </a:r>
            <a:r>
              <a:rPr lang="en-US" sz="1000" dirty="0"/>
              <a:t xml:space="preserve"> </a:t>
            </a:r>
          </a:p>
          <a:p>
            <a:pPr>
              <a:spcAft>
                <a:spcPts val="300"/>
              </a:spcAft>
              <a:defRPr sz="900" b="0">
                <a:solidFill>
                  <a:srgbClr val="474747"/>
                </a:solidFill>
                <a:latin typeface="Calibri"/>
              </a:defRPr>
            </a:pPr>
            <a:r>
              <a:rPr lang="en-US" sz="1000" dirty="0"/>
              <a:t>•  Token Overage Rate $2.00 per 1M tokens</a:t>
            </a:r>
          </a:p>
          <a:p>
            <a:pPr>
              <a:spcAft>
                <a:spcPts val="300"/>
              </a:spcAft>
              <a:defRPr sz="900" b="0">
                <a:solidFill>
                  <a:srgbClr val="474747"/>
                </a:solidFill>
                <a:latin typeface="Calibri"/>
              </a:defRPr>
            </a:pPr>
            <a:endParaRPr lang="en-US" sz="1000" dirty="0"/>
          </a:p>
          <a:p>
            <a:pPr algn="l">
              <a:spcAft>
                <a:spcPts val="1200"/>
              </a:spcAft>
              <a:defRPr sz="900" b="0">
                <a:solidFill>
                  <a:srgbClr val="474747"/>
                </a:solidFill>
                <a:latin typeface="Calibri"/>
              </a:defRPr>
            </a:pPr>
            <a:endParaRPr lang="en-US" sz="1000" dirty="0"/>
          </a:p>
          <a:p>
            <a:pPr algn="l">
              <a:spcAft>
                <a:spcPts val="1200"/>
              </a:spcAft>
              <a:defRPr sz="900" b="0">
                <a:solidFill>
                  <a:srgbClr val="474747"/>
                </a:solidFill>
                <a:latin typeface="Calibri"/>
              </a:defRPr>
            </a:pPr>
            <a:endParaRPr dirty="0"/>
          </a:p>
        </p:txBody>
      </p:sp>
      <p:sp>
        <p:nvSpPr>
          <p:cNvPr id="14" name="Rectangle 13"/>
          <p:cNvSpPr/>
          <p:nvPr/>
        </p:nvSpPr>
        <p:spPr>
          <a:xfrm>
            <a:off x="3138600" y="920000"/>
            <a:ext cx="2780000" cy="564252"/>
          </a:xfrm>
          <a:prstGeom prst="rect">
            <a:avLst/>
          </a:prstGeom>
          <a:solidFill>
            <a:srgbClr val="DB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65600" y="960000"/>
            <a:ext cx="2526000" cy="220000"/>
          </a:xfrm>
          <a:prstGeom prst="rect">
            <a:avLst/>
          </a:prstGeom>
          <a:noFill/>
        </p:spPr>
        <p:txBody>
          <a:bodyPr wrap="square">
            <a:spAutoFit/>
          </a:bodyPr>
          <a:lstStyle/>
          <a:p>
            <a:pPr algn="l">
              <a:defRPr sz="1800" b="1">
                <a:solidFill>
                  <a:srgbClr val="FFFFFF"/>
                </a:solidFill>
                <a:latin typeface="Calibri"/>
              </a:defRPr>
            </a:pPr>
            <a:r>
              <a:t>Evolve</a:t>
            </a:r>
          </a:p>
        </p:txBody>
      </p:sp>
      <p:sp>
        <p:nvSpPr>
          <p:cNvPr id="17" name="Rectangle 16"/>
          <p:cNvSpPr/>
          <p:nvPr/>
        </p:nvSpPr>
        <p:spPr>
          <a:xfrm>
            <a:off x="4638500" y="993958"/>
            <a:ext cx="1216600" cy="252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chemeClr val="tx1"/>
                </a:solidFill>
                <a:latin typeface="Proxima Nova Extrabold" panose="02000506030000020004" pitchFamily="2" charset="0"/>
              </a:rPr>
              <a:t>RECOMMENDED</a:t>
            </a:r>
            <a:endParaRPr sz="1000" b="1" dirty="0">
              <a:solidFill>
                <a:schemeClr val="tx1"/>
              </a:solidFill>
              <a:latin typeface="Proxima Nova Extrabold" panose="02000506030000020004" pitchFamily="2" charset="0"/>
            </a:endParaRPr>
          </a:p>
        </p:txBody>
      </p:sp>
      <p:sp>
        <p:nvSpPr>
          <p:cNvPr id="19" name="TextBox 18"/>
          <p:cNvSpPr txBox="1"/>
          <p:nvPr/>
        </p:nvSpPr>
        <p:spPr>
          <a:xfrm>
            <a:off x="3265600" y="1200000"/>
            <a:ext cx="2526000" cy="276999"/>
          </a:xfrm>
          <a:prstGeom prst="rect">
            <a:avLst/>
          </a:prstGeom>
          <a:noFill/>
        </p:spPr>
        <p:txBody>
          <a:bodyPr wrap="square">
            <a:spAutoFit/>
          </a:bodyPr>
          <a:lstStyle/>
          <a:p>
            <a:pPr algn="l">
              <a:defRPr sz="1200" b="1">
                <a:solidFill>
                  <a:srgbClr val="FFE0DE"/>
                </a:solidFill>
                <a:latin typeface="Calibri"/>
              </a:defRPr>
            </a:pPr>
            <a:r>
              <a:rPr dirty="0"/>
              <a:t>$12,000 / month</a:t>
            </a:r>
          </a:p>
        </p:txBody>
      </p:sp>
      <p:sp>
        <p:nvSpPr>
          <p:cNvPr id="20" name="Rectangle 19"/>
          <p:cNvSpPr/>
          <p:nvPr/>
        </p:nvSpPr>
        <p:spPr>
          <a:xfrm>
            <a:off x="3138600" y="1476998"/>
            <a:ext cx="2780000" cy="3143001"/>
          </a:xfrm>
          <a:prstGeom prst="rect">
            <a:avLst/>
          </a:prstGeom>
          <a:solidFill>
            <a:srgbClr val="E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65600" y="1529028"/>
            <a:ext cx="2526000" cy="2641749"/>
          </a:xfrm>
          <a:prstGeom prst="rect">
            <a:avLst/>
          </a:prstGeom>
          <a:noFill/>
        </p:spPr>
        <p:txBody>
          <a:bodyPr wrap="square">
            <a:spAutoFit/>
          </a:bodyPr>
          <a:lstStyle/>
          <a:p>
            <a:pPr algn="l">
              <a:spcAft>
                <a:spcPts val="600"/>
              </a:spcAft>
              <a:defRPr sz="1000" b="1">
                <a:solidFill>
                  <a:srgbClr val="DB716C"/>
                </a:solidFill>
                <a:latin typeface="Calibri"/>
              </a:defRPr>
            </a:pPr>
            <a:r>
              <a:rPr sz="1100" dirty="0"/>
              <a:t>Continuous Improvement</a:t>
            </a:r>
          </a:p>
          <a:p>
            <a:pPr algn="l">
              <a:spcAft>
                <a:spcPts val="1000"/>
              </a:spcAft>
              <a:defRPr sz="900" b="0">
                <a:solidFill>
                  <a:srgbClr val="474747"/>
                </a:solidFill>
                <a:latin typeface="Calibri"/>
              </a:defRPr>
            </a:pPr>
            <a:r>
              <a:rPr sz="1000" dirty="0"/>
              <a:t>Your solution actively gets smarter every quarter with advisory-led evolution.</a:t>
            </a:r>
          </a:p>
          <a:p>
            <a:pPr algn="l">
              <a:spcAft>
                <a:spcPts val="400"/>
              </a:spcAft>
              <a:defRPr sz="1000" b="1">
                <a:solidFill>
                  <a:srgbClr val="3C475C"/>
                </a:solidFill>
                <a:latin typeface="Calibri"/>
              </a:defRPr>
            </a:pPr>
            <a:r>
              <a:rPr sz="1050" dirty="0"/>
              <a:t>Everything in Maintain, plus:</a:t>
            </a:r>
          </a:p>
          <a:p>
            <a:pPr algn="l">
              <a:spcAft>
                <a:spcPts val="300"/>
              </a:spcAft>
              <a:defRPr sz="900" b="0">
                <a:solidFill>
                  <a:srgbClr val="474747"/>
                </a:solidFill>
                <a:latin typeface="Calibri"/>
              </a:defRPr>
            </a:pPr>
            <a:r>
              <a:rPr sz="1000" dirty="0"/>
              <a:t>•  Continuous intelligence &amp; anomaly detection</a:t>
            </a:r>
          </a:p>
          <a:p>
            <a:pPr algn="l">
              <a:spcAft>
                <a:spcPts val="300"/>
              </a:spcAft>
              <a:defRPr sz="900" b="0">
                <a:solidFill>
                  <a:srgbClr val="474747"/>
                </a:solidFill>
                <a:latin typeface="Calibri"/>
              </a:defRPr>
            </a:pPr>
            <a:r>
              <a:rPr sz="1000" dirty="0"/>
              <a:t xml:space="preserve">•  Full </a:t>
            </a:r>
            <a:r>
              <a:rPr sz="1000" dirty="0" err="1"/>
              <a:t>AskRegister</a:t>
            </a:r>
            <a:r>
              <a:rPr sz="1000" dirty="0"/>
              <a:t xml:space="preserve"> conversational analytics</a:t>
            </a:r>
          </a:p>
          <a:p>
            <a:pPr algn="l">
              <a:spcAft>
                <a:spcPts val="300"/>
              </a:spcAft>
              <a:defRPr sz="900" b="0">
                <a:solidFill>
                  <a:srgbClr val="474747"/>
                </a:solidFill>
                <a:latin typeface="Calibri"/>
              </a:defRPr>
            </a:pPr>
            <a:r>
              <a:rPr sz="1000" dirty="0"/>
              <a:t>•  Quarterly Business Reviews</a:t>
            </a:r>
          </a:p>
          <a:p>
            <a:pPr algn="l">
              <a:spcAft>
                <a:spcPts val="300"/>
              </a:spcAft>
              <a:defRPr sz="900" b="0">
                <a:solidFill>
                  <a:srgbClr val="474747"/>
                </a:solidFill>
                <a:latin typeface="Calibri"/>
              </a:defRPr>
            </a:pPr>
            <a:r>
              <a:rPr sz="1000" dirty="0"/>
              <a:t>•  Quarterly Evolution Sprint</a:t>
            </a:r>
          </a:p>
          <a:p>
            <a:pPr algn="l">
              <a:spcAft>
                <a:spcPts val="300"/>
              </a:spcAft>
              <a:defRPr sz="900" b="0">
                <a:solidFill>
                  <a:srgbClr val="474747"/>
                </a:solidFill>
                <a:latin typeface="Calibri"/>
              </a:defRPr>
            </a:pPr>
            <a:r>
              <a:rPr sz="1000" dirty="0"/>
              <a:t>•  Sprint Impact Documentation</a:t>
            </a:r>
            <a:endParaRPr lang="en-US" sz="1000" dirty="0"/>
          </a:p>
          <a:p>
            <a:pPr>
              <a:spcAft>
                <a:spcPts val="300"/>
              </a:spcAft>
              <a:defRPr sz="900" b="0">
                <a:solidFill>
                  <a:srgbClr val="474747"/>
                </a:solidFill>
                <a:latin typeface="Calibri"/>
              </a:defRPr>
            </a:pPr>
            <a:r>
              <a:rPr lang="en-US" sz="1000" dirty="0"/>
              <a:t>•  Includes 2M Tokens/</a:t>
            </a:r>
            <a:r>
              <a:rPr lang="en-US" sz="1000" dirty="0" err="1"/>
              <a:t>mo</a:t>
            </a:r>
            <a:r>
              <a:rPr lang="en-US" sz="1000" dirty="0"/>
              <a:t xml:space="preserve"> </a:t>
            </a:r>
          </a:p>
          <a:p>
            <a:pPr>
              <a:spcAft>
                <a:spcPts val="300"/>
              </a:spcAft>
              <a:defRPr sz="900" b="0">
                <a:solidFill>
                  <a:srgbClr val="474747"/>
                </a:solidFill>
                <a:latin typeface="Calibri"/>
              </a:defRPr>
            </a:pPr>
            <a:r>
              <a:rPr lang="en-US" sz="1000" dirty="0"/>
              <a:t>•  Token Overage Rate $1.50 per 1M tokens</a:t>
            </a:r>
          </a:p>
          <a:p>
            <a:pPr algn="l">
              <a:spcAft>
                <a:spcPts val="1200"/>
              </a:spcAft>
              <a:defRPr sz="900" b="0">
                <a:solidFill>
                  <a:srgbClr val="474747"/>
                </a:solidFill>
                <a:latin typeface="Calibri"/>
              </a:defRPr>
            </a:pPr>
            <a:endParaRPr sz="1000" dirty="0"/>
          </a:p>
        </p:txBody>
      </p:sp>
      <p:sp>
        <p:nvSpPr>
          <p:cNvPr id="22" name="Rectangle 21"/>
          <p:cNvSpPr/>
          <p:nvPr/>
        </p:nvSpPr>
        <p:spPr>
          <a:xfrm>
            <a:off x="6048600" y="920000"/>
            <a:ext cx="2780000" cy="564252"/>
          </a:xfrm>
          <a:prstGeom prst="rect">
            <a:avLst/>
          </a:prstGeom>
          <a:solidFill>
            <a:srgbClr val="3C4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75600" y="960000"/>
            <a:ext cx="2526000" cy="220000"/>
          </a:xfrm>
          <a:prstGeom prst="rect">
            <a:avLst/>
          </a:prstGeom>
          <a:noFill/>
        </p:spPr>
        <p:txBody>
          <a:bodyPr wrap="square">
            <a:spAutoFit/>
          </a:bodyPr>
          <a:lstStyle/>
          <a:p>
            <a:pPr algn="l">
              <a:defRPr sz="1800" b="1">
                <a:solidFill>
                  <a:srgbClr val="FFFFFF"/>
                </a:solidFill>
                <a:latin typeface="Calibri"/>
              </a:defRPr>
            </a:pPr>
            <a:r>
              <a:t>Accelerate</a:t>
            </a:r>
          </a:p>
        </p:txBody>
      </p:sp>
      <p:sp>
        <p:nvSpPr>
          <p:cNvPr id="24" name="TextBox 23"/>
          <p:cNvSpPr txBox="1"/>
          <p:nvPr/>
        </p:nvSpPr>
        <p:spPr>
          <a:xfrm>
            <a:off x="6175600" y="1200000"/>
            <a:ext cx="2526000" cy="276999"/>
          </a:xfrm>
          <a:prstGeom prst="rect">
            <a:avLst/>
          </a:prstGeom>
          <a:noFill/>
        </p:spPr>
        <p:txBody>
          <a:bodyPr wrap="square">
            <a:spAutoFit/>
          </a:bodyPr>
          <a:lstStyle/>
          <a:p>
            <a:pPr algn="l">
              <a:defRPr sz="1200" b="1">
                <a:solidFill>
                  <a:srgbClr val="CADCFC"/>
                </a:solidFill>
                <a:latin typeface="Calibri"/>
              </a:defRPr>
            </a:pPr>
            <a:r>
              <a:rPr dirty="0"/>
              <a:t>$25,000 / month</a:t>
            </a:r>
          </a:p>
        </p:txBody>
      </p:sp>
      <p:sp>
        <p:nvSpPr>
          <p:cNvPr id="25" name="Rectangle 24"/>
          <p:cNvSpPr/>
          <p:nvPr/>
        </p:nvSpPr>
        <p:spPr>
          <a:xfrm>
            <a:off x="6048600" y="1476998"/>
            <a:ext cx="2780000" cy="3143001"/>
          </a:xfrm>
          <a:prstGeom prst="rect">
            <a:avLst/>
          </a:prstGeom>
          <a:solidFill>
            <a:srgbClr val="E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175600" y="1529028"/>
            <a:ext cx="2526000" cy="2487861"/>
          </a:xfrm>
          <a:prstGeom prst="rect">
            <a:avLst/>
          </a:prstGeom>
          <a:noFill/>
        </p:spPr>
        <p:txBody>
          <a:bodyPr wrap="square">
            <a:spAutoFit/>
          </a:bodyPr>
          <a:lstStyle/>
          <a:p>
            <a:pPr algn="l">
              <a:spcAft>
                <a:spcPts val="600"/>
              </a:spcAft>
              <a:defRPr sz="1000" b="1">
                <a:solidFill>
                  <a:srgbClr val="DB716C"/>
                </a:solidFill>
                <a:latin typeface="Calibri"/>
              </a:defRPr>
            </a:pPr>
            <a:r>
              <a:rPr sz="1100" dirty="0"/>
              <a:t>Strategic Partnership</a:t>
            </a:r>
          </a:p>
          <a:p>
            <a:pPr algn="l">
              <a:spcAft>
                <a:spcPts val="1000"/>
              </a:spcAft>
              <a:defRPr sz="900" b="0">
                <a:solidFill>
                  <a:srgbClr val="474747"/>
                </a:solidFill>
                <a:latin typeface="Calibri"/>
              </a:defRPr>
            </a:pPr>
            <a:r>
              <a:rPr sz="1000" dirty="0"/>
              <a:t xml:space="preserve">A dedicated advisory practice powered by the platform — fractional </a:t>
            </a:r>
            <a:r>
              <a:rPr sz="1000" dirty="0" err="1"/>
              <a:t>RevOps</a:t>
            </a:r>
            <a:r>
              <a:rPr sz="1000" dirty="0"/>
              <a:t xml:space="preserve"> leadership.</a:t>
            </a:r>
          </a:p>
          <a:p>
            <a:pPr algn="l">
              <a:spcAft>
                <a:spcPts val="400"/>
              </a:spcAft>
              <a:defRPr sz="1000" b="1">
                <a:solidFill>
                  <a:srgbClr val="3C475C"/>
                </a:solidFill>
                <a:latin typeface="Calibri"/>
              </a:defRPr>
            </a:pPr>
            <a:r>
              <a:rPr sz="1050" dirty="0"/>
              <a:t>Everything in Evolve, plus:</a:t>
            </a:r>
          </a:p>
          <a:p>
            <a:pPr algn="l">
              <a:spcAft>
                <a:spcPts val="300"/>
              </a:spcAft>
              <a:defRPr sz="900" b="0">
                <a:solidFill>
                  <a:srgbClr val="474747"/>
                </a:solidFill>
                <a:latin typeface="Calibri"/>
              </a:defRPr>
            </a:pPr>
            <a:r>
              <a:rPr sz="1000" dirty="0"/>
              <a:t>•  Dedicated named senior advisor</a:t>
            </a:r>
          </a:p>
          <a:p>
            <a:pPr algn="l">
              <a:spcAft>
                <a:spcPts val="300"/>
              </a:spcAft>
              <a:defRPr sz="900" b="0">
                <a:solidFill>
                  <a:srgbClr val="474747"/>
                </a:solidFill>
                <a:latin typeface="Calibri"/>
              </a:defRPr>
            </a:pPr>
            <a:r>
              <a:rPr sz="1000" dirty="0"/>
              <a:t>•  Monthly evolution cycles</a:t>
            </a:r>
          </a:p>
          <a:p>
            <a:pPr algn="l">
              <a:spcAft>
                <a:spcPts val="300"/>
              </a:spcAft>
              <a:defRPr sz="900" b="0">
                <a:solidFill>
                  <a:srgbClr val="474747"/>
                </a:solidFill>
                <a:latin typeface="Calibri"/>
              </a:defRPr>
            </a:pPr>
            <a:r>
              <a:rPr sz="1000" dirty="0"/>
              <a:t>•  On-demand scenario modeling</a:t>
            </a:r>
          </a:p>
          <a:p>
            <a:pPr algn="l">
              <a:spcAft>
                <a:spcPts val="300"/>
              </a:spcAft>
              <a:defRPr sz="900" b="0">
                <a:solidFill>
                  <a:srgbClr val="474747"/>
                </a:solidFill>
                <a:latin typeface="Calibri"/>
              </a:defRPr>
            </a:pPr>
            <a:r>
              <a:rPr sz="1000" dirty="0"/>
              <a:t>•  Custom AI model tuning</a:t>
            </a:r>
          </a:p>
          <a:p>
            <a:pPr algn="l">
              <a:spcAft>
                <a:spcPts val="300"/>
              </a:spcAft>
              <a:defRPr sz="900" b="0">
                <a:solidFill>
                  <a:srgbClr val="474747"/>
                </a:solidFill>
                <a:latin typeface="Calibri"/>
              </a:defRPr>
            </a:pPr>
            <a:r>
              <a:rPr sz="1000" dirty="0"/>
              <a:t>•  Annual strategic review</a:t>
            </a:r>
            <a:endParaRPr lang="en-US" sz="1000" dirty="0"/>
          </a:p>
          <a:p>
            <a:pPr>
              <a:spcAft>
                <a:spcPts val="300"/>
              </a:spcAft>
              <a:defRPr sz="900" b="0">
                <a:solidFill>
                  <a:srgbClr val="474747"/>
                </a:solidFill>
                <a:latin typeface="Calibri"/>
              </a:defRPr>
            </a:pPr>
            <a:r>
              <a:rPr lang="en-US" sz="1000" dirty="0"/>
              <a:t>•  Includes 10M Tokens/</a:t>
            </a:r>
            <a:r>
              <a:rPr lang="en-US" sz="1000" dirty="0" err="1"/>
              <a:t>mo</a:t>
            </a:r>
            <a:r>
              <a:rPr lang="en-US" sz="1000" dirty="0"/>
              <a:t xml:space="preserve"> </a:t>
            </a:r>
          </a:p>
          <a:p>
            <a:pPr>
              <a:spcAft>
                <a:spcPts val="300"/>
              </a:spcAft>
              <a:defRPr sz="900" b="0">
                <a:solidFill>
                  <a:srgbClr val="474747"/>
                </a:solidFill>
                <a:latin typeface="Calibri"/>
              </a:defRPr>
            </a:pPr>
            <a:r>
              <a:rPr lang="en-US" sz="1000" dirty="0"/>
              <a:t>•  Token Overage Rate $1.00 per 1M tokens</a:t>
            </a:r>
          </a:p>
          <a:p>
            <a:pPr algn="l">
              <a:spcAft>
                <a:spcPts val="1200"/>
              </a:spcAft>
              <a:defRPr sz="900" b="0">
                <a:solidFill>
                  <a:srgbClr val="474747"/>
                </a:solidFill>
                <a:latin typeface="Calibri"/>
              </a:defRPr>
            </a:pPr>
            <a:endParaRPr sz="1000" dirty="0"/>
          </a:p>
        </p:txBody>
      </p:sp>
      <p:sp>
        <p:nvSpPr>
          <p:cNvPr id="27" name="TextBox 26"/>
          <p:cNvSpPr txBox="1"/>
          <p:nvPr/>
        </p:nvSpPr>
        <p:spPr>
          <a:xfrm>
            <a:off x="228600" y="4680000"/>
            <a:ext cx="8636000" cy="230832"/>
          </a:xfrm>
          <a:prstGeom prst="rect">
            <a:avLst/>
          </a:prstGeom>
          <a:noFill/>
        </p:spPr>
        <p:txBody>
          <a:bodyPr wrap="square">
            <a:spAutoFit/>
          </a:bodyPr>
          <a:lstStyle/>
          <a:p>
            <a:pPr algn="ctr">
              <a:defRPr sz="900" b="0">
                <a:solidFill>
                  <a:srgbClr val="718AA8"/>
                </a:solidFill>
                <a:latin typeface="Calibri"/>
              </a:defRPr>
            </a:pPr>
            <a:r>
              <a:rPr dirty="0"/>
              <a:t xml:space="preserve">All tiers include a 4.5% annual uplift beginning Year </a:t>
            </a:r>
            <a:r>
              <a:rPr lang="en-US" dirty="0"/>
              <a:t>4</a:t>
            </a:r>
            <a:r>
              <a:rPr dirty="0"/>
              <a:t xml:space="preserve">  ·  Billed monthly  ·  Auto-renews annually after initial term</a:t>
            </a:r>
          </a:p>
        </p:txBody>
      </p:sp>
      <p:sp>
        <p:nvSpPr>
          <p:cNvPr id="29" name="TextBox 28">
            <a:extLst>
              <a:ext uri="{FF2B5EF4-FFF2-40B4-BE49-F238E27FC236}">
                <a16:creationId xmlns:a16="http://schemas.microsoft.com/office/drawing/2014/main" id="{2E27F921-A943-B401-E782-055872166306}"/>
              </a:ext>
            </a:extLst>
          </p:cNvPr>
          <p:cNvSpPr txBox="1"/>
          <p:nvPr/>
        </p:nvSpPr>
        <p:spPr>
          <a:xfrm>
            <a:off x="355600" y="4098750"/>
            <a:ext cx="4572000" cy="307777"/>
          </a:xfrm>
          <a:prstGeom prst="rect">
            <a:avLst/>
          </a:prstGeom>
          <a:noFill/>
        </p:spPr>
        <p:txBody>
          <a:bodyPr wrap="square">
            <a:spAutoFit/>
          </a:bodyPr>
          <a:lstStyle/>
          <a:p>
            <a:pPr algn="l">
              <a:spcAft>
                <a:spcPts val="0"/>
              </a:spcAft>
              <a:defRPr sz="1200" b="1">
                <a:solidFill>
                  <a:srgbClr val="3C475C"/>
                </a:solidFill>
                <a:latin typeface="Calibri"/>
              </a:defRPr>
            </a:pPr>
            <a:r>
              <a:rPr lang="en-US" sz="1400" dirty="0"/>
              <a:t>$72,000 / year</a:t>
            </a:r>
          </a:p>
        </p:txBody>
      </p:sp>
      <p:sp>
        <p:nvSpPr>
          <p:cNvPr id="31" name="TextBox 30">
            <a:extLst>
              <a:ext uri="{FF2B5EF4-FFF2-40B4-BE49-F238E27FC236}">
                <a16:creationId xmlns:a16="http://schemas.microsoft.com/office/drawing/2014/main" id="{74579B21-A177-86A5-769F-8C5C8D924BDF}"/>
              </a:ext>
            </a:extLst>
          </p:cNvPr>
          <p:cNvSpPr txBox="1"/>
          <p:nvPr/>
        </p:nvSpPr>
        <p:spPr>
          <a:xfrm>
            <a:off x="3259069" y="4101055"/>
            <a:ext cx="4572000" cy="307777"/>
          </a:xfrm>
          <a:prstGeom prst="rect">
            <a:avLst/>
          </a:prstGeom>
          <a:noFill/>
        </p:spPr>
        <p:txBody>
          <a:bodyPr wrap="square">
            <a:spAutoFit/>
          </a:bodyPr>
          <a:lstStyle/>
          <a:p>
            <a:pPr algn="l">
              <a:spcAft>
                <a:spcPts val="0"/>
              </a:spcAft>
              <a:defRPr sz="1200" b="1">
                <a:solidFill>
                  <a:srgbClr val="3C475C"/>
                </a:solidFill>
                <a:latin typeface="Calibri"/>
              </a:defRPr>
            </a:pPr>
            <a:r>
              <a:rPr lang="en-US" sz="1400" dirty="0"/>
              <a:t>$144,000 / year</a:t>
            </a:r>
          </a:p>
        </p:txBody>
      </p:sp>
      <p:sp>
        <p:nvSpPr>
          <p:cNvPr id="33" name="TextBox 32">
            <a:extLst>
              <a:ext uri="{FF2B5EF4-FFF2-40B4-BE49-F238E27FC236}">
                <a16:creationId xmlns:a16="http://schemas.microsoft.com/office/drawing/2014/main" id="{1A46F9CE-7CF8-D1A6-1572-B68FA16EBD9C}"/>
              </a:ext>
            </a:extLst>
          </p:cNvPr>
          <p:cNvSpPr txBox="1"/>
          <p:nvPr/>
        </p:nvSpPr>
        <p:spPr>
          <a:xfrm>
            <a:off x="6157669" y="4098749"/>
            <a:ext cx="4572000" cy="307777"/>
          </a:xfrm>
          <a:prstGeom prst="rect">
            <a:avLst/>
          </a:prstGeom>
          <a:noFill/>
        </p:spPr>
        <p:txBody>
          <a:bodyPr wrap="square">
            <a:spAutoFit/>
          </a:bodyPr>
          <a:lstStyle/>
          <a:p>
            <a:pPr algn="l">
              <a:spcAft>
                <a:spcPts val="0"/>
              </a:spcAft>
              <a:defRPr sz="1200" b="1">
                <a:solidFill>
                  <a:srgbClr val="3C475C"/>
                </a:solidFill>
                <a:latin typeface="Calibri"/>
              </a:defRPr>
            </a:pPr>
            <a:r>
              <a:rPr lang="en-US" sz="1400" dirty="0"/>
              <a:t>$300,000 / year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3152"/>
          </a:xfrm>
          <a:prstGeom prst="rect">
            <a:avLst/>
          </a:prstGeom>
          <a:solidFill>
            <a:srgbClr val="DB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9144000" cy="749808"/>
          </a:xfrm>
          <a:prstGeom prst="rect">
            <a:avLst/>
          </a:prstGeom>
          <a:solidFill>
            <a:srgbClr val="3C4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96605"/>
            <a:ext cx="6400800" cy="492443"/>
          </a:xfrm>
          <a:prstGeom prst="rect">
            <a:avLst/>
          </a:prstGeom>
          <a:noFill/>
        </p:spPr>
        <p:txBody>
          <a:bodyPr wrap="square">
            <a:spAutoFit/>
          </a:bodyPr>
          <a:lstStyle/>
          <a:p>
            <a:pPr algn="l">
              <a:defRPr sz="2600" b="1">
                <a:solidFill>
                  <a:srgbClr val="FFFFFF"/>
                </a:solidFill>
                <a:latin typeface="Calibri"/>
              </a:defRPr>
            </a:pPr>
            <a:r>
              <a:rPr b="1" dirty="0">
                <a:latin typeface="Proxima Nova Extrabold" panose="02000506030000020004" pitchFamily="2" charset="0"/>
              </a:rPr>
              <a:t>Your Investment</a:t>
            </a:r>
          </a:p>
        </p:txBody>
      </p:sp>
      <p:sp>
        <p:nvSpPr>
          <p:cNvPr id="5" name="TextBox 4"/>
          <p:cNvSpPr txBox="1"/>
          <p:nvPr/>
        </p:nvSpPr>
        <p:spPr>
          <a:xfrm>
            <a:off x="365760" y="520000"/>
            <a:ext cx="8000000" cy="292388"/>
          </a:xfrm>
          <a:prstGeom prst="rect">
            <a:avLst/>
          </a:prstGeom>
          <a:noFill/>
        </p:spPr>
        <p:txBody>
          <a:bodyPr wrap="square">
            <a:spAutoFit/>
          </a:bodyPr>
          <a:lstStyle/>
          <a:p>
            <a:pPr algn="l">
              <a:defRPr sz="1300" b="0">
                <a:solidFill>
                  <a:srgbClr val="718AA8"/>
                </a:solidFill>
                <a:latin typeface="Calibri"/>
              </a:defRPr>
            </a:pPr>
            <a:r>
              <a:rPr b="1" i="1" dirty="0">
                <a:latin typeface="Proxima Nova Extrabold" panose="02000506030000020004" pitchFamily="2" charset="0"/>
              </a:rPr>
              <a:t>Mattress Firm  ·  36-Month Partnership</a:t>
            </a:r>
          </a:p>
        </p:txBody>
      </p:sp>
      <p:sp>
        <p:nvSpPr>
          <p:cNvPr id="6" name="Rectangle 5"/>
          <p:cNvSpPr/>
          <p:nvPr/>
        </p:nvSpPr>
        <p:spPr>
          <a:xfrm>
            <a:off x="0" y="4892040"/>
            <a:ext cx="9144000" cy="251460"/>
          </a:xfrm>
          <a:prstGeom prst="rect">
            <a:avLst/>
          </a:prstGeom>
          <a:solidFill>
            <a:srgbClr val="3C4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0" y="4914900"/>
            <a:ext cx="9144000" cy="203200"/>
          </a:xfrm>
          <a:prstGeom prst="rect">
            <a:avLst/>
          </a:prstGeom>
          <a:noFill/>
        </p:spPr>
        <p:txBody>
          <a:bodyPr wrap="square">
            <a:spAutoFit/>
          </a:bodyPr>
          <a:lstStyle/>
          <a:p>
            <a:pPr algn="ctr">
              <a:defRPr sz="1000" b="0">
                <a:solidFill>
                  <a:srgbClr val="B9C5D3"/>
                </a:solidFill>
                <a:latin typeface="Calibri"/>
              </a:defRPr>
            </a:pPr>
            <a:r>
              <a:t>Confidential and Proprietary - The Blue Horizons Group LLC</a:t>
            </a:r>
          </a:p>
        </p:txBody>
      </p:sp>
      <p:sp>
        <p:nvSpPr>
          <p:cNvPr id="8" name="TextBox 7"/>
          <p:cNvSpPr txBox="1"/>
          <p:nvPr/>
        </p:nvSpPr>
        <p:spPr>
          <a:xfrm>
            <a:off x="6400800" y="4901184"/>
            <a:ext cx="2423160" cy="201168"/>
          </a:xfrm>
          <a:prstGeom prst="rect">
            <a:avLst/>
          </a:prstGeom>
          <a:noFill/>
        </p:spPr>
        <p:txBody>
          <a:bodyPr wrap="square">
            <a:spAutoFit/>
          </a:bodyPr>
          <a:lstStyle/>
          <a:p>
            <a:pPr algn="r">
              <a:defRPr sz="1000" b="0">
                <a:solidFill>
                  <a:srgbClr val="B9C5D3"/>
                </a:solidFill>
                <a:latin typeface="Calibri"/>
              </a:defRPr>
            </a:pPr>
            <a:r>
              <a:t>Confidential  ·  March 16, 2026</a:t>
            </a:r>
          </a:p>
        </p:txBody>
      </p:sp>
      <p:sp>
        <p:nvSpPr>
          <p:cNvPr id="9" name="TextBox 8"/>
          <p:cNvSpPr txBox="1"/>
          <p:nvPr/>
        </p:nvSpPr>
        <p:spPr>
          <a:xfrm>
            <a:off x="254000" y="930000"/>
            <a:ext cx="4064000" cy="246221"/>
          </a:xfrm>
          <a:prstGeom prst="rect">
            <a:avLst/>
          </a:prstGeom>
          <a:noFill/>
        </p:spPr>
        <p:txBody>
          <a:bodyPr wrap="square">
            <a:spAutoFit/>
          </a:bodyPr>
          <a:lstStyle/>
          <a:p>
            <a:pPr algn="l">
              <a:defRPr sz="1000" b="1">
                <a:solidFill>
                  <a:srgbClr val="718AA8"/>
                </a:solidFill>
                <a:latin typeface="Calibri"/>
              </a:defRPr>
            </a:pPr>
            <a:r>
              <a:rPr b="1">
                <a:latin typeface="Proxima Nova Extrabold" panose="02000506030000020004" pitchFamily="2" charset="0"/>
              </a:rPr>
              <a:t>SOLUTION BUILD COMPONENTS</a:t>
            </a:r>
          </a:p>
        </p:txBody>
      </p:sp>
      <p:sp>
        <p:nvSpPr>
          <p:cNvPr id="10" name="Rectangle 9"/>
          <p:cNvSpPr/>
          <p:nvPr/>
        </p:nvSpPr>
        <p:spPr>
          <a:xfrm>
            <a:off x="254000" y="1208056"/>
            <a:ext cx="4064000" cy="502920"/>
          </a:xfrm>
          <a:prstGeom prst="rect">
            <a:avLst/>
          </a:prstGeom>
          <a:solidFill>
            <a:srgbClr val="E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1000" y="1278056"/>
            <a:ext cx="2600000" cy="250000"/>
          </a:xfrm>
          <a:prstGeom prst="rect">
            <a:avLst/>
          </a:prstGeom>
          <a:noFill/>
        </p:spPr>
        <p:txBody>
          <a:bodyPr wrap="square">
            <a:spAutoFit/>
          </a:bodyPr>
          <a:lstStyle/>
          <a:p>
            <a:pPr algn="l">
              <a:defRPr sz="1000" b="0">
                <a:solidFill>
                  <a:srgbClr val="3C475C"/>
                </a:solidFill>
                <a:latin typeface="Calibri"/>
              </a:defRPr>
            </a:pPr>
            <a:r>
              <a:rPr b="1" dirty="0">
                <a:latin typeface="Proxima Nova Extrabold" panose="02000506030000020004" pitchFamily="2" charset="0"/>
              </a:rPr>
              <a:t>Phase 1: Discovery &amp; Assessment</a:t>
            </a:r>
          </a:p>
        </p:txBody>
      </p:sp>
      <p:sp>
        <p:nvSpPr>
          <p:cNvPr id="12" name="TextBox 11"/>
          <p:cNvSpPr txBox="1"/>
          <p:nvPr/>
        </p:nvSpPr>
        <p:spPr>
          <a:xfrm>
            <a:off x="2954000" y="1258056"/>
            <a:ext cx="1250000" cy="280000"/>
          </a:xfrm>
          <a:prstGeom prst="rect">
            <a:avLst/>
          </a:prstGeom>
          <a:noFill/>
        </p:spPr>
        <p:txBody>
          <a:bodyPr wrap="square">
            <a:spAutoFit/>
          </a:bodyPr>
          <a:lstStyle/>
          <a:p>
            <a:pPr algn="r">
              <a:defRPr sz="1200" b="1">
                <a:solidFill>
                  <a:srgbClr val="0F2B5B"/>
                </a:solidFill>
                <a:latin typeface="Calibri"/>
              </a:defRPr>
            </a:pPr>
            <a:r>
              <a:rPr b="1">
                <a:latin typeface="Proxima Nova Extrabold" panose="02000506030000020004" pitchFamily="2" charset="0"/>
              </a:rPr>
              <a:t>$25,000</a:t>
            </a:r>
          </a:p>
        </p:txBody>
      </p:sp>
      <p:sp>
        <p:nvSpPr>
          <p:cNvPr id="13" name="Rectangle 12"/>
          <p:cNvSpPr/>
          <p:nvPr/>
        </p:nvSpPr>
        <p:spPr>
          <a:xfrm>
            <a:off x="254000" y="1743554"/>
            <a:ext cx="4064000" cy="502920"/>
          </a:xfrm>
          <a:prstGeom prst="rect">
            <a:avLst/>
          </a:prstGeom>
          <a:solidFill>
            <a:srgbClr val="E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81000" y="1813554"/>
            <a:ext cx="2986314" cy="394980"/>
          </a:xfrm>
          <a:prstGeom prst="rect">
            <a:avLst/>
          </a:prstGeom>
          <a:noFill/>
        </p:spPr>
        <p:txBody>
          <a:bodyPr wrap="square">
            <a:spAutoFit/>
          </a:bodyPr>
          <a:lstStyle/>
          <a:p>
            <a:pPr algn="l">
              <a:spcAft>
                <a:spcPts val="200"/>
              </a:spcAft>
              <a:defRPr sz="1000" b="0">
                <a:solidFill>
                  <a:srgbClr val="3C475C"/>
                </a:solidFill>
                <a:latin typeface="Calibri"/>
              </a:defRPr>
            </a:pPr>
            <a:r>
              <a:rPr b="1" dirty="0">
                <a:latin typeface="Proxima Nova Extrabold" panose="02000506030000020004" pitchFamily="2" charset="0"/>
              </a:rPr>
              <a:t>Phase 2: Foundation</a:t>
            </a:r>
          </a:p>
          <a:p>
            <a:pPr algn="l">
              <a:spcAft>
                <a:spcPts val="0"/>
              </a:spcAft>
              <a:defRPr sz="800" b="0">
                <a:solidFill>
                  <a:srgbClr val="718AA8"/>
                </a:solidFill>
                <a:latin typeface="Calibri"/>
              </a:defRPr>
            </a:pPr>
            <a:r>
              <a:rPr dirty="0">
                <a:latin typeface="Proxima Nova Thin" panose="02000506030000020004" pitchFamily="2" charset="0"/>
              </a:rPr>
              <a:t>Platform &amp; Integrations + Corporate Strategy + Sales Strategy</a:t>
            </a:r>
          </a:p>
        </p:txBody>
      </p:sp>
      <p:sp>
        <p:nvSpPr>
          <p:cNvPr id="15" name="TextBox 14"/>
          <p:cNvSpPr txBox="1"/>
          <p:nvPr/>
        </p:nvSpPr>
        <p:spPr>
          <a:xfrm>
            <a:off x="2954000" y="1833554"/>
            <a:ext cx="1250000" cy="280000"/>
          </a:xfrm>
          <a:prstGeom prst="rect">
            <a:avLst/>
          </a:prstGeom>
          <a:noFill/>
        </p:spPr>
        <p:txBody>
          <a:bodyPr wrap="square">
            <a:spAutoFit/>
          </a:bodyPr>
          <a:lstStyle/>
          <a:p>
            <a:pPr algn="r">
              <a:defRPr sz="1200" b="1">
                <a:solidFill>
                  <a:srgbClr val="0F2B5B"/>
                </a:solidFill>
                <a:latin typeface="Calibri"/>
              </a:defRPr>
            </a:pPr>
            <a:r>
              <a:rPr b="1" dirty="0">
                <a:latin typeface="Proxima Nova Extrabold" panose="02000506030000020004" pitchFamily="2" charset="0"/>
              </a:rPr>
              <a:t>$200,000</a:t>
            </a:r>
          </a:p>
        </p:txBody>
      </p:sp>
      <p:sp>
        <p:nvSpPr>
          <p:cNvPr id="16" name="Rectangle 15"/>
          <p:cNvSpPr/>
          <p:nvPr/>
        </p:nvSpPr>
        <p:spPr>
          <a:xfrm>
            <a:off x="254000" y="2280000"/>
            <a:ext cx="4064000" cy="5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1000" y="2350000"/>
            <a:ext cx="2986314" cy="394980"/>
          </a:xfrm>
          <a:prstGeom prst="rect">
            <a:avLst/>
          </a:prstGeom>
          <a:noFill/>
        </p:spPr>
        <p:txBody>
          <a:bodyPr wrap="square">
            <a:spAutoFit/>
          </a:bodyPr>
          <a:lstStyle/>
          <a:p>
            <a:pPr algn="l">
              <a:spcAft>
                <a:spcPts val="200"/>
              </a:spcAft>
              <a:defRPr sz="1000" b="0">
                <a:solidFill>
                  <a:srgbClr val="FFFFFF"/>
                </a:solidFill>
                <a:latin typeface="Calibri"/>
              </a:defRPr>
            </a:pPr>
            <a:r>
              <a:rPr sz="1000" b="1" dirty="0">
                <a:solidFill>
                  <a:srgbClr val="3C475C"/>
                </a:solidFill>
                <a:latin typeface="Proxima Nova Extrabold" panose="02000506030000020004" pitchFamily="2" charset="0"/>
              </a:rPr>
              <a:t>Phase 3: Additional Modules</a:t>
            </a:r>
          </a:p>
          <a:p>
            <a:pPr algn="l">
              <a:spcAft>
                <a:spcPts val="0"/>
              </a:spcAft>
              <a:defRPr sz="800" b="0">
                <a:solidFill>
                  <a:srgbClr val="CADCFC"/>
                </a:solidFill>
                <a:latin typeface="Calibri"/>
              </a:defRPr>
            </a:pPr>
            <a:r>
              <a:rPr sz="800" dirty="0">
                <a:solidFill>
                  <a:srgbClr val="718AA8"/>
                </a:solidFill>
                <a:latin typeface="Proxima Nova Thin" panose="02000506030000020004" pitchFamily="2" charset="0"/>
              </a:rPr>
              <a:t>Sales Operations + Comp Planning + Comp Management</a:t>
            </a:r>
          </a:p>
        </p:txBody>
      </p:sp>
      <p:sp>
        <p:nvSpPr>
          <p:cNvPr id="18" name="TextBox 17"/>
          <p:cNvSpPr txBox="1"/>
          <p:nvPr/>
        </p:nvSpPr>
        <p:spPr>
          <a:xfrm>
            <a:off x="2954000" y="2370000"/>
            <a:ext cx="1250000" cy="280000"/>
          </a:xfrm>
          <a:prstGeom prst="rect">
            <a:avLst/>
          </a:prstGeom>
          <a:noFill/>
        </p:spPr>
        <p:txBody>
          <a:bodyPr wrap="square">
            <a:spAutoFit/>
          </a:bodyPr>
          <a:lstStyle/>
          <a:p>
            <a:pPr algn="r">
              <a:defRPr sz="1200" b="1">
                <a:solidFill>
                  <a:srgbClr val="DB716C"/>
                </a:solidFill>
                <a:latin typeface="Calibri"/>
              </a:defRPr>
            </a:pPr>
            <a:r>
              <a:rPr sz="1200" b="1" dirty="0">
                <a:solidFill>
                  <a:srgbClr val="0F2B5B"/>
                </a:solidFill>
                <a:latin typeface="Proxima Nova Extrabold" panose="02000506030000020004" pitchFamily="2" charset="0"/>
              </a:rPr>
              <a:t>$180,000</a:t>
            </a:r>
          </a:p>
        </p:txBody>
      </p:sp>
      <p:sp>
        <p:nvSpPr>
          <p:cNvPr id="19" name="Rectangle 18"/>
          <p:cNvSpPr/>
          <p:nvPr/>
        </p:nvSpPr>
        <p:spPr>
          <a:xfrm>
            <a:off x="254000" y="2805000"/>
            <a:ext cx="4064000" cy="38000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1000" y="2870000"/>
            <a:ext cx="2200000" cy="276999"/>
          </a:xfrm>
          <a:prstGeom prst="rect">
            <a:avLst/>
          </a:prstGeom>
          <a:noFill/>
        </p:spPr>
        <p:txBody>
          <a:bodyPr wrap="square">
            <a:spAutoFit/>
          </a:bodyPr>
          <a:lstStyle/>
          <a:p>
            <a:pPr algn="l">
              <a:defRPr sz="1200" b="1">
                <a:solidFill>
                  <a:srgbClr val="FFFFFF"/>
                </a:solidFill>
                <a:latin typeface="Calibri"/>
              </a:defRPr>
            </a:pPr>
            <a:r>
              <a:rPr b="1" dirty="0">
                <a:latin typeface="Proxima Nova Extrabold" panose="02000506030000020004" pitchFamily="2" charset="0"/>
              </a:rPr>
              <a:t>Total Solution Investment</a:t>
            </a:r>
          </a:p>
        </p:txBody>
      </p:sp>
      <p:sp>
        <p:nvSpPr>
          <p:cNvPr id="21" name="TextBox 20"/>
          <p:cNvSpPr txBox="1"/>
          <p:nvPr/>
        </p:nvSpPr>
        <p:spPr>
          <a:xfrm>
            <a:off x="2454000" y="2855000"/>
            <a:ext cx="1750000" cy="338554"/>
          </a:xfrm>
          <a:prstGeom prst="rect">
            <a:avLst/>
          </a:prstGeom>
          <a:noFill/>
        </p:spPr>
        <p:txBody>
          <a:bodyPr wrap="square">
            <a:spAutoFit/>
          </a:bodyPr>
          <a:lstStyle/>
          <a:p>
            <a:pPr algn="r">
              <a:defRPr sz="1600" b="1">
                <a:solidFill>
                  <a:srgbClr val="FFFFFF"/>
                </a:solidFill>
                <a:latin typeface="Calibri"/>
              </a:defRPr>
            </a:pPr>
            <a:r>
              <a:rPr b="1" dirty="0">
                <a:solidFill>
                  <a:schemeClr val="accent3"/>
                </a:solidFill>
                <a:latin typeface="Proxima Nova Extrabold" panose="02000506030000020004" pitchFamily="2" charset="0"/>
              </a:rPr>
              <a:t>$405,000</a:t>
            </a:r>
          </a:p>
        </p:txBody>
      </p:sp>
      <p:sp>
        <p:nvSpPr>
          <p:cNvPr id="22" name="TextBox 21"/>
          <p:cNvSpPr txBox="1"/>
          <p:nvPr/>
        </p:nvSpPr>
        <p:spPr>
          <a:xfrm>
            <a:off x="4572000" y="930000"/>
            <a:ext cx="4318000" cy="246221"/>
          </a:xfrm>
          <a:prstGeom prst="rect">
            <a:avLst/>
          </a:prstGeom>
          <a:noFill/>
        </p:spPr>
        <p:txBody>
          <a:bodyPr wrap="square">
            <a:spAutoFit/>
          </a:bodyPr>
          <a:lstStyle/>
          <a:p>
            <a:pPr algn="l">
              <a:defRPr sz="1000" b="1">
                <a:solidFill>
                  <a:srgbClr val="718AA8"/>
                </a:solidFill>
                <a:latin typeface="Calibri"/>
              </a:defRPr>
            </a:pPr>
            <a:r>
              <a:rPr b="1" dirty="0">
                <a:latin typeface="Proxima Nova Extrabold" panose="02000506030000020004" pitchFamily="2" charset="0"/>
              </a:rPr>
              <a:t>ANNUAL PRICING (36-MONTH TERM)</a:t>
            </a:r>
          </a:p>
        </p:txBody>
      </p:sp>
      <p:sp>
        <p:nvSpPr>
          <p:cNvPr id="23" name="Rectangle 22"/>
          <p:cNvSpPr/>
          <p:nvPr/>
        </p:nvSpPr>
        <p:spPr>
          <a:xfrm>
            <a:off x="4572000" y="1205892"/>
            <a:ext cx="4318000" cy="498719"/>
          </a:xfrm>
          <a:prstGeom prst="rect">
            <a:avLst/>
          </a:prstGeom>
          <a:solidFill>
            <a:srgbClr val="E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72000" y="1205892"/>
            <a:ext cx="63500" cy="498719"/>
          </a:xfrm>
          <a:prstGeom prst="rect">
            <a:avLst/>
          </a:prstGeom>
          <a:solidFill>
            <a:srgbClr val="DB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699000" y="1255893"/>
            <a:ext cx="2300000" cy="300000"/>
          </a:xfrm>
          <a:prstGeom prst="rect">
            <a:avLst/>
          </a:prstGeom>
          <a:noFill/>
        </p:spPr>
        <p:txBody>
          <a:bodyPr wrap="square">
            <a:spAutoFit/>
          </a:bodyPr>
          <a:lstStyle/>
          <a:p>
            <a:pPr algn="l">
              <a:spcAft>
                <a:spcPts val="100"/>
              </a:spcAft>
              <a:defRPr sz="1100" b="1">
                <a:solidFill>
                  <a:srgbClr val="3C475C"/>
                </a:solidFill>
                <a:latin typeface="Calibri"/>
              </a:defRPr>
            </a:pPr>
            <a:r>
              <a:rPr dirty="0"/>
              <a:t>Platform Deployment Fee</a:t>
            </a:r>
          </a:p>
          <a:p>
            <a:pPr algn="l">
              <a:spcAft>
                <a:spcPts val="0"/>
              </a:spcAft>
              <a:defRPr sz="800" b="0">
                <a:solidFill>
                  <a:srgbClr val="718AA8"/>
                </a:solidFill>
                <a:latin typeface="Calibri"/>
              </a:defRPr>
            </a:pPr>
            <a:r>
              <a:rPr dirty="0"/>
              <a:t>($405,000 ÷ 3 years)  ·  $11,250 / month</a:t>
            </a:r>
          </a:p>
        </p:txBody>
      </p:sp>
      <p:sp>
        <p:nvSpPr>
          <p:cNvPr id="26" name="TextBox 25"/>
          <p:cNvSpPr txBox="1"/>
          <p:nvPr/>
        </p:nvSpPr>
        <p:spPr>
          <a:xfrm>
            <a:off x="7072000" y="1255893"/>
            <a:ext cx="1700000" cy="307777"/>
          </a:xfrm>
          <a:prstGeom prst="rect">
            <a:avLst/>
          </a:prstGeom>
          <a:noFill/>
        </p:spPr>
        <p:txBody>
          <a:bodyPr wrap="square">
            <a:spAutoFit/>
          </a:bodyPr>
          <a:lstStyle/>
          <a:p>
            <a:pPr algn="r">
              <a:defRPr sz="1400" b="1">
                <a:solidFill>
                  <a:srgbClr val="0F2B5B"/>
                </a:solidFill>
                <a:latin typeface="Calibri"/>
              </a:defRPr>
            </a:pPr>
            <a:r>
              <a:rPr b="1" dirty="0">
                <a:latin typeface="Proxima Nova Extrabold" panose="02000506030000020004" pitchFamily="2" charset="0"/>
              </a:rPr>
              <a:t>$135,000</a:t>
            </a:r>
          </a:p>
        </p:txBody>
      </p:sp>
      <p:sp>
        <p:nvSpPr>
          <p:cNvPr id="27" name="Rectangle 26"/>
          <p:cNvSpPr/>
          <p:nvPr/>
        </p:nvSpPr>
        <p:spPr>
          <a:xfrm>
            <a:off x="4572000" y="1739168"/>
            <a:ext cx="4318000" cy="507305"/>
          </a:xfrm>
          <a:prstGeom prst="rect">
            <a:avLst/>
          </a:prstGeom>
          <a:solidFill>
            <a:srgbClr val="E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72000" y="1739168"/>
            <a:ext cx="63500" cy="507305"/>
          </a:xfrm>
          <a:prstGeom prst="rect">
            <a:avLst/>
          </a:prstGeom>
          <a:solidFill>
            <a:srgbClr val="DB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699000" y="1805893"/>
            <a:ext cx="2997200" cy="397545"/>
          </a:xfrm>
          <a:prstGeom prst="rect">
            <a:avLst/>
          </a:prstGeom>
          <a:noFill/>
        </p:spPr>
        <p:txBody>
          <a:bodyPr wrap="square">
            <a:spAutoFit/>
          </a:bodyPr>
          <a:lstStyle/>
          <a:p>
            <a:pPr algn="l">
              <a:spcAft>
                <a:spcPts val="100"/>
              </a:spcAft>
              <a:defRPr sz="1100" b="1">
                <a:solidFill>
                  <a:srgbClr val="3C475C"/>
                </a:solidFill>
                <a:latin typeface="Calibri"/>
              </a:defRPr>
            </a:pPr>
            <a:r>
              <a:rPr dirty="0"/>
              <a:t>PEP: Evolve Tier</a:t>
            </a:r>
          </a:p>
          <a:p>
            <a:pPr algn="l">
              <a:spcAft>
                <a:spcPts val="0"/>
              </a:spcAft>
              <a:defRPr sz="800" b="0">
                <a:solidFill>
                  <a:srgbClr val="718AA8"/>
                </a:solidFill>
                <a:latin typeface="Calibri"/>
              </a:defRPr>
            </a:pPr>
            <a:r>
              <a:rPr dirty="0"/>
              <a:t>(4.5% annual uplift from Year 2)  ·  $12,000 / month</a:t>
            </a:r>
          </a:p>
        </p:txBody>
      </p:sp>
      <p:sp>
        <p:nvSpPr>
          <p:cNvPr id="30" name="TextBox 29"/>
          <p:cNvSpPr txBox="1"/>
          <p:nvPr/>
        </p:nvSpPr>
        <p:spPr>
          <a:xfrm>
            <a:off x="7072000" y="1805893"/>
            <a:ext cx="1700000" cy="307777"/>
          </a:xfrm>
          <a:prstGeom prst="rect">
            <a:avLst/>
          </a:prstGeom>
          <a:noFill/>
        </p:spPr>
        <p:txBody>
          <a:bodyPr wrap="square">
            <a:spAutoFit/>
          </a:bodyPr>
          <a:lstStyle/>
          <a:p>
            <a:pPr algn="r">
              <a:defRPr sz="1400" b="1">
                <a:solidFill>
                  <a:srgbClr val="0F2B5B"/>
                </a:solidFill>
                <a:latin typeface="Calibri"/>
              </a:defRPr>
            </a:pPr>
            <a:r>
              <a:rPr b="1">
                <a:latin typeface="Proxima Nova Extrabold" panose="02000506030000020004" pitchFamily="2" charset="0"/>
              </a:rPr>
              <a:t>$144,000</a:t>
            </a:r>
          </a:p>
        </p:txBody>
      </p:sp>
      <p:sp>
        <p:nvSpPr>
          <p:cNvPr id="31" name="Rectangle 30"/>
          <p:cNvSpPr/>
          <p:nvPr/>
        </p:nvSpPr>
        <p:spPr>
          <a:xfrm>
            <a:off x="4575091" y="2281336"/>
            <a:ext cx="4318000" cy="383368"/>
          </a:xfrm>
          <a:prstGeom prst="rect">
            <a:avLst/>
          </a:prstGeom>
          <a:solidFill>
            <a:srgbClr val="3C4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702091" y="2333559"/>
            <a:ext cx="1873000" cy="276999"/>
          </a:xfrm>
          <a:prstGeom prst="rect">
            <a:avLst/>
          </a:prstGeom>
          <a:noFill/>
        </p:spPr>
        <p:txBody>
          <a:bodyPr wrap="square">
            <a:spAutoFit/>
          </a:bodyPr>
          <a:lstStyle/>
          <a:p>
            <a:pPr algn="l">
              <a:defRPr sz="1300" b="1">
                <a:solidFill>
                  <a:srgbClr val="FFFFFF"/>
                </a:solidFill>
                <a:latin typeface="Calibri"/>
              </a:defRPr>
            </a:pPr>
            <a:r>
              <a:rPr sz="1200" b="1" dirty="0">
                <a:latin typeface="Proxima Nova Extrabold" panose="02000506030000020004" pitchFamily="2" charset="0"/>
              </a:rPr>
              <a:t>Year 1 Annual Total</a:t>
            </a:r>
          </a:p>
        </p:txBody>
      </p:sp>
      <p:sp>
        <p:nvSpPr>
          <p:cNvPr id="33" name="TextBox 32"/>
          <p:cNvSpPr txBox="1"/>
          <p:nvPr/>
        </p:nvSpPr>
        <p:spPr>
          <a:xfrm>
            <a:off x="6575091" y="2303559"/>
            <a:ext cx="2200000" cy="369332"/>
          </a:xfrm>
          <a:prstGeom prst="rect">
            <a:avLst/>
          </a:prstGeom>
          <a:noFill/>
        </p:spPr>
        <p:txBody>
          <a:bodyPr wrap="square">
            <a:spAutoFit/>
          </a:bodyPr>
          <a:lstStyle/>
          <a:p>
            <a:pPr algn="r">
              <a:defRPr sz="1800" b="1">
                <a:solidFill>
                  <a:srgbClr val="DB716C"/>
                </a:solidFill>
                <a:latin typeface="Calibri"/>
              </a:defRPr>
            </a:pPr>
            <a:r>
              <a:rPr b="1" dirty="0">
                <a:latin typeface="Proxima Nova Extrabold" panose="02000506030000020004" pitchFamily="2" charset="0"/>
              </a:rPr>
              <a:t>$279,000</a:t>
            </a:r>
          </a:p>
        </p:txBody>
      </p:sp>
      <p:sp>
        <p:nvSpPr>
          <p:cNvPr id="34" name="TextBox 33"/>
          <p:cNvSpPr txBox="1"/>
          <p:nvPr/>
        </p:nvSpPr>
        <p:spPr>
          <a:xfrm>
            <a:off x="2551000" y="3286204"/>
            <a:ext cx="4318000" cy="246221"/>
          </a:xfrm>
          <a:prstGeom prst="rect">
            <a:avLst/>
          </a:prstGeom>
          <a:noFill/>
        </p:spPr>
        <p:txBody>
          <a:bodyPr wrap="square">
            <a:spAutoFit/>
          </a:bodyPr>
          <a:lstStyle/>
          <a:p>
            <a:pPr algn="l">
              <a:defRPr sz="800" b="1">
                <a:solidFill>
                  <a:srgbClr val="718AA8"/>
                </a:solidFill>
                <a:latin typeface="Calibri"/>
              </a:defRPr>
            </a:pPr>
            <a:r>
              <a:rPr sz="1000" b="1" dirty="0">
                <a:latin typeface="Proxima Nova Extrabold" panose="02000506030000020004" pitchFamily="2" charset="0"/>
              </a:rPr>
              <a:t>3-YEAR FINANCIAL SUMMARY</a:t>
            </a:r>
          </a:p>
        </p:txBody>
      </p:sp>
      <p:sp>
        <p:nvSpPr>
          <p:cNvPr id="35" name="Rectangle 34"/>
          <p:cNvSpPr/>
          <p:nvPr/>
        </p:nvSpPr>
        <p:spPr>
          <a:xfrm>
            <a:off x="4071000" y="3486204"/>
            <a:ext cx="700000" cy="22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roxima Nova Thin" panose="02000506030000020004" pitchFamily="2" charset="0"/>
            </a:endParaRPr>
          </a:p>
        </p:txBody>
      </p:sp>
      <p:sp>
        <p:nvSpPr>
          <p:cNvPr id="36" name="Rectangle 35"/>
          <p:cNvSpPr/>
          <p:nvPr/>
        </p:nvSpPr>
        <p:spPr>
          <a:xfrm>
            <a:off x="4775000" y="3486204"/>
            <a:ext cx="700000" cy="22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roxima Nova Thin" panose="02000506030000020004" pitchFamily="2" charset="0"/>
            </a:endParaRPr>
          </a:p>
        </p:txBody>
      </p:sp>
      <p:sp>
        <p:nvSpPr>
          <p:cNvPr id="37" name="Rectangle 36"/>
          <p:cNvSpPr/>
          <p:nvPr/>
        </p:nvSpPr>
        <p:spPr>
          <a:xfrm>
            <a:off x="5479000" y="3486204"/>
            <a:ext cx="700000" cy="22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roxima Nova Thin" panose="02000506030000020004" pitchFamily="2" charset="0"/>
            </a:endParaRPr>
          </a:p>
        </p:txBody>
      </p:sp>
      <p:sp>
        <p:nvSpPr>
          <p:cNvPr id="38" name="Rectangle 37"/>
          <p:cNvSpPr/>
          <p:nvPr/>
        </p:nvSpPr>
        <p:spPr>
          <a:xfrm>
            <a:off x="6183000" y="3486204"/>
            <a:ext cx="700000" cy="22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roxima Nova Thin" panose="02000506030000020004" pitchFamily="2" charset="0"/>
            </a:endParaRPr>
          </a:p>
        </p:txBody>
      </p:sp>
      <p:sp>
        <p:nvSpPr>
          <p:cNvPr id="39" name="TextBox 38"/>
          <p:cNvSpPr txBox="1"/>
          <p:nvPr/>
        </p:nvSpPr>
        <p:spPr>
          <a:xfrm>
            <a:off x="4071000" y="3486204"/>
            <a:ext cx="700000" cy="220000"/>
          </a:xfrm>
          <a:prstGeom prst="rect">
            <a:avLst/>
          </a:prstGeom>
          <a:noFill/>
        </p:spPr>
        <p:txBody>
          <a:bodyPr wrap="square">
            <a:spAutoFit/>
          </a:bodyPr>
          <a:lstStyle/>
          <a:p>
            <a:pPr algn="ctr">
              <a:defRPr sz="800" b="1">
                <a:solidFill>
                  <a:srgbClr val="718AA8"/>
                </a:solidFill>
                <a:latin typeface="Calibri"/>
              </a:defRPr>
            </a:pPr>
            <a:r>
              <a:rPr b="1" dirty="0">
                <a:latin typeface="Proxima Nova Extrabold" panose="02000506030000020004" pitchFamily="2" charset="0"/>
              </a:rPr>
              <a:t>Year 1</a:t>
            </a:r>
          </a:p>
        </p:txBody>
      </p:sp>
      <p:sp>
        <p:nvSpPr>
          <p:cNvPr id="40" name="TextBox 39"/>
          <p:cNvSpPr txBox="1"/>
          <p:nvPr/>
        </p:nvSpPr>
        <p:spPr>
          <a:xfrm>
            <a:off x="4775000" y="3486204"/>
            <a:ext cx="700000" cy="220000"/>
          </a:xfrm>
          <a:prstGeom prst="rect">
            <a:avLst/>
          </a:prstGeom>
          <a:noFill/>
        </p:spPr>
        <p:txBody>
          <a:bodyPr wrap="square">
            <a:spAutoFit/>
          </a:bodyPr>
          <a:lstStyle/>
          <a:p>
            <a:pPr algn="ctr">
              <a:defRPr sz="800" b="1">
                <a:solidFill>
                  <a:srgbClr val="718AA8"/>
                </a:solidFill>
                <a:latin typeface="Calibri"/>
              </a:defRPr>
            </a:pPr>
            <a:r>
              <a:rPr b="1">
                <a:latin typeface="Proxima Nova Extrabold" panose="02000506030000020004" pitchFamily="2" charset="0"/>
              </a:rPr>
              <a:t>Year 2</a:t>
            </a:r>
          </a:p>
        </p:txBody>
      </p:sp>
      <p:sp>
        <p:nvSpPr>
          <p:cNvPr id="41" name="TextBox 40"/>
          <p:cNvSpPr txBox="1"/>
          <p:nvPr/>
        </p:nvSpPr>
        <p:spPr>
          <a:xfrm>
            <a:off x="5479000" y="3486204"/>
            <a:ext cx="700000" cy="220000"/>
          </a:xfrm>
          <a:prstGeom prst="rect">
            <a:avLst/>
          </a:prstGeom>
          <a:noFill/>
        </p:spPr>
        <p:txBody>
          <a:bodyPr wrap="square">
            <a:spAutoFit/>
          </a:bodyPr>
          <a:lstStyle/>
          <a:p>
            <a:pPr algn="ctr">
              <a:defRPr sz="800" b="1">
                <a:solidFill>
                  <a:srgbClr val="718AA8"/>
                </a:solidFill>
                <a:latin typeface="Calibri"/>
              </a:defRPr>
            </a:pPr>
            <a:r>
              <a:rPr b="1">
                <a:latin typeface="Proxima Nova Extrabold" panose="02000506030000020004" pitchFamily="2" charset="0"/>
              </a:rPr>
              <a:t>Year 3</a:t>
            </a:r>
          </a:p>
        </p:txBody>
      </p:sp>
      <p:sp>
        <p:nvSpPr>
          <p:cNvPr id="42" name="TextBox 41"/>
          <p:cNvSpPr txBox="1"/>
          <p:nvPr/>
        </p:nvSpPr>
        <p:spPr>
          <a:xfrm>
            <a:off x="6183000" y="3486204"/>
            <a:ext cx="700000" cy="220000"/>
          </a:xfrm>
          <a:prstGeom prst="rect">
            <a:avLst/>
          </a:prstGeom>
          <a:noFill/>
        </p:spPr>
        <p:txBody>
          <a:bodyPr wrap="square">
            <a:spAutoFit/>
          </a:bodyPr>
          <a:lstStyle/>
          <a:p>
            <a:pPr algn="ctr">
              <a:defRPr sz="800" b="1">
                <a:solidFill>
                  <a:srgbClr val="718AA8"/>
                </a:solidFill>
                <a:latin typeface="Calibri"/>
              </a:defRPr>
            </a:pPr>
            <a:r>
              <a:rPr b="1">
                <a:latin typeface="Proxima Nova Extrabold" panose="02000506030000020004" pitchFamily="2" charset="0"/>
              </a:rPr>
              <a:t>3-Yr Total</a:t>
            </a:r>
          </a:p>
        </p:txBody>
      </p:sp>
      <p:sp>
        <p:nvSpPr>
          <p:cNvPr id="43" name="Rectangle 42"/>
          <p:cNvSpPr/>
          <p:nvPr/>
        </p:nvSpPr>
        <p:spPr>
          <a:xfrm>
            <a:off x="2551000" y="3706204"/>
            <a:ext cx="4318000" cy="2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roxima Nova Thin" panose="02000506030000020004" pitchFamily="2" charset="0"/>
            </a:endParaRPr>
          </a:p>
        </p:txBody>
      </p:sp>
      <p:sp>
        <p:nvSpPr>
          <p:cNvPr id="44" name="TextBox 43"/>
          <p:cNvSpPr txBox="1"/>
          <p:nvPr/>
        </p:nvSpPr>
        <p:spPr>
          <a:xfrm>
            <a:off x="2581000" y="3706204"/>
            <a:ext cx="1623000" cy="230832"/>
          </a:xfrm>
          <a:prstGeom prst="rect">
            <a:avLst/>
          </a:prstGeom>
          <a:noFill/>
        </p:spPr>
        <p:txBody>
          <a:bodyPr wrap="square">
            <a:spAutoFit/>
          </a:bodyPr>
          <a:lstStyle/>
          <a:p>
            <a:pPr algn="l">
              <a:defRPr sz="900" b="0">
                <a:solidFill>
                  <a:srgbClr val="3C475C"/>
                </a:solidFill>
                <a:latin typeface="Calibri"/>
              </a:defRPr>
            </a:pPr>
            <a:r>
              <a:rPr b="1" dirty="0">
                <a:latin typeface="Proxima Nova Extrabold" panose="02000506030000020004" pitchFamily="2" charset="0"/>
              </a:rPr>
              <a:t>Platform Deployment</a:t>
            </a:r>
            <a:r>
              <a:rPr lang="en-US" b="1" dirty="0">
                <a:latin typeface="Proxima Nova Extrabold" panose="02000506030000020004" pitchFamily="2" charset="0"/>
              </a:rPr>
              <a:t xml:space="preserve"> </a:t>
            </a:r>
            <a:r>
              <a:rPr b="1" dirty="0">
                <a:latin typeface="Proxima Nova Extrabold" panose="02000506030000020004" pitchFamily="2" charset="0"/>
              </a:rPr>
              <a:t>Fee</a:t>
            </a:r>
          </a:p>
        </p:txBody>
      </p:sp>
      <p:sp>
        <p:nvSpPr>
          <p:cNvPr id="45" name="TextBox 44"/>
          <p:cNvSpPr txBox="1"/>
          <p:nvPr/>
        </p:nvSpPr>
        <p:spPr>
          <a:xfrm>
            <a:off x="4071000" y="3706204"/>
            <a:ext cx="700000" cy="230832"/>
          </a:xfrm>
          <a:prstGeom prst="rect">
            <a:avLst/>
          </a:prstGeom>
          <a:noFill/>
        </p:spPr>
        <p:txBody>
          <a:bodyPr wrap="square">
            <a:spAutoFit/>
          </a:bodyPr>
          <a:lstStyle/>
          <a:p>
            <a:pPr algn="ctr">
              <a:defRPr sz="900" b="0">
                <a:solidFill>
                  <a:srgbClr val="DB716C"/>
                </a:solidFill>
                <a:latin typeface="Calibri"/>
              </a:defRPr>
            </a:pPr>
            <a:r>
              <a:rPr>
                <a:latin typeface="Proxima Nova Thin" panose="02000506030000020004" pitchFamily="2" charset="0"/>
              </a:rPr>
              <a:t>$135,000</a:t>
            </a:r>
          </a:p>
        </p:txBody>
      </p:sp>
      <p:sp>
        <p:nvSpPr>
          <p:cNvPr id="46" name="TextBox 45"/>
          <p:cNvSpPr txBox="1"/>
          <p:nvPr/>
        </p:nvSpPr>
        <p:spPr>
          <a:xfrm>
            <a:off x="4775000" y="3706204"/>
            <a:ext cx="700000" cy="230832"/>
          </a:xfrm>
          <a:prstGeom prst="rect">
            <a:avLst/>
          </a:prstGeom>
          <a:noFill/>
        </p:spPr>
        <p:txBody>
          <a:bodyPr wrap="square">
            <a:spAutoFit/>
          </a:bodyPr>
          <a:lstStyle/>
          <a:p>
            <a:pPr algn="ctr">
              <a:defRPr sz="900" b="0">
                <a:solidFill>
                  <a:srgbClr val="DB716C"/>
                </a:solidFill>
                <a:latin typeface="Calibri"/>
              </a:defRPr>
            </a:pPr>
            <a:r>
              <a:rPr>
                <a:latin typeface="Proxima Nova Thin" panose="02000506030000020004" pitchFamily="2" charset="0"/>
              </a:rPr>
              <a:t>$135,000</a:t>
            </a:r>
          </a:p>
        </p:txBody>
      </p:sp>
      <p:sp>
        <p:nvSpPr>
          <p:cNvPr id="47" name="TextBox 46"/>
          <p:cNvSpPr txBox="1"/>
          <p:nvPr/>
        </p:nvSpPr>
        <p:spPr>
          <a:xfrm>
            <a:off x="5479000" y="3706204"/>
            <a:ext cx="700000" cy="230832"/>
          </a:xfrm>
          <a:prstGeom prst="rect">
            <a:avLst/>
          </a:prstGeom>
          <a:noFill/>
        </p:spPr>
        <p:txBody>
          <a:bodyPr wrap="square">
            <a:spAutoFit/>
          </a:bodyPr>
          <a:lstStyle/>
          <a:p>
            <a:pPr algn="ctr">
              <a:defRPr sz="900" b="0">
                <a:solidFill>
                  <a:srgbClr val="DB716C"/>
                </a:solidFill>
                <a:latin typeface="Calibri"/>
              </a:defRPr>
            </a:pPr>
            <a:r>
              <a:rPr>
                <a:latin typeface="Proxima Nova Thin" panose="02000506030000020004" pitchFamily="2" charset="0"/>
              </a:rPr>
              <a:t>$135,000</a:t>
            </a:r>
          </a:p>
        </p:txBody>
      </p:sp>
      <p:sp>
        <p:nvSpPr>
          <p:cNvPr id="48" name="TextBox 47"/>
          <p:cNvSpPr txBox="1"/>
          <p:nvPr/>
        </p:nvSpPr>
        <p:spPr>
          <a:xfrm>
            <a:off x="6183000" y="3706204"/>
            <a:ext cx="700000" cy="230832"/>
          </a:xfrm>
          <a:prstGeom prst="rect">
            <a:avLst/>
          </a:prstGeom>
          <a:noFill/>
        </p:spPr>
        <p:txBody>
          <a:bodyPr wrap="square">
            <a:spAutoFit/>
          </a:bodyPr>
          <a:lstStyle/>
          <a:p>
            <a:pPr algn="ctr">
              <a:defRPr sz="900" b="0">
                <a:solidFill>
                  <a:srgbClr val="DB716C"/>
                </a:solidFill>
                <a:latin typeface="Calibri"/>
              </a:defRPr>
            </a:pPr>
            <a:r>
              <a:rPr>
                <a:latin typeface="Proxima Nova Thin" panose="02000506030000020004" pitchFamily="2" charset="0"/>
              </a:rPr>
              <a:t>$405,000</a:t>
            </a:r>
          </a:p>
        </p:txBody>
      </p:sp>
      <p:sp>
        <p:nvSpPr>
          <p:cNvPr id="49" name="Rectangle 48"/>
          <p:cNvSpPr/>
          <p:nvPr/>
        </p:nvSpPr>
        <p:spPr>
          <a:xfrm>
            <a:off x="2551000" y="3926204"/>
            <a:ext cx="4318000" cy="220000"/>
          </a:xfrm>
          <a:prstGeom prst="rect">
            <a:avLst/>
          </a:prstGeom>
          <a:solidFill>
            <a:srgbClr val="E3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roxima Nova Thin" panose="02000506030000020004" pitchFamily="2" charset="0"/>
            </a:endParaRPr>
          </a:p>
        </p:txBody>
      </p:sp>
      <p:sp>
        <p:nvSpPr>
          <p:cNvPr id="50" name="TextBox 49"/>
          <p:cNvSpPr txBox="1"/>
          <p:nvPr/>
        </p:nvSpPr>
        <p:spPr>
          <a:xfrm>
            <a:off x="2581000" y="3926204"/>
            <a:ext cx="1500000" cy="230832"/>
          </a:xfrm>
          <a:prstGeom prst="rect">
            <a:avLst/>
          </a:prstGeom>
          <a:noFill/>
        </p:spPr>
        <p:txBody>
          <a:bodyPr wrap="square">
            <a:spAutoFit/>
          </a:bodyPr>
          <a:lstStyle/>
          <a:p>
            <a:pPr algn="l">
              <a:defRPr sz="900" b="0">
                <a:solidFill>
                  <a:srgbClr val="3C475C"/>
                </a:solidFill>
                <a:latin typeface="Calibri"/>
              </a:defRPr>
            </a:pPr>
            <a:r>
              <a:rPr b="1">
                <a:latin typeface="Proxima Nova Extrabold" panose="02000506030000020004" pitchFamily="2" charset="0"/>
              </a:rPr>
              <a:t>PEP: Evolve Tier</a:t>
            </a:r>
          </a:p>
        </p:txBody>
      </p:sp>
      <p:sp>
        <p:nvSpPr>
          <p:cNvPr id="51" name="TextBox 50"/>
          <p:cNvSpPr txBox="1"/>
          <p:nvPr/>
        </p:nvSpPr>
        <p:spPr>
          <a:xfrm>
            <a:off x="4071000" y="3926204"/>
            <a:ext cx="700000" cy="230832"/>
          </a:xfrm>
          <a:prstGeom prst="rect">
            <a:avLst/>
          </a:prstGeom>
          <a:noFill/>
        </p:spPr>
        <p:txBody>
          <a:bodyPr wrap="square">
            <a:spAutoFit/>
          </a:bodyPr>
          <a:lstStyle/>
          <a:p>
            <a:pPr algn="ctr">
              <a:defRPr sz="900" b="0">
                <a:solidFill>
                  <a:srgbClr val="718AA8"/>
                </a:solidFill>
                <a:latin typeface="Calibri"/>
              </a:defRPr>
            </a:pPr>
            <a:r>
              <a:rPr dirty="0">
                <a:latin typeface="Proxima Nova Thin" panose="02000506030000020004" pitchFamily="2" charset="0"/>
              </a:rPr>
              <a:t>$144,000</a:t>
            </a:r>
          </a:p>
        </p:txBody>
      </p:sp>
      <p:sp>
        <p:nvSpPr>
          <p:cNvPr id="52" name="TextBox 51"/>
          <p:cNvSpPr txBox="1"/>
          <p:nvPr/>
        </p:nvSpPr>
        <p:spPr>
          <a:xfrm>
            <a:off x="4775000" y="3926204"/>
            <a:ext cx="700000" cy="230832"/>
          </a:xfrm>
          <a:prstGeom prst="rect">
            <a:avLst/>
          </a:prstGeom>
          <a:noFill/>
        </p:spPr>
        <p:txBody>
          <a:bodyPr wrap="square">
            <a:spAutoFit/>
          </a:bodyPr>
          <a:lstStyle/>
          <a:p>
            <a:pPr algn="ctr">
              <a:defRPr sz="900" b="0">
                <a:solidFill>
                  <a:srgbClr val="718AA8"/>
                </a:solidFill>
                <a:latin typeface="Calibri"/>
              </a:defRPr>
            </a:pPr>
            <a:r>
              <a:rPr lang="en-US" dirty="0">
                <a:latin typeface="Proxima Nova Thin" panose="02000506030000020004" pitchFamily="2" charset="0"/>
              </a:rPr>
              <a:t>$144,000</a:t>
            </a:r>
          </a:p>
        </p:txBody>
      </p:sp>
      <p:sp>
        <p:nvSpPr>
          <p:cNvPr id="53" name="TextBox 52"/>
          <p:cNvSpPr txBox="1"/>
          <p:nvPr/>
        </p:nvSpPr>
        <p:spPr>
          <a:xfrm>
            <a:off x="5479000" y="3926204"/>
            <a:ext cx="700000" cy="230832"/>
          </a:xfrm>
          <a:prstGeom prst="rect">
            <a:avLst/>
          </a:prstGeom>
          <a:noFill/>
        </p:spPr>
        <p:txBody>
          <a:bodyPr wrap="square">
            <a:spAutoFit/>
          </a:bodyPr>
          <a:lstStyle/>
          <a:p>
            <a:pPr algn="ctr">
              <a:defRPr sz="900" b="0">
                <a:solidFill>
                  <a:srgbClr val="718AA8"/>
                </a:solidFill>
                <a:latin typeface="Calibri"/>
              </a:defRPr>
            </a:pPr>
            <a:r>
              <a:rPr lang="en-US" dirty="0">
                <a:latin typeface="Proxima Nova Thin" panose="02000506030000020004" pitchFamily="2" charset="0"/>
              </a:rPr>
              <a:t>$144,000</a:t>
            </a:r>
          </a:p>
        </p:txBody>
      </p:sp>
      <p:sp>
        <p:nvSpPr>
          <p:cNvPr id="54" name="TextBox 53"/>
          <p:cNvSpPr txBox="1"/>
          <p:nvPr/>
        </p:nvSpPr>
        <p:spPr>
          <a:xfrm>
            <a:off x="6183000" y="3926204"/>
            <a:ext cx="700000" cy="230832"/>
          </a:xfrm>
          <a:prstGeom prst="rect">
            <a:avLst/>
          </a:prstGeom>
          <a:noFill/>
        </p:spPr>
        <p:txBody>
          <a:bodyPr wrap="square">
            <a:spAutoFit/>
          </a:bodyPr>
          <a:lstStyle/>
          <a:p>
            <a:pPr algn="ctr">
              <a:defRPr sz="900" b="0">
                <a:solidFill>
                  <a:srgbClr val="718AA8"/>
                </a:solidFill>
                <a:latin typeface="Calibri"/>
              </a:defRPr>
            </a:pPr>
            <a:r>
              <a:rPr dirty="0">
                <a:latin typeface="Proxima Nova Thin" panose="02000506030000020004" pitchFamily="2" charset="0"/>
              </a:rPr>
              <a:t>$4</a:t>
            </a:r>
            <a:r>
              <a:rPr lang="en-US" dirty="0">
                <a:latin typeface="Proxima Nova Thin" panose="02000506030000020004" pitchFamily="2" charset="0"/>
              </a:rPr>
              <a:t>32,000</a:t>
            </a:r>
            <a:endParaRPr dirty="0">
              <a:latin typeface="Proxima Nova Thin" panose="02000506030000020004" pitchFamily="2" charset="0"/>
            </a:endParaRPr>
          </a:p>
        </p:txBody>
      </p:sp>
      <p:sp>
        <p:nvSpPr>
          <p:cNvPr id="55" name="Rectangle 54"/>
          <p:cNvSpPr/>
          <p:nvPr/>
        </p:nvSpPr>
        <p:spPr>
          <a:xfrm>
            <a:off x="2551000" y="4146204"/>
            <a:ext cx="4318000" cy="220000"/>
          </a:xfrm>
          <a:prstGeom prst="rect">
            <a:avLst/>
          </a:prstGeom>
          <a:solidFill>
            <a:srgbClr val="3C4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roxima Nova Thin" panose="02000506030000020004" pitchFamily="2" charset="0"/>
            </a:endParaRPr>
          </a:p>
        </p:txBody>
      </p:sp>
      <p:sp>
        <p:nvSpPr>
          <p:cNvPr id="56" name="TextBox 55"/>
          <p:cNvSpPr txBox="1"/>
          <p:nvPr/>
        </p:nvSpPr>
        <p:spPr>
          <a:xfrm>
            <a:off x="2581000" y="4146204"/>
            <a:ext cx="1500000" cy="230832"/>
          </a:xfrm>
          <a:prstGeom prst="rect">
            <a:avLst/>
          </a:prstGeom>
          <a:noFill/>
        </p:spPr>
        <p:txBody>
          <a:bodyPr wrap="square">
            <a:spAutoFit/>
          </a:bodyPr>
          <a:lstStyle/>
          <a:p>
            <a:pPr algn="l">
              <a:defRPr sz="900" b="1">
                <a:solidFill>
                  <a:srgbClr val="FFFFFF"/>
                </a:solidFill>
                <a:latin typeface="Calibri"/>
              </a:defRPr>
            </a:pPr>
            <a:r>
              <a:rPr b="1">
                <a:latin typeface="Proxima Nova Extrabold" panose="02000506030000020004" pitchFamily="2" charset="0"/>
              </a:rPr>
              <a:t>Annual Total</a:t>
            </a:r>
          </a:p>
        </p:txBody>
      </p:sp>
      <p:sp>
        <p:nvSpPr>
          <p:cNvPr id="57" name="TextBox 56"/>
          <p:cNvSpPr txBox="1"/>
          <p:nvPr/>
        </p:nvSpPr>
        <p:spPr>
          <a:xfrm>
            <a:off x="4071000" y="4146204"/>
            <a:ext cx="796000" cy="230832"/>
          </a:xfrm>
          <a:prstGeom prst="rect">
            <a:avLst/>
          </a:prstGeom>
          <a:noFill/>
        </p:spPr>
        <p:txBody>
          <a:bodyPr wrap="square">
            <a:spAutoFit/>
          </a:bodyPr>
          <a:lstStyle/>
          <a:p>
            <a:pPr algn="ctr">
              <a:defRPr sz="900" b="1">
                <a:solidFill>
                  <a:srgbClr val="FFFFFF"/>
                </a:solidFill>
                <a:latin typeface="Calibri"/>
              </a:defRPr>
            </a:pPr>
            <a:r>
              <a:rPr b="1" dirty="0">
                <a:latin typeface="Proxima Nova Extrabold" panose="02000506030000020004" pitchFamily="2" charset="0"/>
              </a:rPr>
              <a:t>$279,000</a:t>
            </a:r>
          </a:p>
        </p:txBody>
      </p:sp>
      <p:sp>
        <p:nvSpPr>
          <p:cNvPr id="58" name="TextBox 57"/>
          <p:cNvSpPr txBox="1"/>
          <p:nvPr/>
        </p:nvSpPr>
        <p:spPr>
          <a:xfrm>
            <a:off x="4775000" y="4146204"/>
            <a:ext cx="796000" cy="230832"/>
          </a:xfrm>
          <a:prstGeom prst="rect">
            <a:avLst/>
          </a:prstGeom>
          <a:noFill/>
        </p:spPr>
        <p:txBody>
          <a:bodyPr wrap="square">
            <a:spAutoFit/>
          </a:bodyPr>
          <a:lstStyle/>
          <a:p>
            <a:pPr algn="ctr">
              <a:defRPr sz="900" b="1">
                <a:solidFill>
                  <a:srgbClr val="FFFFFF"/>
                </a:solidFill>
                <a:latin typeface="Calibri"/>
              </a:defRPr>
            </a:pPr>
            <a:r>
              <a:rPr b="1" dirty="0">
                <a:latin typeface="Proxima Nova Extrabold" panose="02000506030000020004" pitchFamily="2" charset="0"/>
              </a:rPr>
              <a:t>$2</a:t>
            </a:r>
            <a:r>
              <a:rPr lang="en-US" b="1" dirty="0">
                <a:latin typeface="Proxima Nova Extrabold" panose="02000506030000020004" pitchFamily="2" charset="0"/>
              </a:rPr>
              <a:t>79,00</a:t>
            </a:r>
            <a:r>
              <a:rPr b="1" dirty="0">
                <a:latin typeface="Proxima Nova Extrabold" panose="02000506030000020004" pitchFamily="2" charset="0"/>
              </a:rPr>
              <a:t>0</a:t>
            </a:r>
          </a:p>
        </p:txBody>
      </p:sp>
      <p:sp>
        <p:nvSpPr>
          <p:cNvPr id="59" name="TextBox 58"/>
          <p:cNvSpPr txBox="1"/>
          <p:nvPr/>
        </p:nvSpPr>
        <p:spPr>
          <a:xfrm>
            <a:off x="5479000" y="4146204"/>
            <a:ext cx="782000" cy="230832"/>
          </a:xfrm>
          <a:prstGeom prst="rect">
            <a:avLst/>
          </a:prstGeom>
          <a:noFill/>
        </p:spPr>
        <p:txBody>
          <a:bodyPr wrap="square">
            <a:spAutoFit/>
          </a:bodyPr>
          <a:lstStyle/>
          <a:p>
            <a:pPr algn="ctr">
              <a:defRPr sz="900" b="1">
                <a:solidFill>
                  <a:srgbClr val="FFFFFF"/>
                </a:solidFill>
                <a:latin typeface="Calibri"/>
              </a:defRPr>
            </a:pPr>
            <a:r>
              <a:rPr b="1" dirty="0">
                <a:latin typeface="Proxima Nova Extrabold" panose="02000506030000020004" pitchFamily="2" charset="0"/>
              </a:rPr>
              <a:t>$2</a:t>
            </a:r>
            <a:r>
              <a:rPr lang="en-US" b="1" dirty="0">
                <a:latin typeface="Proxima Nova Extrabold" panose="02000506030000020004" pitchFamily="2" charset="0"/>
              </a:rPr>
              <a:t>79,000</a:t>
            </a:r>
            <a:endParaRPr b="1" dirty="0">
              <a:latin typeface="Proxima Nova Extrabold" panose="02000506030000020004" pitchFamily="2" charset="0"/>
            </a:endParaRPr>
          </a:p>
        </p:txBody>
      </p:sp>
      <p:sp>
        <p:nvSpPr>
          <p:cNvPr id="60" name="TextBox 59"/>
          <p:cNvSpPr txBox="1"/>
          <p:nvPr/>
        </p:nvSpPr>
        <p:spPr>
          <a:xfrm>
            <a:off x="6183000" y="4146204"/>
            <a:ext cx="782000" cy="230832"/>
          </a:xfrm>
          <a:prstGeom prst="rect">
            <a:avLst/>
          </a:prstGeom>
          <a:noFill/>
        </p:spPr>
        <p:txBody>
          <a:bodyPr wrap="square">
            <a:spAutoFit/>
          </a:bodyPr>
          <a:lstStyle/>
          <a:p>
            <a:pPr algn="ctr">
              <a:defRPr sz="900" b="1">
                <a:solidFill>
                  <a:srgbClr val="FFFFFF"/>
                </a:solidFill>
                <a:latin typeface="Calibri"/>
              </a:defRPr>
            </a:pPr>
            <a:r>
              <a:rPr b="1" dirty="0">
                <a:latin typeface="Proxima Nova Extrabold" panose="02000506030000020004" pitchFamily="2" charset="0"/>
              </a:rPr>
              <a:t>$8</a:t>
            </a:r>
            <a:r>
              <a:rPr lang="en-US" b="1" dirty="0">
                <a:latin typeface="Proxima Nova Extrabold" panose="02000506030000020004" pitchFamily="2" charset="0"/>
              </a:rPr>
              <a:t>37,000</a:t>
            </a:r>
            <a:endParaRPr b="1" dirty="0">
              <a:latin typeface="Proxima Nova Extrabold" panose="02000506030000020004" pitchFamily="2" charset="0"/>
            </a:endParaRPr>
          </a:p>
        </p:txBody>
      </p:sp>
      <p:sp>
        <p:nvSpPr>
          <p:cNvPr id="61" name="Rectangle 60"/>
          <p:cNvSpPr/>
          <p:nvPr/>
        </p:nvSpPr>
        <p:spPr>
          <a:xfrm>
            <a:off x="268000" y="4629015"/>
            <a:ext cx="8636000" cy="25000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268000" y="4629015"/>
            <a:ext cx="8636000" cy="215444"/>
          </a:xfrm>
          <a:prstGeom prst="rect">
            <a:avLst/>
          </a:prstGeom>
          <a:noFill/>
        </p:spPr>
        <p:txBody>
          <a:bodyPr wrap="square">
            <a:spAutoFit/>
          </a:bodyPr>
          <a:lstStyle/>
          <a:p>
            <a:pPr algn="ctr">
              <a:defRPr sz="800" b="0">
                <a:solidFill>
                  <a:srgbClr val="718AA8"/>
                </a:solidFill>
                <a:latin typeface="Calibri"/>
              </a:defRPr>
            </a:pPr>
            <a:r>
              <a:rPr dirty="0"/>
              <a:t xml:space="preserve">36-month committed term  ·  You own the code  ·  4.5% PEP uplift from Year </a:t>
            </a:r>
            <a:r>
              <a:rPr lang="en-US" dirty="0"/>
              <a:t>4</a:t>
            </a:r>
            <a:r>
              <a:rPr dirty="0"/>
              <a:t xml:space="preserve">  ·  Auto-renews annually after term  ·  Governed by Evidence Spine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B716C"/>
          </a:solidFill>
          <a:ln w="12700">
            <a:solidFill>
              <a:schemeClr val="accent3"/>
            </a:solidFill>
            <a:prstDash val="solid"/>
          </a:ln>
        </p:spPr>
        <p:txBody>
          <a:bodyPr/>
          <a:lstStyle/>
          <a:p>
            <a:endParaRPr lang="en-US"/>
          </a:p>
        </p:txBody>
      </p:sp>
      <p:sp>
        <p:nvSpPr>
          <p:cNvPr id="3" name="Shape 1"/>
          <p:cNvSpPr/>
          <p:nvPr/>
        </p:nvSpPr>
        <p:spPr>
          <a:xfrm>
            <a:off x="0" y="73152"/>
            <a:ext cx="9144000" cy="749808"/>
          </a:xfrm>
          <a:prstGeom prst="rect">
            <a:avLst/>
          </a:prstGeom>
          <a:solidFill>
            <a:srgbClr val="3C475C"/>
          </a:solidFill>
          <a:ln w="12700">
            <a:solidFill>
              <a:srgbClr val="0F2B5B"/>
            </a:solidFill>
            <a:prstDash val="solid"/>
          </a:ln>
        </p:spPr>
        <p:txBody>
          <a:bodyPr/>
          <a:lstStyle/>
          <a:p>
            <a:endParaRPr lang="en-US"/>
          </a:p>
        </p:txBody>
      </p:sp>
      <p:sp>
        <p:nvSpPr>
          <p:cNvPr id="4" name="Text 2"/>
          <p:cNvSpPr/>
          <p:nvPr/>
        </p:nvSpPr>
        <p:spPr>
          <a:xfrm>
            <a:off x="365760" y="-18288"/>
            <a:ext cx="6400800" cy="749808"/>
          </a:xfrm>
          <a:prstGeom prst="rect">
            <a:avLst/>
          </a:prstGeom>
          <a:noFill/>
          <a:ln/>
        </p:spPr>
        <p:txBody>
          <a:bodyPr wrap="square" lIns="0" tIns="0" rIns="0" bIns="0" rtlCol="0" anchor="ctr"/>
          <a:lstStyle/>
          <a:p>
            <a:pPr marL="0" indent="0">
              <a:buNone/>
            </a:pPr>
            <a:r>
              <a:rPr lang="en-US" sz="2600" b="1" dirty="0">
                <a:solidFill>
                  <a:srgbClr val="FFFFFF"/>
                </a:solidFill>
                <a:latin typeface="Proxima Nova Bold" pitchFamily="34" charset="0"/>
                <a:ea typeface="Calibri" pitchFamily="34" charset="-122"/>
                <a:cs typeface="Calibri" pitchFamily="34" charset="-120"/>
              </a:rPr>
              <a:t>AI Capabilities</a:t>
            </a:r>
            <a:endParaRPr lang="en-US" sz="2600" dirty="0"/>
          </a:p>
        </p:txBody>
      </p:sp>
      <p:sp>
        <p:nvSpPr>
          <p:cNvPr id="5" name="Text 3"/>
          <p:cNvSpPr/>
          <p:nvPr/>
        </p:nvSpPr>
        <p:spPr>
          <a:xfrm>
            <a:off x="365760" y="-26863"/>
            <a:ext cx="8412480" cy="749808"/>
          </a:xfrm>
          <a:prstGeom prst="rect">
            <a:avLst/>
          </a:prstGeom>
          <a:noFill/>
          <a:ln/>
        </p:spPr>
        <p:txBody>
          <a:bodyPr wrap="square" lIns="0" tIns="0" rIns="0" bIns="0" rtlCol="0" anchor="b"/>
          <a:lstStyle/>
          <a:p>
            <a:r>
              <a:rPr lang="en-US" sz="1300" i="1" dirty="0">
                <a:solidFill>
                  <a:schemeClr val="accent1"/>
                </a:solidFill>
                <a:latin typeface="Proxima Nova"/>
              </a:rPr>
              <a:t>Enterprise-grade intelligence, not a science experiment.</a:t>
            </a:r>
          </a:p>
        </p:txBody>
      </p:sp>
      <p:sp>
        <p:nvSpPr>
          <p:cNvPr id="6" name="Shape 4"/>
          <p:cNvSpPr/>
          <p:nvPr/>
        </p:nvSpPr>
        <p:spPr>
          <a:xfrm>
            <a:off x="228600" y="889000"/>
            <a:ext cx="4165600" cy="1879600"/>
          </a:xfrm>
          <a:prstGeom prst="rect">
            <a:avLst/>
          </a:prstGeom>
          <a:solidFill>
            <a:srgbClr val="E3E8EE"/>
          </a:solidFill>
          <a:ln/>
          <a:effectLst>
            <a:outerShdw blurRad="101600" dist="25400" dir="8100000" algn="bl" rotWithShape="0">
              <a:srgbClr val="000000">
                <a:alpha val="9000"/>
              </a:srgbClr>
            </a:outerShdw>
          </a:effectLst>
        </p:spPr>
        <p:txBody>
          <a:bodyPr/>
          <a:lstStyle/>
          <a:p>
            <a:endParaRPr lang="en-US"/>
          </a:p>
        </p:txBody>
      </p:sp>
      <p:sp>
        <p:nvSpPr>
          <p:cNvPr id="7" name="Shape 5"/>
          <p:cNvSpPr/>
          <p:nvPr/>
        </p:nvSpPr>
        <p:spPr>
          <a:xfrm>
            <a:off x="228600" y="889000"/>
            <a:ext cx="4165600" cy="635000"/>
          </a:xfrm>
          <a:prstGeom prst="rect">
            <a:avLst/>
          </a:prstGeom>
          <a:solidFill>
            <a:srgbClr val="3C475C"/>
          </a:solidFill>
          <a:ln w="12700">
            <a:solidFill>
              <a:schemeClr val="tx1"/>
            </a:solidFill>
            <a:prstDash val="solid"/>
          </a:ln>
        </p:spPr>
        <p:txBody>
          <a:bodyPr/>
          <a:lstStyle/>
          <a:p>
            <a:endParaRPr lang="en-US"/>
          </a:p>
        </p:txBody>
      </p:sp>
      <p:sp>
        <p:nvSpPr>
          <p:cNvPr id="8" name="Shape 6"/>
          <p:cNvSpPr/>
          <p:nvPr/>
        </p:nvSpPr>
        <p:spPr>
          <a:xfrm>
            <a:off x="355600" y="1016000"/>
            <a:ext cx="381000" cy="381000"/>
          </a:xfrm>
          <a:prstGeom prst="ellipse">
            <a:avLst/>
          </a:prstGeom>
          <a:solidFill>
            <a:srgbClr val="DB716C"/>
          </a:solidFill>
          <a:ln w="12700">
            <a:solidFill>
              <a:schemeClr val="accent2"/>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418304" y="1078704"/>
            <a:ext cx="260351" cy="260351"/>
          </a:xfrm>
          <a:prstGeom prst="rect">
            <a:avLst/>
          </a:prstGeom>
        </p:spPr>
      </p:pic>
      <p:sp>
        <p:nvSpPr>
          <p:cNvPr id="10" name="Text 7"/>
          <p:cNvSpPr/>
          <p:nvPr/>
        </p:nvSpPr>
        <p:spPr>
          <a:xfrm>
            <a:off x="838200" y="1041400"/>
            <a:ext cx="3429000" cy="355600"/>
          </a:xfrm>
          <a:prstGeom prst="rect">
            <a:avLst/>
          </a:prstGeom>
          <a:noFill/>
          <a:ln/>
        </p:spPr>
        <p:txBody>
          <a:bodyPr wrap="square" rtlCol="0" anchor="ctr"/>
          <a:lstStyle/>
          <a:p>
            <a:pPr marL="0" indent="0">
              <a:buNone/>
            </a:pPr>
            <a:r>
              <a:rPr lang="en-US" sz="1500" b="1" dirty="0">
                <a:solidFill>
                  <a:srgbClr val="FFFFFF"/>
                </a:solidFill>
                <a:latin typeface="Proxima Nova Bold" pitchFamily="34" charset="0"/>
                <a:ea typeface="Calibri" pitchFamily="34" charset="-122"/>
                <a:cs typeface="Calibri" pitchFamily="34" charset="-120"/>
              </a:rPr>
              <a:t>Predictive Analytics</a:t>
            </a:r>
            <a:endParaRPr lang="en-US" sz="1400" dirty="0"/>
          </a:p>
        </p:txBody>
      </p:sp>
      <p:sp>
        <p:nvSpPr>
          <p:cNvPr id="11" name="Text 8"/>
          <p:cNvSpPr/>
          <p:nvPr/>
        </p:nvSpPr>
        <p:spPr>
          <a:xfrm>
            <a:off x="381000" y="1561304"/>
            <a:ext cx="3860800" cy="1041400"/>
          </a:xfrm>
          <a:prstGeom prst="rect">
            <a:avLst/>
          </a:prstGeom>
          <a:noFill/>
          <a:ln/>
        </p:spPr>
        <p:txBody>
          <a:bodyPr wrap="square" rtlCol="0" anchor="t"/>
          <a:lstStyle/>
          <a:p>
            <a:pPr marL="0" indent="0">
              <a:lnSpc>
                <a:spcPct val="135000"/>
              </a:lnSpc>
              <a:buNone/>
            </a:pPr>
            <a:r>
              <a:rPr lang="en-US" sz="1350" dirty="0">
                <a:solidFill>
                  <a:srgbClr val="474747"/>
                </a:solidFill>
                <a:latin typeface="Proxima Nova"/>
              </a:rPr>
              <a:t>Forecasts store-level demand, identifies underperforming SKUs, and surfaces margin optimization opportunities — before the window to act has closed.</a:t>
            </a:r>
            <a:endParaRPr lang="en-US" sz="1350" dirty="0"/>
          </a:p>
        </p:txBody>
      </p:sp>
      <p:sp>
        <p:nvSpPr>
          <p:cNvPr id="12" name="Shape 9"/>
          <p:cNvSpPr/>
          <p:nvPr/>
        </p:nvSpPr>
        <p:spPr>
          <a:xfrm>
            <a:off x="4749800" y="889000"/>
            <a:ext cx="4165600" cy="1879600"/>
          </a:xfrm>
          <a:prstGeom prst="rect">
            <a:avLst/>
          </a:prstGeom>
          <a:solidFill>
            <a:srgbClr val="E3E8EE"/>
          </a:solidFill>
          <a:ln/>
          <a:effectLst>
            <a:outerShdw blurRad="101600" dist="25400" dir="8100000" algn="bl" rotWithShape="0">
              <a:srgbClr val="000000">
                <a:alpha val="9000"/>
              </a:srgbClr>
            </a:outerShdw>
          </a:effectLst>
        </p:spPr>
        <p:txBody>
          <a:bodyPr/>
          <a:lstStyle/>
          <a:p>
            <a:endParaRPr lang="en-US"/>
          </a:p>
        </p:txBody>
      </p:sp>
      <p:sp>
        <p:nvSpPr>
          <p:cNvPr id="13" name="Shape 10"/>
          <p:cNvSpPr/>
          <p:nvPr/>
        </p:nvSpPr>
        <p:spPr>
          <a:xfrm>
            <a:off x="4749800" y="889000"/>
            <a:ext cx="4165600" cy="635000"/>
          </a:xfrm>
          <a:prstGeom prst="rect">
            <a:avLst/>
          </a:prstGeom>
          <a:solidFill>
            <a:srgbClr val="3C475C"/>
          </a:solidFill>
          <a:ln w="12700">
            <a:solidFill>
              <a:schemeClr val="tx1"/>
            </a:solidFill>
            <a:prstDash val="solid"/>
          </a:ln>
        </p:spPr>
        <p:txBody>
          <a:bodyPr/>
          <a:lstStyle/>
          <a:p>
            <a:endParaRPr lang="en-US"/>
          </a:p>
        </p:txBody>
      </p:sp>
      <p:sp>
        <p:nvSpPr>
          <p:cNvPr id="14" name="Shape 11"/>
          <p:cNvSpPr/>
          <p:nvPr/>
        </p:nvSpPr>
        <p:spPr>
          <a:xfrm>
            <a:off x="4876800" y="1016000"/>
            <a:ext cx="381000" cy="381000"/>
          </a:xfrm>
          <a:prstGeom prst="ellipse">
            <a:avLst/>
          </a:prstGeom>
          <a:solidFill>
            <a:srgbClr val="DB716C"/>
          </a:solidFill>
          <a:ln w="12700">
            <a:solidFill>
              <a:schemeClr val="accent2"/>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4930776" y="1062832"/>
            <a:ext cx="273050" cy="273050"/>
          </a:xfrm>
          <a:prstGeom prst="rect">
            <a:avLst/>
          </a:prstGeom>
        </p:spPr>
      </p:pic>
      <p:sp>
        <p:nvSpPr>
          <p:cNvPr id="16" name="Text 12"/>
          <p:cNvSpPr/>
          <p:nvPr/>
        </p:nvSpPr>
        <p:spPr>
          <a:xfrm>
            <a:off x="5359400" y="1041400"/>
            <a:ext cx="3429000" cy="355600"/>
          </a:xfrm>
          <a:prstGeom prst="rect">
            <a:avLst/>
          </a:prstGeom>
          <a:noFill/>
          <a:ln/>
        </p:spPr>
        <p:txBody>
          <a:bodyPr wrap="square" rtlCol="0" anchor="ctr"/>
          <a:lstStyle/>
          <a:p>
            <a:pPr marL="0" indent="0">
              <a:buNone/>
            </a:pPr>
            <a:r>
              <a:rPr lang="en-US" sz="1500" b="1" dirty="0">
                <a:solidFill>
                  <a:srgbClr val="FFFFFF"/>
                </a:solidFill>
                <a:latin typeface="Proxima Nova Bold" pitchFamily="34" charset="0"/>
                <a:ea typeface="Calibri" pitchFamily="34" charset="-122"/>
                <a:cs typeface="Calibri" pitchFamily="34" charset="-120"/>
              </a:rPr>
              <a:t>Next-Best Action Engine</a:t>
            </a:r>
            <a:endParaRPr lang="en-US" sz="1400" dirty="0"/>
          </a:p>
        </p:txBody>
      </p:sp>
      <p:sp>
        <p:nvSpPr>
          <p:cNvPr id="17" name="Text 13"/>
          <p:cNvSpPr/>
          <p:nvPr/>
        </p:nvSpPr>
        <p:spPr>
          <a:xfrm>
            <a:off x="4902200" y="1561304"/>
            <a:ext cx="3860800" cy="1041400"/>
          </a:xfrm>
          <a:prstGeom prst="rect">
            <a:avLst/>
          </a:prstGeom>
          <a:noFill/>
          <a:ln/>
        </p:spPr>
        <p:txBody>
          <a:bodyPr wrap="square" rtlCol="0" anchor="t"/>
          <a:lstStyle/>
          <a:p>
            <a:pPr marL="0" indent="0">
              <a:lnSpc>
                <a:spcPct val="135000"/>
              </a:lnSpc>
              <a:buNone/>
            </a:pPr>
            <a:r>
              <a:rPr lang="en-US" sz="1350" dirty="0">
                <a:solidFill>
                  <a:srgbClr val="474747"/>
                </a:solidFill>
                <a:latin typeface="Proxima Nova"/>
              </a:rPr>
              <a:t>Real-time recommendations for Sleep Experts: which products to pitch, which accessories to bundle, which customers to follow up with — pushed directly to the floor.</a:t>
            </a:r>
            <a:endParaRPr lang="en-US" sz="1350" dirty="0"/>
          </a:p>
        </p:txBody>
      </p:sp>
      <p:sp>
        <p:nvSpPr>
          <p:cNvPr id="18" name="Shape 14"/>
          <p:cNvSpPr/>
          <p:nvPr/>
        </p:nvSpPr>
        <p:spPr>
          <a:xfrm>
            <a:off x="228600" y="2870200"/>
            <a:ext cx="4165600" cy="1879600"/>
          </a:xfrm>
          <a:prstGeom prst="rect">
            <a:avLst/>
          </a:prstGeom>
          <a:solidFill>
            <a:srgbClr val="E3E8EE"/>
          </a:solidFill>
          <a:ln/>
          <a:effectLst>
            <a:outerShdw blurRad="101600" dist="25400" dir="8100000" algn="bl" rotWithShape="0">
              <a:srgbClr val="000000">
                <a:alpha val="9000"/>
              </a:srgbClr>
            </a:outerShdw>
          </a:effectLst>
        </p:spPr>
        <p:txBody>
          <a:bodyPr/>
          <a:lstStyle/>
          <a:p>
            <a:endParaRPr lang="en-US"/>
          </a:p>
        </p:txBody>
      </p:sp>
      <p:sp>
        <p:nvSpPr>
          <p:cNvPr id="19" name="Shape 15"/>
          <p:cNvSpPr/>
          <p:nvPr/>
        </p:nvSpPr>
        <p:spPr>
          <a:xfrm>
            <a:off x="228600" y="2870200"/>
            <a:ext cx="4165600" cy="635000"/>
          </a:xfrm>
          <a:prstGeom prst="rect">
            <a:avLst/>
          </a:prstGeom>
          <a:solidFill>
            <a:srgbClr val="3C475C"/>
          </a:solidFill>
          <a:ln w="12700">
            <a:solidFill>
              <a:schemeClr val="tx1"/>
            </a:solidFill>
            <a:prstDash val="solid"/>
          </a:ln>
        </p:spPr>
        <p:txBody>
          <a:bodyPr/>
          <a:lstStyle/>
          <a:p>
            <a:endParaRPr lang="en-US"/>
          </a:p>
        </p:txBody>
      </p:sp>
      <p:sp>
        <p:nvSpPr>
          <p:cNvPr id="20" name="Shape 16"/>
          <p:cNvSpPr/>
          <p:nvPr/>
        </p:nvSpPr>
        <p:spPr>
          <a:xfrm>
            <a:off x="355600" y="2997200"/>
            <a:ext cx="381000" cy="381000"/>
          </a:xfrm>
          <a:prstGeom prst="ellipse">
            <a:avLst/>
          </a:prstGeom>
          <a:solidFill>
            <a:srgbClr val="DB716C"/>
          </a:solidFill>
          <a:ln w="12700">
            <a:solidFill>
              <a:schemeClr val="accent2"/>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381000" y="3022600"/>
            <a:ext cx="326232" cy="326232"/>
          </a:xfrm>
          <a:prstGeom prst="rect">
            <a:avLst/>
          </a:prstGeom>
        </p:spPr>
      </p:pic>
      <p:sp>
        <p:nvSpPr>
          <p:cNvPr id="22" name="Text 17"/>
          <p:cNvSpPr/>
          <p:nvPr/>
        </p:nvSpPr>
        <p:spPr>
          <a:xfrm>
            <a:off x="838200" y="3022600"/>
            <a:ext cx="3429000" cy="355600"/>
          </a:xfrm>
          <a:prstGeom prst="rect">
            <a:avLst/>
          </a:prstGeom>
          <a:noFill/>
          <a:ln/>
        </p:spPr>
        <p:txBody>
          <a:bodyPr wrap="square" rtlCol="0" anchor="ctr"/>
          <a:lstStyle/>
          <a:p>
            <a:pPr marL="0" indent="0">
              <a:buNone/>
            </a:pPr>
            <a:r>
              <a:rPr lang="en-US" sz="1500" b="1" dirty="0">
                <a:solidFill>
                  <a:srgbClr val="FFFFFF"/>
                </a:solidFill>
                <a:latin typeface="Proxima Nova Bold" pitchFamily="34" charset="0"/>
                <a:ea typeface="Calibri" pitchFamily="34" charset="-122"/>
                <a:cs typeface="Calibri" pitchFamily="34" charset="-120"/>
              </a:rPr>
              <a:t>AskRegister</a:t>
            </a:r>
            <a:endParaRPr lang="en-US" sz="1400" dirty="0"/>
          </a:p>
        </p:txBody>
      </p:sp>
      <p:sp>
        <p:nvSpPr>
          <p:cNvPr id="23" name="Text 18"/>
          <p:cNvSpPr/>
          <p:nvPr/>
        </p:nvSpPr>
        <p:spPr>
          <a:xfrm>
            <a:off x="381000" y="3542504"/>
            <a:ext cx="3860800" cy="1041400"/>
          </a:xfrm>
          <a:prstGeom prst="rect">
            <a:avLst/>
          </a:prstGeom>
          <a:noFill/>
          <a:ln/>
        </p:spPr>
        <p:txBody>
          <a:bodyPr wrap="square" rtlCol="0" anchor="t"/>
          <a:lstStyle/>
          <a:p>
            <a:pPr marL="0" indent="0">
              <a:lnSpc>
                <a:spcPct val="135000"/>
              </a:lnSpc>
              <a:buNone/>
            </a:pPr>
            <a:r>
              <a:rPr lang="en-US" sz="1350" dirty="0">
                <a:solidFill>
                  <a:srgbClr val="474747"/>
                </a:solidFill>
                <a:latin typeface="Proxima Nova"/>
              </a:rPr>
              <a:t>Natural language interface to your data. Ask questions like "Which stores are trailing on Tempur-Pedic this quarter?" and get instant, governed answers with full source traceability.</a:t>
            </a:r>
            <a:endParaRPr lang="en-US" sz="1350" dirty="0"/>
          </a:p>
        </p:txBody>
      </p:sp>
      <p:sp>
        <p:nvSpPr>
          <p:cNvPr id="24" name="Shape 19"/>
          <p:cNvSpPr/>
          <p:nvPr/>
        </p:nvSpPr>
        <p:spPr>
          <a:xfrm>
            <a:off x="4749800" y="2870200"/>
            <a:ext cx="4165600" cy="1879600"/>
          </a:xfrm>
          <a:prstGeom prst="rect">
            <a:avLst/>
          </a:prstGeom>
          <a:solidFill>
            <a:srgbClr val="E3E8EE"/>
          </a:solidFill>
          <a:ln/>
          <a:effectLst>
            <a:outerShdw blurRad="101600" dist="25400" dir="8100000" algn="bl" rotWithShape="0">
              <a:srgbClr val="000000">
                <a:alpha val="9000"/>
              </a:srgbClr>
            </a:outerShdw>
          </a:effectLst>
        </p:spPr>
        <p:txBody>
          <a:bodyPr/>
          <a:lstStyle/>
          <a:p>
            <a:endParaRPr lang="en-US"/>
          </a:p>
        </p:txBody>
      </p:sp>
      <p:sp>
        <p:nvSpPr>
          <p:cNvPr id="25" name="Shape 20"/>
          <p:cNvSpPr/>
          <p:nvPr/>
        </p:nvSpPr>
        <p:spPr>
          <a:xfrm>
            <a:off x="4749800" y="2870200"/>
            <a:ext cx="4165600" cy="635000"/>
          </a:xfrm>
          <a:prstGeom prst="rect">
            <a:avLst/>
          </a:prstGeom>
          <a:solidFill>
            <a:srgbClr val="3C475C"/>
          </a:solidFill>
          <a:ln w="12700">
            <a:solidFill>
              <a:schemeClr val="tx1"/>
            </a:solidFill>
            <a:prstDash val="solid"/>
          </a:ln>
        </p:spPr>
        <p:txBody>
          <a:bodyPr/>
          <a:lstStyle/>
          <a:p>
            <a:endParaRPr lang="en-US"/>
          </a:p>
        </p:txBody>
      </p:sp>
      <p:sp>
        <p:nvSpPr>
          <p:cNvPr id="26" name="Shape 21"/>
          <p:cNvSpPr/>
          <p:nvPr/>
        </p:nvSpPr>
        <p:spPr>
          <a:xfrm>
            <a:off x="4876800" y="2997200"/>
            <a:ext cx="381000" cy="381000"/>
          </a:xfrm>
          <a:prstGeom prst="ellipse">
            <a:avLst/>
          </a:prstGeom>
          <a:solidFill>
            <a:srgbClr val="DB716C"/>
          </a:solidFill>
          <a:ln w="12700">
            <a:solidFill>
              <a:schemeClr val="accent2"/>
            </a:solidFill>
            <a:prstDash val="solid"/>
          </a:ln>
        </p:spPr>
        <p:txBody>
          <a:bodyPr/>
          <a:lstStyle/>
          <a:p>
            <a:endParaRPr lang="en-US"/>
          </a:p>
        </p:txBody>
      </p:sp>
      <p:pic>
        <p:nvPicPr>
          <p:cNvPr id="27" name="Image 3" descr="preencoded.png"/>
          <p:cNvPicPr>
            <a:picLocks noChangeAspect="1"/>
          </p:cNvPicPr>
          <p:nvPr/>
        </p:nvPicPr>
        <p:blipFill>
          <a:blip r:embed="rId6"/>
          <a:stretch>
            <a:fillRect/>
          </a:stretch>
        </p:blipFill>
        <p:spPr>
          <a:xfrm>
            <a:off x="4905376" y="3086100"/>
            <a:ext cx="269876" cy="269876"/>
          </a:xfrm>
          <a:prstGeom prst="rect">
            <a:avLst/>
          </a:prstGeom>
        </p:spPr>
      </p:pic>
      <p:sp>
        <p:nvSpPr>
          <p:cNvPr id="28" name="Text 22"/>
          <p:cNvSpPr/>
          <p:nvPr/>
        </p:nvSpPr>
        <p:spPr>
          <a:xfrm>
            <a:off x="5359400" y="3022600"/>
            <a:ext cx="3429000" cy="355600"/>
          </a:xfrm>
          <a:prstGeom prst="rect">
            <a:avLst/>
          </a:prstGeom>
          <a:noFill/>
          <a:ln/>
        </p:spPr>
        <p:txBody>
          <a:bodyPr wrap="square" rtlCol="0" anchor="ctr"/>
          <a:lstStyle/>
          <a:p>
            <a:pPr marL="0" indent="0">
              <a:buNone/>
            </a:pPr>
            <a:r>
              <a:rPr lang="en-US" sz="1500" b="1" dirty="0">
                <a:solidFill>
                  <a:srgbClr val="FFFFFF"/>
                </a:solidFill>
                <a:latin typeface="Proxima Nova Bold" pitchFamily="34" charset="0"/>
                <a:ea typeface="Calibri" pitchFamily="34" charset="-122"/>
                <a:cs typeface="Calibri" pitchFamily="34" charset="-120"/>
              </a:rPr>
              <a:t>Anomaly Detection</a:t>
            </a:r>
            <a:endParaRPr lang="en-US" sz="1400" dirty="0"/>
          </a:p>
        </p:txBody>
      </p:sp>
      <p:sp>
        <p:nvSpPr>
          <p:cNvPr id="29" name="Text 23"/>
          <p:cNvSpPr/>
          <p:nvPr/>
        </p:nvSpPr>
        <p:spPr>
          <a:xfrm>
            <a:off x="4902200" y="3542504"/>
            <a:ext cx="3860800" cy="1041400"/>
          </a:xfrm>
          <a:prstGeom prst="rect">
            <a:avLst/>
          </a:prstGeom>
          <a:noFill/>
          <a:ln/>
        </p:spPr>
        <p:txBody>
          <a:bodyPr wrap="square" rtlCol="0" anchor="t"/>
          <a:lstStyle/>
          <a:p>
            <a:pPr marL="0" indent="0">
              <a:lnSpc>
                <a:spcPct val="135000"/>
              </a:lnSpc>
              <a:buNone/>
            </a:pPr>
            <a:r>
              <a:rPr lang="en-US" sz="1350" dirty="0">
                <a:solidFill>
                  <a:srgbClr val="474747"/>
                </a:solidFill>
                <a:latin typeface="Proxima Nova"/>
              </a:rPr>
              <a:t>Automatic alerts when store performance deviates from expected patterns — comp plan misalignments, sudden margin drops, attachment rate changes. Catch problems early, not in the monthly review.</a:t>
            </a:r>
            <a:endParaRPr lang="en-US" sz="1350" dirty="0"/>
          </a:p>
        </p:txBody>
      </p:sp>
      <p:sp>
        <p:nvSpPr>
          <p:cNvPr id="30" name="Shape 24"/>
          <p:cNvSpPr/>
          <p:nvPr/>
        </p:nvSpPr>
        <p:spPr>
          <a:xfrm>
            <a:off x="0" y="4892040"/>
            <a:ext cx="9144000" cy="251460"/>
          </a:xfrm>
          <a:prstGeom prst="rect">
            <a:avLst/>
          </a:prstGeom>
          <a:solidFill>
            <a:srgbClr val="3C475C"/>
          </a:solidFill>
          <a:ln w="12700">
            <a:solidFill>
              <a:srgbClr val="0F2B5B"/>
            </a:solidFill>
            <a:prstDash val="solid"/>
          </a:ln>
        </p:spPr>
        <p:txBody>
          <a:bodyPr/>
          <a:lstStyle/>
          <a:p>
            <a:endParaRPr lang="en-US"/>
          </a:p>
        </p:txBody>
      </p:sp>
      <p:sp>
        <p:nvSpPr>
          <p:cNvPr id="31" name="Text 25"/>
          <p:cNvSpPr/>
          <p:nvPr/>
        </p:nvSpPr>
        <p:spPr>
          <a:xfrm>
            <a:off x="0" y="4914900"/>
            <a:ext cx="9144000" cy="203200"/>
          </a:xfrm>
          <a:prstGeom prst="rect">
            <a:avLst/>
          </a:prstGeom>
          <a:noFill/>
          <a:ln/>
        </p:spPr>
        <p:txBody>
          <a:bodyPr wrap="square" lIns="0" tIns="0" rIns="0" bIns="0" rtlCol="0" anchor="ctr"/>
          <a:lstStyle/>
          <a:p>
            <a:pPr algn="ctr">
              <a:buNone/>
            </a:pPr>
            <a:r>
              <a:rPr lang="en-US" sz="1000" dirty="0">
                <a:solidFill>
                  <a:srgbClr val="B9C5D3"/>
                </a:solidFill>
                <a:latin typeface="Proxima Nova"/>
              </a:rPr>
              <a:t>Confidential and Proprietary - The Blue Horizons Group LLC</a:t>
            </a:r>
          </a:p>
        </p:txBody>
      </p:sp>
      <p:sp>
        <p:nvSpPr>
          <p:cNvPr id="32" name="Text 26"/>
          <p:cNvSpPr/>
          <p:nvPr/>
        </p:nvSpPr>
        <p:spPr>
          <a:xfrm>
            <a:off x="6400800" y="4901184"/>
            <a:ext cx="2423160" cy="201168"/>
          </a:xfrm>
          <a:prstGeom prst="rect">
            <a:avLst/>
          </a:prstGeom>
          <a:noFill/>
          <a:ln/>
        </p:spPr>
        <p:txBody>
          <a:bodyPr wrap="square" lIns="0" tIns="0" rIns="0" bIns="0" rtlCol="0" anchor="ctr"/>
          <a:lstStyle/>
          <a:p>
            <a:pPr marL="0" indent="0" algn="r">
              <a:buNone/>
            </a:pPr>
            <a:r>
              <a:rPr lang="en-US" sz="1000">
                <a:solidFill>
                  <a:srgbClr val="B9C5D3"/>
                </a:solidFill>
                <a:latin typeface="Proxima Nova"/>
              </a:rPr>
              <a:t>Confidential  ·  March 16, 2026</a:t>
            </a:r>
            <a:endParaRPr lang="en-US" sz="800" dirty="0"/>
          </a:p>
        </p:txBody>
      </p:sp>
    </p:spTree>
    <p:extLst>
      <p:ext uri="{BB962C8B-B14F-4D97-AF65-F5344CB8AC3E}">
        <p14:creationId xmlns:p14="http://schemas.microsoft.com/office/powerpoint/2010/main" val="3177352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B716C"/>
          </a:solidFill>
          <a:ln w="12700">
            <a:solidFill>
              <a:schemeClr val="accent3"/>
            </a:solidFill>
            <a:prstDash val="solid"/>
          </a:ln>
        </p:spPr>
        <p:txBody>
          <a:bodyPr/>
          <a:lstStyle/>
          <a:p>
            <a:endParaRPr lang="en-US"/>
          </a:p>
        </p:txBody>
      </p:sp>
      <p:sp>
        <p:nvSpPr>
          <p:cNvPr id="3" name="Shape 1"/>
          <p:cNvSpPr/>
          <p:nvPr/>
        </p:nvSpPr>
        <p:spPr>
          <a:xfrm>
            <a:off x="0" y="73152"/>
            <a:ext cx="9144000" cy="749808"/>
          </a:xfrm>
          <a:prstGeom prst="rect">
            <a:avLst/>
          </a:prstGeom>
          <a:solidFill>
            <a:srgbClr val="3C475C"/>
          </a:solidFill>
          <a:ln w="12700">
            <a:solidFill>
              <a:srgbClr val="0F2B5B"/>
            </a:solidFill>
            <a:prstDash val="solid"/>
          </a:ln>
        </p:spPr>
        <p:txBody>
          <a:bodyPr/>
          <a:lstStyle/>
          <a:p>
            <a:endParaRPr lang="en-US"/>
          </a:p>
        </p:txBody>
      </p:sp>
      <p:sp>
        <p:nvSpPr>
          <p:cNvPr id="4" name="Text 2"/>
          <p:cNvSpPr/>
          <p:nvPr/>
        </p:nvSpPr>
        <p:spPr>
          <a:xfrm>
            <a:off x="365760" y="-18288"/>
            <a:ext cx="6400800" cy="749808"/>
          </a:xfrm>
          <a:prstGeom prst="rect">
            <a:avLst/>
          </a:prstGeom>
          <a:noFill/>
          <a:ln/>
        </p:spPr>
        <p:txBody>
          <a:bodyPr wrap="square" lIns="0" tIns="0" rIns="0" bIns="0" rtlCol="0" anchor="ctr"/>
          <a:lstStyle/>
          <a:p>
            <a:pPr marL="0" indent="0">
              <a:buNone/>
            </a:pPr>
            <a:r>
              <a:rPr lang="en-US" sz="2600" b="1" dirty="0">
                <a:solidFill>
                  <a:srgbClr val="FFFFFF"/>
                </a:solidFill>
                <a:latin typeface="Proxima Nova Bold" pitchFamily="34" charset="0"/>
                <a:ea typeface="Calibri" pitchFamily="34" charset="-122"/>
                <a:cs typeface="Calibri" pitchFamily="34" charset="-120"/>
              </a:rPr>
              <a:t>Tech Stack &amp; Ownership</a:t>
            </a:r>
            <a:endParaRPr lang="en-US" sz="2600" dirty="0"/>
          </a:p>
        </p:txBody>
      </p:sp>
      <p:sp>
        <p:nvSpPr>
          <p:cNvPr id="5" name="Text 3"/>
          <p:cNvSpPr/>
          <p:nvPr/>
        </p:nvSpPr>
        <p:spPr>
          <a:xfrm>
            <a:off x="365760" y="-26863"/>
            <a:ext cx="8412480" cy="749808"/>
          </a:xfrm>
          <a:prstGeom prst="rect">
            <a:avLst/>
          </a:prstGeom>
          <a:noFill/>
          <a:ln/>
        </p:spPr>
        <p:txBody>
          <a:bodyPr wrap="square" lIns="0" tIns="0" rIns="0" bIns="0" rtlCol="0" anchor="b"/>
          <a:lstStyle/>
          <a:p>
            <a:r>
              <a:rPr lang="en-US" sz="1300" i="1" dirty="0">
                <a:solidFill>
                  <a:schemeClr val="accent1"/>
                </a:solidFill>
                <a:latin typeface="Proxima Nova"/>
              </a:rPr>
              <a:t>Your code. Your environment. Your choice on who maintains it.</a:t>
            </a:r>
          </a:p>
        </p:txBody>
      </p:sp>
      <p:sp>
        <p:nvSpPr>
          <p:cNvPr id="6" name="Shape 4"/>
          <p:cNvSpPr/>
          <p:nvPr/>
        </p:nvSpPr>
        <p:spPr>
          <a:xfrm>
            <a:off x="228600" y="889000"/>
            <a:ext cx="4165600" cy="1879600"/>
          </a:xfrm>
          <a:prstGeom prst="rect">
            <a:avLst/>
          </a:prstGeom>
          <a:solidFill>
            <a:srgbClr val="E3E8EE"/>
          </a:solidFill>
          <a:ln/>
          <a:effectLst>
            <a:outerShdw blurRad="101600" dist="25400" dir="8100000" algn="bl" rotWithShape="0">
              <a:srgbClr val="000000">
                <a:alpha val="9000"/>
              </a:srgbClr>
            </a:outerShdw>
          </a:effectLst>
        </p:spPr>
        <p:txBody>
          <a:bodyPr/>
          <a:lstStyle/>
          <a:p>
            <a:endParaRPr lang="en-US"/>
          </a:p>
        </p:txBody>
      </p:sp>
      <p:sp>
        <p:nvSpPr>
          <p:cNvPr id="7" name="Shape 5"/>
          <p:cNvSpPr/>
          <p:nvPr/>
        </p:nvSpPr>
        <p:spPr>
          <a:xfrm>
            <a:off x="228600" y="889000"/>
            <a:ext cx="4165600" cy="635000"/>
          </a:xfrm>
          <a:prstGeom prst="rect">
            <a:avLst/>
          </a:prstGeom>
          <a:solidFill>
            <a:srgbClr val="3C475C"/>
          </a:solidFill>
          <a:ln w="12700">
            <a:solidFill>
              <a:schemeClr val="tx1"/>
            </a:solidFill>
            <a:prstDash val="solid"/>
          </a:ln>
        </p:spPr>
        <p:txBody>
          <a:bodyPr/>
          <a:lstStyle/>
          <a:p>
            <a:endParaRPr lang="en-US"/>
          </a:p>
        </p:txBody>
      </p:sp>
      <p:sp>
        <p:nvSpPr>
          <p:cNvPr id="8" name="Shape 6"/>
          <p:cNvSpPr/>
          <p:nvPr/>
        </p:nvSpPr>
        <p:spPr>
          <a:xfrm>
            <a:off x="355600" y="1016000"/>
            <a:ext cx="381000" cy="381000"/>
          </a:xfrm>
          <a:prstGeom prst="ellipse">
            <a:avLst/>
          </a:prstGeom>
          <a:solidFill>
            <a:srgbClr val="DB716C"/>
          </a:solidFill>
          <a:ln w="12700">
            <a:solidFill>
              <a:schemeClr val="accent2"/>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418304" y="1078704"/>
            <a:ext cx="260351" cy="260351"/>
          </a:xfrm>
          <a:prstGeom prst="rect">
            <a:avLst/>
          </a:prstGeom>
        </p:spPr>
      </p:pic>
      <p:sp>
        <p:nvSpPr>
          <p:cNvPr id="10" name="Text 7"/>
          <p:cNvSpPr/>
          <p:nvPr/>
        </p:nvSpPr>
        <p:spPr>
          <a:xfrm>
            <a:off x="838200" y="1041400"/>
            <a:ext cx="3429000" cy="355600"/>
          </a:xfrm>
          <a:prstGeom prst="rect">
            <a:avLst/>
          </a:prstGeom>
          <a:noFill/>
          <a:ln/>
        </p:spPr>
        <p:txBody>
          <a:bodyPr wrap="square" rtlCol="0" anchor="ctr"/>
          <a:lstStyle/>
          <a:p>
            <a:pPr marL="0" indent="0">
              <a:buNone/>
            </a:pPr>
            <a:r>
              <a:rPr lang="en-US" sz="1500" b="1" dirty="0">
                <a:solidFill>
                  <a:srgbClr val="FFFFFF"/>
                </a:solidFill>
                <a:latin typeface="Proxima Nova Bold" pitchFamily="34" charset="0"/>
                <a:ea typeface="Calibri" pitchFamily="34" charset="-122"/>
                <a:cs typeface="Calibri" pitchFamily="34" charset="-120"/>
              </a:rPr>
              <a:t>D365 + Azure Stack</a:t>
            </a:r>
            <a:endParaRPr lang="en-US" sz="1400" dirty="0"/>
          </a:p>
        </p:txBody>
      </p:sp>
      <p:sp>
        <p:nvSpPr>
          <p:cNvPr id="11" name="Text 8"/>
          <p:cNvSpPr/>
          <p:nvPr/>
        </p:nvSpPr>
        <p:spPr>
          <a:xfrm>
            <a:off x="381000" y="1561304"/>
            <a:ext cx="3860800" cy="1041400"/>
          </a:xfrm>
          <a:prstGeom prst="rect">
            <a:avLst/>
          </a:prstGeom>
          <a:noFill/>
          <a:ln/>
        </p:spPr>
        <p:txBody>
          <a:bodyPr wrap="square" rtlCol="0" anchor="t"/>
          <a:lstStyle/>
          <a:p>
            <a:pPr marL="0" indent="0">
              <a:lnSpc>
                <a:spcPct val="135000"/>
              </a:lnSpc>
              <a:buNone/>
            </a:pPr>
            <a:r>
              <a:rPr lang="en-US" sz="1350" dirty="0">
                <a:solidFill>
                  <a:srgbClr val="474747"/>
                </a:solidFill>
                <a:latin typeface="Proxima Nova"/>
              </a:rPr>
              <a:t>Next.js front end, Azure Functions back end, D365 Dataverse as the data layer. Standard enterprise stack — no proprietary runtime, no vendor lock-in. Your team already knows this technology.</a:t>
            </a:r>
            <a:endParaRPr lang="en-US" sz="1350" dirty="0"/>
          </a:p>
        </p:txBody>
      </p:sp>
      <p:sp>
        <p:nvSpPr>
          <p:cNvPr id="12" name="Shape 9"/>
          <p:cNvSpPr/>
          <p:nvPr/>
        </p:nvSpPr>
        <p:spPr>
          <a:xfrm>
            <a:off x="4749800" y="889000"/>
            <a:ext cx="4165600" cy="1879600"/>
          </a:xfrm>
          <a:prstGeom prst="rect">
            <a:avLst/>
          </a:prstGeom>
          <a:solidFill>
            <a:srgbClr val="E3E8EE"/>
          </a:solidFill>
          <a:ln/>
          <a:effectLst>
            <a:outerShdw blurRad="101600" dist="25400" dir="8100000" algn="bl" rotWithShape="0">
              <a:srgbClr val="000000">
                <a:alpha val="9000"/>
              </a:srgbClr>
            </a:outerShdw>
          </a:effectLst>
        </p:spPr>
        <p:txBody>
          <a:bodyPr/>
          <a:lstStyle/>
          <a:p>
            <a:endParaRPr lang="en-US"/>
          </a:p>
        </p:txBody>
      </p:sp>
      <p:sp>
        <p:nvSpPr>
          <p:cNvPr id="13" name="Shape 10"/>
          <p:cNvSpPr/>
          <p:nvPr/>
        </p:nvSpPr>
        <p:spPr>
          <a:xfrm>
            <a:off x="4749800" y="889000"/>
            <a:ext cx="4165600" cy="635000"/>
          </a:xfrm>
          <a:prstGeom prst="rect">
            <a:avLst/>
          </a:prstGeom>
          <a:solidFill>
            <a:srgbClr val="3C475C"/>
          </a:solidFill>
          <a:ln w="12700">
            <a:solidFill>
              <a:schemeClr val="tx1"/>
            </a:solidFill>
            <a:prstDash val="solid"/>
          </a:ln>
        </p:spPr>
        <p:txBody>
          <a:bodyPr/>
          <a:lstStyle/>
          <a:p>
            <a:endParaRPr lang="en-US"/>
          </a:p>
        </p:txBody>
      </p:sp>
      <p:sp>
        <p:nvSpPr>
          <p:cNvPr id="14" name="Shape 11"/>
          <p:cNvSpPr/>
          <p:nvPr/>
        </p:nvSpPr>
        <p:spPr>
          <a:xfrm>
            <a:off x="4876800" y="1016000"/>
            <a:ext cx="381000" cy="381000"/>
          </a:xfrm>
          <a:prstGeom prst="ellipse">
            <a:avLst/>
          </a:prstGeom>
          <a:solidFill>
            <a:srgbClr val="DB716C"/>
          </a:solidFill>
          <a:ln w="12700">
            <a:solidFill>
              <a:schemeClr val="accent2"/>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4930776" y="1062832"/>
            <a:ext cx="273050" cy="273050"/>
          </a:xfrm>
          <a:prstGeom prst="rect">
            <a:avLst/>
          </a:prstGeom>
        </p:spPr>
      </p:pic>
      <p:sp>
        <p:nvSpPr>
          <p:cNvPr id="16" name="Text 12"/>
          <p:cNvSpPr/>
          <p:nvPr/>
        </p:nvSpPr>
        <p:spPr>
          <a:xfrm>
            <a:off x="5359400" y="1041400"/>
            <a:ext cx="3429000" cy="355600"/>
          </a:xfrm>
          <a:prstGeom prst="rect">
            <a:avLst/>
          </a:prstGeom>
          <a:noFill/>
          <a:ln/>
        </p:spPr>
        <p:txBody>
          <a:bodyPr wrap="square" rtlCol="0" anchor="ctr"/>
          <a:lstStyle/>
          <a:p>
            <a:pPr marL="0" indent="0">
              <a:buNone/>
            </a:pPr>
            <a:r>
              <a:rPr lang="en-US" sz="1500" b="1" dirty="0">
                <a:solidFill>
                  <a:srgbClr val="FFFFFF"/>
                </a:solidFill>
                <a:latin typeface="Proxima Nova Bold" pitchFamily="34" charset="0"/>
                <a:ea typeface="Calibri" pitchFamily="34" charset="-122"/>
                <a:cs typeface="Calibri" pitchFamily="34" charset="-120"/>
              </a:rPr>
              <a:t>Full Source Code Delivery</a:t>
            </a:r>
            <a:endParaRPr lang="en-US" sz="1400" dirty="0"/>
          </a:p>
        </p:txBody>
      </p:sp>
      <p:sp>
        <p:nvSpPr>
          <p:cNvPr id="17" name="Text 13"/>
          <p:cNvSpPr/>
          <p:nvPr/>
        </p:nvSpPr>
        <p:spPr>
          <a:xfrm>
            <a:off x="4902200" y="1561304"/>
            <a:ext cx="3860800" cy="1041400"/>
          </a:xfrm>
          <a:prstGeom prst="rect">
            <a:avLst/>
          </a:prstGeom>
          <a:noFill/>
          <a:ln/>
        </p:spPr>
        <p:txBody>
          <a:bodyPr wrap="square" rtlCol="0" anchor="t"/>
          <a:lstStyle/>
          <a:p>
            <a:pPr marL="0" indent="0">
              <a:lnSpc>
                <a:spcPct val="135000"/>
              </a:lnSpc>
              <a:buNone/>
            </a:pPr>
            <a:r>
              <a:rPr lang="en-US" sz="1350" dirty="0">
                <a:solidFill>
                  <a:srgbClr val="474747"/>
                </a:solidFill>
                <a:latin typeface="Proxima Nova"/>
              </a:rPr>
              <a:t>Every line of code is delivered to your Git repo at project close. No obfuscation, no black boxes. Complete architecture documentation, API specs, and deployment runbooks included.</a:t>
            </a:r>
            <a:endParaRPr lang="en-US" sz="1350" dirty="0"/>
          </a:p>
        </p:txBody>
      </p:sp>
      <p:sp>
        <p:nvSpPr>
          <p:cNvPr id="18" name="Shape 14"/>
          <p:cNvSpPr/>
          <p:nvPr/>
        </p:nvSpPr>
        <p:spPr>
          <a:xfrm>
            <a:off x="228600" y="2870200"/>
            <a:ext cx="4165600" cy="1879600"/>
          </a:xfrm>
          <a:prstGeom prst="rect">
            <a:avLst/>
          </a:prstGeom>
          <a:solidFill>
            <a:srgbClr val="E3E8EE"/>
          </a:solidFill>
          <a:ln/>
          <a:effectLst>
            <a:outerShdw blurRad="101600" dist="25400" dir="8100000" algn="bl" rotWithShape="0">
              <a:srgbClr val="000000">
                <a:alpha val="9000"/>
              </a:srgbClr>
            </a:outerShdw>
          </a:effectLst>
        </p:spPr>
        <p:txBody>
          <a:bodyPr/>
          <a:lstStyle/>
          <a:p>
            <a:endParaRPr lang="en-US"/>
          </a:p>
        </p:txBody>
      </p:sp>
      <p:sp>
        <p:nvSpPr>
          <p:cNvPr id="19" name="Shape 15"/>
          <p:cNvSpPr/>
          <p:nvPr/>
        </p:nvSpPr>
        <p:spPr>
          <a:xfrm>
            <a:off x="228600" y="2870200"/>
            <a:ext cx="4165600" cy="635000"/>
          </a:xfrm>
          <a:prstGeom prst="rect">
            <a:avLst/>
          </a:prstGeom>
          <a:solidFill>
            <a:srgbClr val="3C475C"/>
          </a:solidFill>
          <a:ln w="12700">
            <a:solidFill>
              <a:schemeClr val="tx1"/>
            </a:solidFill>
            <a:prstDash val="solid"/>
          </a:ln>
        </p:spPr>
        <p:txBody>
          <a:bodyPr/>
          <a:lstStyle/>
          <a:p>
            <a:endParaRPr lang="en-US"/>
          </a:p>
        </p:txBody>
      </p:sp>
      <p:sp>
        <p:nvSpPr>
          <p:cNvPr id="20" name="Shape 16"/>
          <p:cNvSpPr/>
          <p:nvPr/>
        </p:nvSpPr>
        <p:spPr>
          <a:xfrm>
            <a:off x="355600" y="2997200"/>
            <a:ext cx="381000" cy="381000"/>
          </a:xfrm>
          <a:prstGeom prst="ellipse">
            <a:avLst/>
          </a:prstGeom>
          <a:solidFill>
            <a:srgbClr val="DB716C"/>
          </a:solidFill>
          <a:ln w="12700">
            <a:solidFill>
              <a:schemeClr val="accent2"/>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381000" y="3022600"/>
            <a:ext cx="326232" cy="326232"/>
          </a:xfrm>
          <a:prstGeom prst="rect">
            <a:avLst/>
          </a:prstGeom>
        </p:spPr>
      </p:pic>
      <p:sp>
        <p:nvSpPr>
          <p:cNvPr id="22" name="Text 17"/>
          <p:cNvSpPr/>
          <p:nvPr/>
        </p:nvSpPr>
        <p:spPr>
          <a:xfrm>
            <a:off x="838200" y="3022600"/>
            <a:ext cx="3429000" cy="355600"/>
          </a:xfrm>
          <a:prstGeom prst="rect">
            <a:avLst/>
          </a:prstGeom>
          <a:noFill/>
          <a:ln/>
        </p:spPr>
        <p:txBody>
          <a:bodyPr wrap="square" rtlCol="0" anchor="ctr"/>
          <a:lstStyle/>
          <a:p>
            <a:pPr marL="0" indent="0">
              <a:buNone/>
            </a:pPr>
            <a:r>
              <a:rPr lang="en-US" sz="1500" b="1" dirty="0">
                <a:solidFill>
                  <a:srgbClr val="FFFFFF"/>
                </a:solidFill>
                <a:latin typeface="Proxima Nova Bold" pitchFamily="34" charset="0"/>
                <a:ea typeface="Calibri" pitchFamily="34" charset="-122"/>
                <a:cs typeface="Calibri" pitchFamily="34" charset="-120"/>
              </a:rPr>
              <a:t>Self-Maintain Option</a:t>
            </a:r>
            <a:endParaRPr lang="en-US" sz="1400" dirty="0"/>
          </a:p>
        </p:txBody>
      </p:sp>
      <p:sp>
        <p:nvSpPr>
          <p:cNvPr id="23" name="Text 18"/>
          <p:cNvSpPr/>
          <p:nvPr/>
        </p:nvSpPr>
        <p:spPr>
          <a:xfrm>
            <a:off x="381000" y="3542504"/>
            <a:ext cx="3860800" cy="1041400"/>
          </a:xfrm>
          <a:prstGeom prst="rect">
            <a:avLst/>
          </a:prstGeom>
          <a:noFill/>
          <a:ln/>
        </p:spPr>
        <p:txBody>
          <a:bodyPr wrap="square" rtlCol="0" anchor="t"/>
          <a:lstStyle/>
          <a:p>
            <a:pPr marL="0" indent="0">
              <a:lnSpc>
                <a:spcPct val="135000"/>
              </a:lnSpc>
              <a:buNone/>
            </a:pPr>
            <a:r>
              <a:rPr lang="en-US" sz="1350" dirty="0">
                <a:solidFill>
                  <a:srgbClr val="474747"/>
                </a:solidFill>
                <a:latin typeface="Proxima Nova"/>
              </a:rPr>
              <a:t>Your internal dev team can maintain and extend the platform independently. We provide full knowledge transfer, architecture walkthroughs, and hands-on training sessions before handoff.</a:t>
            </a:r>
            <a:endParaRPr lang="en-US" sz="1350" dirty="0"/>
          </a:p>
        </p:txBody>
      </p:sp>
      <p:sp>
        <p:nvSpPr>
          <p:cNvPr id="24" name="Shape 19"/>
          <p:cNvSpPr/>
          <p:nvPr/>
        </p:nvSpPr>
        <p:spPr>
          <a:xfrm>
            <a:off x="4749800" y="2870200"/>
            <a:ext cx="4165600" cy="1879600"/>
          </a:xfrm>
          <a:prstGeom prst="rect">
            <a:avLst/>
          </a:prstGeom>
          <a:solidFill>
            <a:srgbClr val="E3E8EE"/>
          </a:solidFill>
          <a:ln/>
          <a:effectLst>
            <a:outerShdw blurRad="101600" dist="25400" dir="8100000" algn="bl" rotWithShape="0">
              <a:srgbClr val="000000">
                <a:alpha val="9000"/>
              </a:srgbClr>
            </a:outerShdw>
          </a:effectLst>
        </p:spPr>
        <p:txBody>
          <a:bodyPr/>
          <a:lstStyle/>
          <a:p>
            <a:endParaRPr lang="en-US"/>
          </a:p>
        </p:txBody>
      </p:sp>
      <p:sp>
        <p:nvSpPr>
          <p:cNvPr id="25" name="Shape 20"/>
          <p:cNvSpPr/>
          <p:nvPr/>
        </p:nvSpPr>
        <p:spPr>
          <a:xfrm>
            <a:off x="4749800" y="2870200"/>
            <a:ext cx="4165600" cy="635000"/>
          </a:xfrm>
          <a:prstGeom prst="rect">
            <a:avLst/>
          </a:prstGeom>
          <a:solidFill>
            <a:srgbClr val="3C475C"/>
          </a:solidFill>
          <a:ln w="12700">
            <a:solidFill>
              <a:schemeClr val="tx1"/>
            </a:solidFill>
            <a:prstDash val="solid"/>
          </a:ln>
        </p:spPr>
        <p:txBody>
          <a:bodyPr/>
          <a:lstStyle/>
          <a:p>
            <a:endParaRPr lang="en-US"/>
          </a:p>
        </p:txBody>
      </p:sp>
      <p:sp>
        <p:nvSpPr>
          <p:cNvPr id="26" name="Shape 21"/>
          <p:cNvSpPr/>
          <p:nvPr/>
        </p:nvSpPr>
        <p:spPr>
          <a:xfrm>
            <a:off x="4876800" y="2997200"/>
            <a:ext cx="381000" cy="381000"/>
          </a:xfrm>
          <a:prstGeom prst="ellipse">
            <a:avLst/>
          </a:prstGeom>
          <a:solidFill>
            <a:srgbClr val="DB716C"/>
          </a:solidFill>
          <a:ln w="12700">
            <a:solidFill>
              <a:schemeClr val="accent2"/>
            </a:solidFill>
            <a:prstDash val="solid"/>
          </a:ln>
        </p:spPr>
        <p:txBody>
          <a:bodyPr/>
          <a:lstStyle/>
          <a:p>
            <a:endParaRPr lang="en-US"/>
          </a:p>
        </p:txBody>
      </p:sp>
      <p:pic>
        <p:nvPicPr>
          <p:cNvPr id="27" name="Image 3" descr="preencoded.png"/>
          <p:cNvPicPr>
            <a:picLocks noChangeAspect="1"/>
          </p:cNvPicPr>
          <p:nvPr/>
        </p:nvPicPr>
        <p:blipFill>
          <a:blip r:embed="rId6"/>
          <a:stretch>
            <a:fillRect/>
          </a:stretch>
        </p:blipFill>
        <p:spPr>
          <a:xfrm>
            <a:off x="4905376" y="3086100"/>
            <a:ext cx="269876" cy="269876"/>
          </a:xfrm>
          <a:prstGeom prst="rect">
            <a:avLst/>
          </a:prstGeom>
        </p:spPr>
      </p:pic>
      <p:sp>
        <p:nvSpPr>
          <p:cNvPr id="28" name="Text 22"/>
          <p:cNvSpPr/>
          <p:nvPr/>
        </p:nvSpPr>
        <p:spPr>
          <a:xfrm>
            <a:off x="5359400" y="3022600"/>
            <a:ext cx="3429000" cy="355600"/>
          </a:xfrm>
          <a:prstGeom prst="rect">
            <a:avLst/>
          </a:prstGeom>
          <a:noFill/>
          <a:ln/>
        </p:spPr>
        <p:txBody>
          <a:bodyPr wrap="square" rtlCol="0" anchor="ctr"/>
          <a:lstStyle/>
          <a:p>
            <a:pPr marL="0" indent="0">
              <a:buNone/>
            </a:pPr>
            <a:r>
              <a:rPr lang="en-US" sz="1500" b="1" dirty="0">
                <a:solidFill>
                  <a:srgbClr val="FFFFFF"/>
                </a:solidFill>
                <a:latin typeface="Proxima Nova Bold" pitchFamily="34" charset="0"/>
                <a:ea typeface="Calibri" pitchFamily="34" charset="-122"/>
                <a:cs typeface="Calibri" pitchFamily="34" charset="-120"/>
              </a:rPr>
              <a:t>BHG-Managed Option</a:t>
            </a:r>
            <a:endParaRPr lang="en-US" sz="1400" dirty="0"/>
          </a:p>
        </p:txBody>
      </p:sp>
      <p:sp>
        <p:nvSpPr>
          <p:cNvPr id="29" name="Text 23"/>
          <p:cNvSpPr/>
          <p:nvPr/>
        </p:nvSpPr>
        <p:spPr>
          <a:xfrm>
            <a:off x="4902200" y="3542504"/>
            <a:ext cx="3860800" cy="1041400"/>
          </a:xfrm>
          <a:prstGeom prst="rect">
            <a:avLst/>
          </a:prstGeom>
          <a:noFill/>
          <a:ln/>
        </p:spPr>
        <p:txBody>
          <a:bodyPr wrap="square" rtlCol="0" anchor="t"/>
          <a:lstStyle/>
          <a:p>
            <a:pPr marL="0" indent="0">
              <a:lnSpc>
                <a:spcPct val="135000"/>
              </a:lnSpc>
              <a:buNone/>
            </a:pPr>
            <a:r>
              <a:rPr lang="en-US" sz="1350" dirty="0">
                <a:solidFill>
                  <a:srgbClr val="474747"/>
                </a:solidFill>
                <a:latin typeface="Proxima Nova"/>
              </a:rPr>
              <a:t>Prefer hands-off? Our Platform Evolution Partnership provides ongoing maintenance, quarterly feature sprints, and dedicated advisory — so your team can focus on running the business, not the platform.</a:t>
            </a:r>
            <a:endParaRPr lang="en-US" sz="1350" dirty="0"/>
          </a:p>
        </p:txBody>
      </p:sp>
      <p:sp>
        <p:nvSpPr>
          <p:cNvPr id="30" name="Shape 24"/>
          <p:cNvSpPr/>
          <p:nvPr/>
        </p:nvSpPr>
        <p:spPr>
          <a:xfrm>
            <a:off x="0" y="4892040"/>
            <a:ext cx="9144000" cy="251460"/>
          </a:xfrm>
          <a:prstGeom prst="rect">
            <a:avLst/>
          </a:prstGeom>
          <a:solidFill>
            <a:srgbClr val="3C475C"/>
          </a:solidFill>
          <a:ln w="12700">
            <a:solidFill>
              <a:srgbClr val="0F2B5B"/>
            </a:solidFill>
            <a:prstDash val="solid"/>
          </a:ln>
        </p:spPr>
        <p:txBody>
          <a:bodyPr/>
          <a:lstStyle/>
          <a:p>
            <a:endParaRPr lang="en-US"/>
          </a:p>
        </p:txBody>
      </p:sp>
      <p:sp>
        <p:nvSpPr>
          <p:cNvPr id="31" name="Text 25"/>
          <p:cNvSpPr/>
          <p:nvPr/>
        </p:nvSpPr>
        <p:spPr>
          <a:xfrm>
            <a:off x="0" y="4914900"/>
            <a:ext cx="9144000" cy="203200"/>
          </a:xfrm>
          <a:prstGeom prst="rect">
            <a:avLst/>
          </a:prstGeom>
          <a:noFill/>
          <a:ln/>
        </p:spPr>
        <p:txBody>
          <a:bodyPr wrap="square" lIns="0" tIns="0" rIns="0" bIns="0" rtlCol="0" anchor="ctr"/>
          <a:lstStyle/>
          <a:p>
            <a:pPr algn="ctr">
              <a:buNone/>
            </a:pPr>
            <a:r>
              <a:rPr lang="en-US" sz="1000" dirty="0">
                <a:solidFill>
                  <a:srgbClr val="B9C5D3"/>
                </a:solidFill>
                <a:latin typeface="Proxima Nova"/>
              </a:rPr>
              <a:t>Confidential and Proprietary - The Blue Horizons Group LLC</a:t>
            </a:r>
          </a:p>
        </p:txBody>
      </p:sp>
      <p:sp>
        <p:nvSpPr>
          <p:cNvPr id="32" name="Text 26"/>
          <p:cNvSpPr/>
          <p:nvPr/>
        </p:nvSpPr>
        <p:spPr>
          <a:xfrm>
            <a:off x="6400800" y="4901184"/>
            <a:ext cx="2423160" cy="201168"/>
          </a:xfrm>
          <a:prstGeom prst="rect">
            <a:avLst/>
          </a:prstGeom>
          <a:noFill/>
          <a:ln/>
        </p:spPr>
        <p:txBody>
          <a:bodyPr wrap="square" lIns="0" tIns="0" rIns="0" bIns="0" rtlCol="0" anchor="ctr"/>
          <a:lstStyle/>
          <a:p>
            <a:pPr marL="0" indent="0" algn="r">
              <a:buNone/>
            </a:pPr>
            <a:r>
              <a:rPr lang="en-US" sz="1000">
                <a:solidFill>
                  <a:srgbClr val="B9C5D3"/>
                </a:solidFill>
                <a:latin typeface="Proxima Nova"/>
              </a:rPr>
              <a:t>Confidential  ·  March 16, 2026</a:t>
            </a:r>
            <a:endParaRPr lang="en-US" sz="800" dirty="0"/>
          </a:p>
        </p:txBody>
      </p:sp>
    </p:spTree>
    <p:extLst>
      <p:ext uri="{BB962C8B-B14F-4D97-AF65-F5344CB8AC3E}">
        <p14:creationId xmlns:p14="http://schemas.microsoft.com/office/powerpoint/2010/main" val="3177352485"/>
      </p:ext>
    </p:extLst>
  </p:cSld>
  <p:clrMapOvr>
    <a:masterClrMapping/>
  </p:clrMapOvr>
</p:sld>
</file>

<file path=ppt/theme/theme1.xml><?xml version="1.0" encoding="utf-8"?>
<a:theme xmlns:a="http://schemas.openxmlformats.org/drawingml/2006/main" name="Office Theme">
  <a:themeElements>
    <a:clrScheme name="Office">
      <a:dk1>
        <a:srgbClr val="3C475C"/>
      </a:dk1>
      <a:lt1>
        <a:srgbClr val="FFFFFF"/>
      </a:lt1>
      <a:dk2>
        <a:srgbClr val="474747"/>
      </a:dk2>
      <a:lt2>
        <a:srgbClr val="F2F2F2"/>
      </a:lt2>
      <a:accent1>
        <a:srgbClr val="E3E8EE"/>
      </a:accent1>
      <a:accent2>
        <a:srgbClr val="B9C5D3"/>
      </a:accent2>
      <a:accent3>
        <a:srgbClr val="DB716C"/>
      </a:accent3>
      <a:accent4>
        <a:srgbClr val="718AA8"/>
      </a:accent4>
      <a:accent5>
        <a:srgbClr val="F2F2F2"/>
      </a:accent5>
      <a:accent6>
        <a:srgbClr val="3C475C"/>
      </a:accent6>
      <a:hlink>
        <a:srgbClr val="0563C1"/>
      </a:hlink>
      <a:folHlink>
        <a:srgbClr val="954F72"/>
      </a:folHlink>
    </a:clrScheme>
    <a:fontScheme name="Office">
      <a:majorFont>
        <a:latin typeface="Proxima Nova Bold"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oxima Nova"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5F687F3-887B-4644-A540-F3CA7BFDA8A8}">
  <we:reference id="WA200010001" version="1.0.0.0" store="Omex" storeType="OMEX"/>
  <we:alternateReferences>
    <we:reference id="WA200010001" version="1.0.0.0" store="WA200010001" storeType="OMEX"/>
  </we:alternateReferences>
  <we:properties>
    <we:property name="Office.AutoShowTaskpaneWithDocument" value="true"/>
  </we:properties>
  <we:bindings/>
  <we:snapshot xmlns:r="http://schemas.openxmlformats.org/officeDocument/2006/relationships"/>
</we:webextension>
</file>

<file path=customXml/_rels/item1.xml.rels><?xml version="1.0" encoding="UTF-8"?><Relationships xmlns="http://schemas.openxmlformats.org/package/2006/relationships"><Relationship Id="rId1" Type="http://schemas.openxmlformats.org/officeDocument/2006/relationships/customXmlProps" Target="itemProps1.xml"/></Relationships>
</file>

<file path=customXml/_rels/item2.xml.rels><?xml version="1.0" encoding="UTF-8"?><Relationships xmlns="http://schemas.openxmlformats.org/package/2006/relationships"><Relationship Id="rId1" Type="http://schemas.openxmlformats.org/officeDocument/2006/relationships/customXmlProps" Target="itemProps2.xml"/></Relationships>
</file>

<file path=customXml/_rels/item3.xml.rels><?xml version="1.0" encoding="UTF-8"?><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62505bf-2def-4de0-b28b-783445e93a9e">
      <Terms xmlns="http://schemas.microsoft.com/office/infopath/2007/PartnerControls"/>
    </lcf76f155ced4ddcb4097134ff3c332f>
    <TaxCatchAll xmlns="6b667702-d913-4e26-96e9-a1718fc3cf3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47700F146C38E4591E400CCDA215076" ma:contentTypeVersion="17" ma:contentTypeDescription="Create a new document." ma:contentTypeScope="" ma:versionID="627aafbec836619b260b1bcaca66bb9f">
  <xsd:schema xmlns:xsd="http://www.w3.org/2001/XMLSchema" xmlns:xs="http://www.w3.org/2001/XMLSchema" xmlns:p="http://schemas.microsoft.com/office/2006/metadata/properties" xmlns:ns2="762505bf-2def-4de0-b28b-783445e93a9e" xmlns:ns3="6b667702-d913-4e26-96e9-a1718fc3cf37" targetNamespace="http://schemas.microsoft.com/office/2006/metadata/properties" ma:root="true" ma:fieldsID="1fec3fdb6b9a5977d97e8d275ab40b31" ns2:_="" ns3:_="">
    <xsd:import namespace="762505bf-2def-4de0-b28b-783445e93a9e"/>
    <xsd:import namespace="6b667702-d913-4e26-96e9-a1718fc3cf3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2505bf-2def-4de0-b28b-783445e93a9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a92de89-574c-4e8f-87a9-ce9e56b3305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b667702-d913-4e26-96e9-a1718fc3cf37"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88276678-2bb9-4bd2-bcce-c7267519675f}" ma:internalName="TaxCatchAll" ma:showField="CatchAllData" ma:web="6b667702-d913-4e26-96e9-a1718fc3cf3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9409562-48A5-49DC-A728-AFD0A399952C}">
  <ds:schemaRefs>
    <ds:schemaRef ds:uri="http://purl.org/dc/elements/1.1/"/>
    <ds:schemaRef ds:uri="http://schemas.microsoft.com/office/2006/documentManagement/types"/>
    <ds:schemaRef ds:uri="http://www.w3.org/XML/1998/namespace"/>
    <ds:schemaRef ds:uri="762505bf-2def-4de0-b28b-783445e93a9e"/>
    <ds:schemaRef ds:uri="http://purl.org/dc/terms/"/>
    <ds:schemaRef ds:uri="http://purl.org/dc/dcmitype/"/>
    <ds:schemaRef ds:uri="6b667702-d913-4e26-96e9-a1718fc3cf37"/>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EFC1E35F-D29B-4D99-AC36-873E444C32C9}">
  <ds:schemaRefs>
    <ds:schemaRef ds:uri="http://schemas.microsoft.com/sharepoint/v3/contenttype/forms"/>
  </ds:schemaRefs>
</ds:datastoreItem>
</file>

<file path=customXml/itemProps3.xml><?xml version="1.0" encoding="utf-8"?>
<ds:datastoreItem xmlns:ds="http://schemas.openxmlformats.org/officeDocument/2006/customXml" ds:itemID="{EE887AF2-95AB-4F5D-A4F8-D66F457E5B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62505bf-2def-4de0-b28b-783445e93a9e"/>
    <ds:schemaRef ds:uri="6b667702-d913-4e26-96e9-a1718fc3cf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218</TotalTime>
  <Words>1972</Words>
  <Application>Microsoft Macintosh PowerPoint</Application>
  <PresentationFormat>On-screen Show (16:9)</PresentationFormat>
  <Paragraphs>278</Paragraphs>
  <Slides>13</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Proxima Nova</vt:lpstr>
      <vt:lpstr>Proxima Nova Bold</vt:lpstr>
      <vt:lpstr>Proxima Nova Extrabold</vt:lpstr>
      <vt:lpstr>Proxima Nova Thin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Smarter Way to Run Revenue Operations at Andrews</dc:title>
  <dc:subject>PptxGenJS Presentation</dc:subject>
  <dc:creator>PptxGenJS</dc:creator>
  <cp:lastModifiedBy>Todd LeBaron</cp:lastModifiedBy>
  <cp:revision>2</cp:revision>
  <dcterms:created xsi:type="dcterms:W3CDTF">2026-03-11T03:40:45Z</dcterms:created>
  <dcterms:modified xsi:type="dcterms:W3CDTF">2026-03-16T23:36:09Z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0x010100247700F146C38E4591E400CCDA215076</vt:lpwstr>
  </property>
</Properties>
</file>